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Pangolin" panose="00000500000000000000" pitchFamily="2" charset="0"/>
      <p:regular r:id="rId12"/>
    </p:embeddedFont>
    <p:embeddedFont>
      <p:font typeface="Segoe UI" panose="020B0502040204020203" pitchFamily="34" charset="0"/>
      <p:regular r:id="rId13"/>
      <p:bold r:id="rId14"/>
      <p:italic r:id="rId15"/>
      <p:bold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A15B4C-8032-43C1-9F84-42A36304ABC3}" v="18" dt="2025-11-07T17:41:14.3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40" autoAdjust="0"/>
    <p:restoredTop sz="96374" autoAdjust="0"/>
  </p:normalViewPr>
  <p:slideViewPr>
    <p:cSldViewPr snapToGrid="0">
      <p:cViewPr varScale="1">
        <p:scale>
          <a:sx n="74" d="100"/>
          <a:sy n="74" d="100"/>
        </p:scale>
        <p:origin x="3066" y="78"/>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4.fntdata"/><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7T17:37:37.355" v="39"/>
      <pc:docMkLst>
        <pc:docMk/>
      </pc:docMkLst>
      <pc:sldChg chg="addSp delSp modSp mod">
        <pc:chgData name="de-Jesus-Oliveira Victor-Adriel" userId="a708fc36-3c1b-42ab-b5e9-2e1fa3c6605e" providerId="ADAL" clId="{39AA12F0-CB51-4D67-A3A6-7C3EC2C345CA}" dt="2025-11-07T17:28:27.872" v="20" actId="20577"/>
        <pc:sldMkLst>
          <pc:docMk/>
          <pc:sldMk cId="4264380333" sldId="267"/>
        </pc:sldMkLst>
        <pc:spChg chg="mod">
          <ac:chgData name="de-Jesus-Oliveira Victor-Adriel" userId="a708fc36-3c1b-42ab-b5e9-2e1fa3c6605e" providerId="ADAL" clId="{39AA12F0-CB51-4D67-A3A6-7C3EC2C345CA}" dt="2025-11-07T17:28:27.872" v="20"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24:28.590" v="2" actId="478"/>
          <ac:spMkLst>
            <pc:docMk/>
            <pc:sldMk cId="4264380333" sldId="267"/>
            <ac:spMk id="3" creationId="{7D270BE7-0974-049E-9821-53E2CF37B847}"/>
          </ac:spMkLst>
        </pc:spChg>
        <pc:spChg chg="add mod">
          <ac:chgData name="de-Jesus-Oliveira Victor-Adriel" userId="a708fc36-3c1b-42ab-b5e9-2e1fa3c6605e" providerId="ADAL" clId="{39AA12F0-CB51-4D67-A3A6-7C3EC2C345CA}" dt="2025-11-07T17:25:46.758" v="4"/>
          <ac:spMkLst>
            <pc:docMk/>
            <pc:sldMk cId="4264380333" sldId="267"/>
            <ac:spMk id="7" creationId="{2937CE5C-8E98-1DBC-294A-D8D49CF58F0E}"/>
          </ac:spMkLst>
        </pc:spChg>
        <pc:spChg chg="add mod">
          <ac:chgData name="de-Jesus-Oliveira Victor-Adriel" userId="a708fc36-3c1b-42ab-b5e9-2e1fa3c6605e" providerId="ADAL" clId="{39AA12F0-CB51-4D67-A3A6-7C3EC2C345CA}" dt="2025-11-07T17:26:58.743" v="10"/>
          <ac:spMkLst>
            <pc:docMk/>
            <pc:sldMk cId="4264380333" sldId="267"/>
            <ac:spMk id="11" creationId="{E1BF4329-53AB-E9C7-E1AB-E6A90F2E329A}"/>
          </ac:spMkLst>
        </pc:spChg>
        <pc:grpChg chg="add mod">
          <ac:chgData name="de-Jesus-Oliveira Victor-Adriel" userId="a708fc36-3c1b-42ab-b5e9-2e1fa3c6605e" providerId="ADAL" clId="{39AA12F0-CB51-4D67-A3A6-7C3EC2C345CA}" dt="2025-11-07T17:25:46.758" v="4"/>
          <ac:grpSpMkLst>
            <pc:docMk/>
            <pc:sldMk cId="4264380333" sldId="267"/>
            <ac:grpSpMk id="8" creationId="{3BBCD0C6-D9C4-5672-89C1-739279517331}"/>
          </ac:grpSpMkLst>
        </pc:grpChg>
        <pc:grpChg chg="add mod">
          <ac:chgData name="de-Jesus-Oliveira Victor-Adriel" userId="a708fc36-3c1b-42ab-b5e9-2e1fa3c6605e" providerId="ADAL" clId="{39AA12F0-CB51-4D67-A3A6-7C3EC2C345CA}" dt="2025-11-07T17:25:46.758" v="4"/>
          <ac:grpSpMkLst>
            <pc:docMk/>
            <pc:sldMk cId="4264380333" sldId="267"/>
            <ac:grpSpMk id="12" creationId="{F2109394-0049-5630-A1F6-FD6E9F68A6FF}"/>
          </ac:grpSpMkLst>
        </pc:grpChg>
        <pc:picChg chg="del">
          <ac:chgData name="de-Jesus-Oliveira Victor-Adriel" userId="a708fc36-3c1b-42ab-b5e9-2e1fa3c6605e" providerId="ADAL" clId="{39AA12F0-CB51-4D67-A3A6-7C3EC2C345CA}" dt="2025-11-07T17:24:26.654" v="0"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24:27.264" v="1" actId="478"/>
          <ac:picMkLst>
            <pc:docMk/>
            <pc:sldMk cId="4264380333" sldId="267"/>
            <ac:picMk id="5" creationId="{FEB88DB1-9824-7071-E0E2-3544C9BB962D}"/>
          </ac:picMkLst>
        </pc:picChg>
        <pc:picChg chg="add mod">
          <ac:chgData name="de-Jesus-Oliveira Victor-Adriel" userId="a708fc36-3c1b-42ab-b5e9-2e1fa3c6605e" providerId="ADAL" clId="{39AA12F0-CB51-4D67-A3A6-7C3EC2C345CA}" dt="2025-11-07T17:25:46.758" v="4"/>
          <ac:picMkLst>
            <pc:docMk/>
            <pc:sldMk cId="4264380333" sldId="267"/>
            <ac:picMk id="6" creationId="{8F82A6D0-69B4-B0C3-BC19-8830BBF8F0F9}"/>
          </ac:picMkLst>
        </pc:picChg>
        <pc:picChg chg="mod">
          <ac:chgData name="de-Jesus-Oliveira Victor-Adriel" userId="a708fc36-3c1b-42ab-b5e9-2e1fa3c6605e" providerId="ADAL" clId="{39AA12F0-CB51-4D67-A3A6-7C3EC2C345CA}" dt="2025-11-07T17:25:46.758" v="4"/>
          <ac:picMkLst>
            <pc:docMk/>
            <pc:sldMk cId="4264380333" sldId="267"/>
            <ac:picMk id="9" creationId="{70EAD89D-C442-CFCA-B22F-7CE5873B72FE}"/>
          </ac:picMkLst>
        </pc:picChg>
        <pc:picChg chg="mod">
          <ac:chgData name="de-Jesus-Oliveira Victor-Adriel" userId="a708fc36-3c1b-42ab-b5e9-2e1fa3c6605e" providerId="ADAL" clId="{39AA12F0-CB51-4D67-A3A6-7C3EC2C345CA}" dt="2025-11-07T17:25:46.758" v="4"/>
          <ac:picMkLst>
            <pc:docMk/>
            <pc:sldMk cId="4264380333" sldId="267"/>
            <ac:picMk id="10" creationId="{65FF4513-FB33-CC76-3B66-685652E0E4FD}"/>
          </ac:picMkLst>
        </pc:picChg>
        <pc:picChg chg="mod">
          <ac:chgData name="de-Jesus-Oliveira Victor-Adriel" userId="a708fc36-3c1b-42ab-b5e9-2e1fa3c6605e" providerId="ADAL" clId="{39AA12F0-CB51-4D67-A3A6-7C3EC2C345CA}" dt="2025-11-07T17:25:46.758" v="4"/>
          <ac:picMkLst>
            <pc:docMk/>
            <pc:sldMk cId="4264380333" sldId="267"/>
            <ac:picMk id="13" creationId="{86ABE2CE-BACB-5624-FC15-6358BB7730E7}"/>
          </ac:picMkLst>
        </pc:picChg>
        <pc:picChg chg="mod">
          <ac:chgData name="de-Jesus-Oliveira Victor-Adriel" userId="a708fc36-3c1b-42ab-b5e9-2e1fa3c6605e" providerId="ADAL" clId="{39AA12F0-CB51-4D67-A3A6-7C3EC2C345CA}" dt="2025-11-07T17:25:46.758" v="4"/>
          <ac:picMkLst>
            <pc:docMk/>
            <pc:sldMk cId="4264380333" sldId="267"/>
            <ac:picMk id="14" creationId="{5BC8D87A-BA68-03AC-B094-D49F77355C36}"/>
          </ac:picMkLst>
        </pc:picChg>
        <pc:picChg chg="mod">
          <ac:chgData name="de-Jesus-Oliveira Victor-Adriel" userId="a708fc36-3c1b-42ab-b5e9-2e1fa3c6605e" providerId="ADAL" clId="{39AA12F0-CB51-4D67-A3A6-7C3EC2C345CA}" dt="2025-11-07T17:25:46.758" v="4"/>
          <ac:picMkLst>
            <pc:docMk/>
            <pc:sldMk cId="4264380333" sldId="267"/>
            <ac:picMk id="15" creationId="{B15B3982-5097-B42D-0607-12BC077ED861}"/>
          </ac:picMkLst>
        </pc:picChg>
      </pc:sldChg>
      <pc:sldChg chg="addSp modSp mod">
        <pc:chgData name="de-Jesus-Oliveira Victor-Adriel" userId="a708fc36-3c1b-42ab-b5e9-2e1fa3c6605e" providerId="ADAL" clId="{39AA12F0-CB51-4D67-A3A6-7C3EC2C345CA}" dt="2025-11-07T17:37:37.355" v="39"/>
        <pc:sldMkLst>
          <pc:docMk/>
          <pc:sldMk cId="171183961" sldId="268"/>
        </pc:sldMkLst>
        <pc:spChg chg="mod">
          <ac:chgData name="de-Jesus-Oliveira Victor-Adriel" userId="a708fc36-3c1b-42ab-b5e9-2e1fa3c6605e" providerId="ADAL" clId="{39AA12F0-CB51-4D67-A3A6-7C3EC2C345CA}" dt="2025-11-07T17:37:37.355" v="39"/>
          <ac:spMkLst>
            <pc:docMk/>
            <pc:sldMk cId="171183961" sldId="268"/>
            <ac:spMk id="3" creationId="{F2E8AC57-1062-322C-A4CA-18F211AA9576}"/>
          </ac:spMkLst>
        </pc:spChg>
        <pc:picChg chg="add mod ord">
          <ac:chgData name="de-Jesus-Oliveira Victor-Adriel" userId="a708fc36-3c1b-42ab-b5e9-2e1fa3c6605e" providerId="ADAL" clId="{39AA12F0-CB51-4D67-A3A6-7C3EC2C345CA}" dt="2025-11-07T17:32:14.321" v="22" actId="167"/>
          <ac:picMkLst>
            <pc:docMk/>
            <pc:sldMk cId="171183961" sldId="268"/>
            <ac:picMk id="4" creationId="{B005F8B1-89AF-AA97-64B9-9325E09AB1E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07.11.2025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07.11.2025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07.11.2025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07.11.2025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07.11.2025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07.11.2025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jp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8F9388-E008-9221-6B86-A02FF202434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636" y="3036165"/>
            <a:ext cx="5326725" cy="4995720"/>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50"/>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a:latin typeface="Pangolin" panose="00000500000000000000"/>
              </a:rPr>
              <a:t>Mathematisches Denken</a:t>
            </a: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pPr fontAlgn="base"/>
            <a:r>
              <a:rPr lang="de-DE" sz="1100" dirty="0">
                <a:solidFill>
                  <a:srgbClr val="000000"/>
                </a:solidFill>
                <a:latin typeface="Segoe UI" panose="020B0502040204020203" pitchFamily="34" charset="0"/>
              </a:rPr>
              <a:t>Dieser Comic wurde im Rahmen des Forschungsprojekts Comixplain erstellt, das von der Hochschule für Angewandte Wissenschaften St. Pölten (USTP) im Rahmen des Innovation Call 2022 gefördert wurde.</a:t>
            </a:r>
          </a:p>
          <a:p>
            <a:pPr fontAlgn="base"/>
            <a:r>
              <a:rPr lang="de-AT" sz="1100" b="0" i="0" dirty="0">
                <a:solidFill>
                  <a:srgbClr val="000000"/>
                </a:solidFill>
                <a:effectLst/>
                <a:latin typeface="Segoe UI" panose="020B0502040204020203" pitchFamily="34" charset="0"/>
              </a:rPr>
              <a:t>​</a:t>
            </a:r>
          </a:p>
          <a:p>
            <a:pPr algn="l" rtl="0" fontAlgn="base"/>
            <a:r>
              <a:rPr lang="de-AT" sz="1100" b="1" i="0" u="none" strike="noStrike" dirty="0">
                <a:solidFill>
                  <a:srgbClr val="000000"/>
                </a:solidFill>
                <a:effectLst/>
                <a:latin typeface="Segoe UI" panose="020B0502040204020203" pitchFamily="34" charset="0"/>
              </a:rPr>
              <a:t>Projektteam:</a:t>
            </a:r>
            <a:r>
              <a:rPr lang="en-US" sz="1100" b="0" i="0" dirty="0">
                <a:solidFill>
                  <a:srgbClr val="000000"/>
                </a:solidFill>
                <a:effectLst/>
                <a:latin typeface="Segoe UI" panose="020B0502040204020203" pitchFamily="34" charset="0"/>
              </a:rPr>
              <a:t>​</a:t>
            </a:r>
          </a:p>
          <a:p>
            <a:pPr algn="l" rtl="0" fontAlgn="base"/>
            <a:r>
              <a:rPr lang="de-AT" sz="1100" b="0" i="0" u="none" strike="noStrike" dirty="0">
                <a:solidFill>
                  <a:srgbClr val="000000"/>
                </a:solidFill>
                <a:effectLst/>
                <a:latin typeface="Segoe UI" panose="020B0502040204020203" pitchFamily="34" charset="0"/>
              </a:rPr>
              <a:t>Victor-</a:t>
            </a:r>
            <a:r>
              <a:rPr lang="de-AT" sz="1100" b="0" i="0" u="none" strike="noStrike" dirty="0" err="1">
                <a:solidFill>
                  <a:srgbClr val="000000"/>
                </a:solidFill>
                <a:effectLst/>
                <a:latin typeface="Segoe UI" panose="020B0502040204020203" pitchFamily="34" charset="0"/>
              </a:rPr>
              <a:t>Adriel</a:t>
            </a:r>
            <a:r>
              <a:rPr lang="de-AT" sz="1100" b="0" i="0" u="none" strike="noStrike" dirty="0">
                <a:solidFill>
                  <a:srgbClr val="000000"/>
                </a:solidFill>
                <a:effectLst/>
                <a:latin typeface="Segoe UI" panose="020B0502040204020203" pitchFamily="34" charset="0"/>
              </a:rPr>
              <a:t> De-Jesus-Oliveira</a:t>
            </a:r>
            <a:r>
              <a:rPr lang="en-US" sz="1100" b="0" i="0" dirty="0">
                <a:solidFill>
                  <a:srgbClr val="000000"/>
                </a:solidFill>
                <a:effectLst/>
                <a:latin typeface="Segoe UI" panose="020B0502040204020203" pitchFamily="34" charset="0"/>
              </a:rPr>
              <a:t>​</a:t>
            </a:r>
          </a:p>
          <a:p>
            <a:pPr algn="l" rtl="0" fontAlgn="base"/>
            <a:r>
              <a:rPr lang="de-AT" sz="1100" b="0" i="0" u="none" strike="noStrike" dirty="0" err="1">
                <a:solidFill>
                  <a:srgbClr val="000000"/>
                </a:solidFill>
                <a:effectLst/>
                <a:latin typeface="Segoe UI" panose="020B0502040204020203" pitchFamily="34" charset="0"/>
              </a:rPr>
              <a:t>Hsiang</a:t>
            </a:r>
            <a:r>
              <a:rPr lang="de-AT" sz="1100" b="0" i="0" u="none" strike="noStrike" dirty="0">
                <a:solidFill>
                  <a:srgbClr val="000000"/>
                </a:solidFill>
                <a:effectLst/>
                <a:latin typeface="Segoe UI" panose="020B0502040204020203" pitchFamily="34" charset="0"/>
              </a:rPr>
              <a:t>-Yun Wu</a:t>
            </a:r>
            <a:r>
              <a:rPr lang="en-US" sz="1100" b="0" i="0" dirty="0">
                <a:solidFill>
                  <a:srgbClr val="000000"/>
                </a:solidFill>
                <a:effectLst/>
                <a:latin typeface="Segoe UI" panose="020B0502040204020203" pitchFamily="34" charset="0"/>
              </a:rPr>
              <a:t>​</a:t>
            </a:r>
          </a:p>
          <a:p>
            <a:pPr algn="l" rtl="0" fontAlgn="base"/>
            <a:r>
              <a:rPr lang="de-AT" sz="1100" b="0" i="0" u="none" strike="noStrike" dirty="0">
                <a:solidFill>
                  <a:srgbClr val="000000"/>
                </a:solidFill>
                <a:effectLst/>
                <a:latin typeface="Segoe UI" panose="020B0502040204020203" pitchFamily="34" charset="0"/>
              </a:rPr>
              <a:t>Christina Stoiber</a:t>
            </a:r>
            <a:r>
              <a:rPr lang="en-US" sz="1100" b="0" i="0" dirty="0">
                <a:solidFill>
                  <a:srgbClr val="000000"/>
                </a:solidFill>
                <a:effectLst/>
                <a:latin typeface="Segoe UI" panose="020B0502040204020203" pitchFamily="34" charset="0"/>
              </a:rPr>
              <a:t>​</a:t>
            </a:r>
          </a:p>
          <a:p>
            <a:pPr algn="l" rtl="0" fontAlgn="base"/>
            <a:r>
              <a:rPr lang="de-AT" sz="1100" b="0" i="0" u="none" strike="noStrike" dirty="0">
                <a:solidFill>
                  <a:srgbClr val="000000"/>
                </a:solidFill>
                <a:effectLst/>
                <a:latin typeface="Segoe UI" panose="020B0502040204020203" pitchFamily="34" charset="0"/>
              </a:rPr>
              <a:t>Magdalena Boucher</a:t>
            </a:r>
            <a:r>
              <a:rPr lang="en-US" sz="1100" b="0" i="0" dirty="0">
                <a:solidFill>
                  <a:srgbClr val="000000"/>
                </a:solidFill>
                <a:effectLst/>
                <a:latin typeface="Segoe UI" panose="020B0502040204020203" pitchFamily="34" charset="0"/>
              </a:rPr>
              <a:t>​</a:t>
            </a:r>
          </a:p>
          <a:p>
            <a:pPr fontAlgn="base"/>
            <a:r>
              <a:rPr lang="de-AT" sz="1100" b="0" i="0" u="none" strike="noStrike" dirty="0">
                <a:solidFill>
                  <a:srgbClr val="000000"/>
                </a:solidFill>
                <a:effectLst/>
                <a:latin typeface="Segoe UI" panose="020B0502040204020203" pitchFamily="34" charset="0"/>
              </a:rPr>
              <a:t>Alena </a:t>
            </a:r>
            <a:r>
              <a:rPr lang="de-AT" sz="1100" dirty="0">
                <a:solidFill>
                  <a:srgbClr val="000000"/>
                </a:solidFill>
                <a:latin typeface="Segoe UI" panose="020B0502040204020203" pitchFamily="34" charset="0"/>
              </a:rPr>
              <a:t>Boucher </a:t>
            </a:r>
            <a:r>
              <a:rPr lang="en-US" sz="1100" b="0" i="0" dirty="0">
                <a:solidFill>
                  <a:srgbClr val="000000"/>
                </a:solidFill>
                <a:effectLst/>
                <a:latin typeface="Segoe UI" panose="020B0502040204020203" pitchFamily="34" charset="0"/>
              </a:rPr>
              <a:t>​</a:t>
            </a:r>
          </a:p>
          <a:p>
            <a:pPr algn="l" rtl="0" fontAlgn="base"/>
            <a:r>
              <a:rPr lang="de-AT" sz="1100" b="0" i="0" dirty="0">
                <a:solidFill>
                  <a:srgbClr val="000000"/>
                </a:solidFill>
                <a:effectLst/>
                <a:latin typeface="Segoe UI" panose="020B0502040204020203" pitchFamily="34" charset="0"/>
              </a:rPr>
              <a:t>​</a:t>
            </a:r>
          </a:p>
          <a:p>
            <a:pPr algn="l" rtl="0" fontAlgn="base"/>
            <a:r>
              <a:rPr lang="de-AT" sz="1100" b="1" i="0" u="none" strike="noStrike" dirty="0">
                <a:solidFill>
                  <a:srgbClr val="000000"/>
                </a:solidFill>
                <a:effectLst/>
                <a:latin typeface="Segoe UI" panose="020B0502040204020203" pitchFamily="34" charset="0"/>
              </a:rPr>
              <a:t>Kontakt:</a:t>
            </a:r>
            <a:r>
              <a:rPr lang="en-US" sz="1100" b="0" i="0" dirty="0">
                <a:solidFill>
                  <a:srgbClr val="000000"/>
                </a:solidFill>
                <a:effectLst/>
                <a:latin typeface="Segoe UI" panose="020B0502040204020203" pitchFamily="34" charset="0"/>
              </a:rPr>
              <a:t>​</a:t>
            </a:r>
          </a:p>
          <a:p>
            <a:pPr algn="l" rtl="0" fontAlgn="base"/>
            <a:r>
              <a:rPr lang="de-AT" sz="1100" b="0" i="0" u="none" strike="noStrike" dirty="0">
                <a:solidFill>
                  <a:srgbClr val="000000"/>
                </a:solidFill>
                <a:effectLst/>
                <a:latin typeface="Segoe UI" panose="020B0502040204020203" pitchFamily="34" charset="0"/>
              </a:rPr>
              <a:t>victor.oliveira@</a:t>
            </a:r>
            <a:r>
              <a:rPr lang="de-AT" sz="1100" dirty="0">
                <a:solidFill>
                  <a:srgbClr val="000000"/>
                </a:solidFill>
                <a:latin typeface="Segoe UI" panose="020B0502040204020203" pitchFamily="34" charset="0"/>
              </a:rPr>
              <a:t>u</a:t>
            </a:r>
            <a:r>
              <a:rPr lang="de-AT" sz="1100" b="0" i="0" u="none" strike="noStrike" dirty="0">
                <a:solidFill>
                  <a:srgbClr val="000000"/>
                </a:solidFill>
                <a:effectLst/>
                <a:latin typeface="Segoe UI" panose="020B0502040204020203" pitchFamily="34" charset="0"/>
              </a:rPr>
              <a:t>stp.at</a:t>
            </a:r>
            <a:r>
              <a:rPr lang="en-US" sz="1100" b="0" i="0" dirty="0">
                <a:solidFill>
                  <a:srgbClr val="000000"/>
                </a:solidFill>
                <a:effectLst/>
                <a:latin typeface="Segoe UI" panose="020B0502040204020203" pitchFamily="34" charset="0"/>
              </a:rPr>
              <a:t>​</a:t>
            </a:r>
          </a:p>
          <a:p>
            <a:pPr algn="l" rtl="0" fontAlgn="base"/>
            <a:r>
              <a:rPr lang="de-AT" sz="1100" b="0" i="0" dirty="0">
                <a:solidFill>
                  <a:srgbClr val="000000"/>
                </a:solidFill>
                <a:effectLst/>
                <a:latin typeface="Segoe UI" panose="020B0502040204020203" pitchFamily="34" charset="0"/>
              </a:rPr>
              <a:t>​</a:t>
            </a:r>
          </a:p>
          <a:p>
            <a:pPr fontAlgn="base"/>
            <a:r>
              <a:rPr lang="de-AT" sz="1100" b="1" i="0" u="none" strike="noStrike" dirty="0">
                <a:solidFill>
                  <a:srgbClr val="000000"/>
                </a:solidFill>
                <a:effectLst/>
                <a:latin typeface="Segoe UI" panose="020B0502040204020203" pitchFamily="34" charset="0"/>
              </a:rPr>
              <a:t>Illustrationen</a:t>
            </a:r>
            <a:r>
              <a:rPr lang="de-AT" sz="1100" b="0" i="0" u="none" strike="noStrike" dirty="0">
                <a:solidFill>
                  <a:srgbClr val="000000"/>
                </a:solidFill>
                <a:effectLst/>
                <a:latin typeface="Segoe UI" panose="020B0502040204020203" pitchFamily="34" charset="0"/>
              </a:rPr>
              <a:t>:</a:t>
            </a:r>
            <a:r>
              <a:rPr lang="en-US" sz="1100" b="0" i="0" dirty="0">
                <a:solidFill>
                  <a:srgbClr val="000000"/>
                </a:solidFill>
                <a:effectLst/>
                <a:latin typeface="Segoe UI" panose="020B0502040204020203" pitchFamily="34" charset="0"/>
              </a:rPr>
              <a:t>​</a:t>
            </a:r>
            <a:br>
              <a:rPr lang="en-US" sz="1100" b="0" i="0" dirty="0">
                <a:solidFill>
                  <a:srgbClr val="000000"/>
                </a:solidFill>
                <a:effectLst/>
                <a:latin typeface="Segoe UI" panose="020B0502040204020203" pitchFamily="34" charset="0"/>
              </a:rPr>
            </a:br>
            <a:r>
              <a:rPr lang="de-AT" sz="1100" b="0" i="0" u="none" strike="noStrike" dirty="0">
                <a:solidFill>
                  <a:srgbClr val="000000"/>
                </a:solidFill>
                <a:effectLst/>
                <a:latin typeface="Segoe UI" panose="020B0502040204020203" pitchFamily="34" charset="0"/>
              </a:rPr>
              <a:t>Magdalena Boucher &amp; Alena </a:t>
            </a:r>
            <a:r>
              <a:rPr lang="de-AT" sz="1100" dirty="0">
                <a:solidFill>
                  <a:srgbClr val="000000"/>
                </a:solidFill>
                <a:latin typeface="Segoe UI" panose="020B0502040204020203" pitchFamily="34" charset="0"/>
              </a:rPr>
              <a:t>Boucher</a:t>
            </a:r>
            <a:endParaRPr lang="en-US" sz="1100" b="0" i="0" dirty="0">
              <a:solidFill>
                <a:srgbClr val="000000"/>
              </a:solidFill>
              <a:effectLst/>
              <a:latin typeface="Segoe UI" panose="020B0502040204020203" pitchFamily="34" charset="0"/>
            </a:endParaRPr>
          </a:p>
        </p:txBody>
      </p:sp>
      <p:pic>
        <p:nvPicPr>
          <p:cNvPr id="6" name="Picture 5">
            <a:extLst>
              <a:ext uri="{FF2B5EF4-FFF2-40B4-BE49-F238E27FC236}">
                <a16:creationId xmlns:a16="http://schemas.microsoft.com/office/drawing/2014/main" id="{8F82A6D0-69B4-B0C3-BC19-8830BBF8F0F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2937CE5C-8E98-1DBC-294A-D8D49CF58F0E}"/>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3BBCD0C6-D9C4-5672-89C1-739279517331}"/>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70EAD89D-C442-CFCA-B22F-7CE5873B72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65FF4513-FB33-CC76-3B66-685652E0E4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E1BF4329-53AB-E9C7-E1AB-E6A90F2E329A}"/>
              </a:ext>
            </a:extLst>
          </p:cNvPr>
          <p:cNvSpPr txBox="1"/>
          <p:nvPr/>
        </p:nvSpPr>
        <p:spPr>
          <a:xfrm>
            <a:off x="2318197" y="7607440"/>
            <a:ext cx="3825501"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Mathematisches Denken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F2109394-0049-5630-A1F6-FD6E9F68A6FF}"/>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86ABE2CE-BACB-5624-FC15-6358BB7730E7}"/>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5BC8D87A-BA68-03AC-B094-D49F77355C36}"/>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B15B3982-5097-B42D-0607-12BC077ED861}"/>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5F053061-5E30-451B-A001-0DDE4A07D11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2" y="-40956"/>
            <a:ext cx="6889315"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422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0" name="Rechteck 19">
            <a:extLst>
              <a:ext uri="{FF2B5EF4-FFF2-40B4-BE49-F238E27FC236}">
                <a16:creationId xmlns:a16="http://schemas.microsoft.com/office/drawing/2014/main" id="{B107FC39-4B7B-4BCB-9353-70A3FCE1797E}"/>
              </a:ext>
              <a:ext uri="{C183D7F6-B498-43B3-948B-1728B52AA6E4}">
                <adec:decorative xmlns:adec="http://schemas.microsoft.com/office/drawing/2017/decorative" val="1"/>
              </a:ext>
            </a:extLst>
          </p:cNvPr>
          <p:cNvSpPr/>
          <p:nvPr/>
        </p:nvSpPr>
        <p:spPr>
          <a:xfrm>
            <a:off x="4581527"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225425" y="3620339"/>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2413609" y="674770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81525" y="675824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25425" y="67459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Rechteck 1">
            <a:extLst>
              <a:ext uri="{FF2B5EF4-FFF2-40B4-BE49-F238E27FC236}">
                <a16:creationId xmlns:a16="http://schemas.microsoft.com/office/drawing/2014/main" id="{AAFBAEF4-CEA9-4F85-4283-E640295C84E9}"/>
              </a:ext>
              <a:ext uri="{C183D7F6-B498-43B3-948B-1728B52AA6E4}">
                <adec:decorative xmlns:adec="http://schemas.microsoft.com/office/drawing/2017/decorative" val="1"/>
              </a:ext>
            </a:extLst>
          </p:cNvPr>
          <p:cNvSpPr/>
          <p:nvPr/>
        </p:nvSpPr>
        <p:spPr>
          <a:xfrm rot="16200000">
            <a:off x="6189500" y="5418602"/>
            <a:ext cx="1130710" cy="199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 name="Rechteck 2">
            <a:extLst>
              <a:ext uri="{FF2B5EF4-FFF2-40B4-BE49-F238E27FC236}">
                <a16:creationId xmlns:a16="http://schemas.microsoft.com/office/drawing/2014/main" id="{38F61450-C3E4-58A4-E94D-F0D2144D0E07}"/>
              </a:ext>
              <a:ext uri="{C183D7F6-B498-43B3-948B-1728B52AA6E4}">
                <adec:decorative xmlns:adec="http://schemas.microsoft.com/office/drawing/2017/decorative" val="1"/>
              </a:ext>
            </a:extLst>
          </p:cNvPr>
          <p:cNvSpPr/>
          <p:nvPr/>
        </p:nvSpPr>
        <p:spPr>
          <a:xfrm rot="16200000">
            <a:off x="3436906" y="5256822"/>
            <a:ext cx="2257556" cy="875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B422FDEE-087B-E8DF-AFD3-2A9C3A0185D4}"/>
              </a:ext>
              <a:ext uri="{C183D7F6-B498-43B3-948B-1728B52AA6E4}">
                <adec:decorative xmlns:adec="http://schemas.microsoft.com/office/drawing/2017/decorative" val="1"/>
              </a:ext>
            </a:extLst>
          </p:cNvPr>
          <p:cNvSpPr/>
          <p:nvPr/>
        </p:nvSpPr>
        <p:spPr>
          <a:xfrm rot="16200000">
            <a:off x="-176836" y="8546119"/>
            <a:ext cx="393294" cy="3895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4600981" y="361079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Textfeld 49">
            <a:extLst>
              <a:ext uri="{FF2B5EF4-FFF2-40B4-BE49-F238E27FC236}">
                <a16:creationId xmlns:a16="http://schemas.microsoft.com/office/drawing/2014/main" id="{44C22F38-3934-4674-8202-7610668B5BE2}"/>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Mathematisches Denken</a:t>
            </a:r>
          </a:p>
        </p:txBody>
      </p:sp>
      <p:sp>
        <p:nvSpPr>
          <p:cNvPr id="12" name="Textfeld 11">
            <a:extLst>
              <a:ext uri="{FF2B5EF4-FFF2-40B4-BE49-F238E27FC236}">
                <a16:creationId xmlns:a16="http://schemas.microsoft.com/office/drawing/2014/main" id="{DC92D0BD-A8C1-4465-A69C-8E46D27F16A3}"/>
              </a:ext>
            </a:extLst>
          </p:cNvPr>
          <p:cNvSpPr txBox="1"/>
          <p:nvPr/>
        </p:nvSpPr>
        <p:spPr>
          <a:xfrm>
            <a:off x="267819" y="632376"/>
            <a:ext cx="1966262"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Hey Opa, hast du vielleicht </a:t>
            </a:r>
          </a:p>
          <a:p>
            <a:pPr algn="ctr"/>
            <a:r>
              <a:rPr lang="de-DE" sz="1000" dirty="0">
                <a:solidFill>
                  <a:schemeClr val="tx1"/>
                </a:solidFill>
                <a:latin typeface="Pangolin" panose="00000500000000000000" pitchFamily="2" charset="0"/>
              </a:rPr>
              <a:t>kurz Zeit für mich?</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824B6FC0-8E52-49E0-A42F-5819DA76490E}"/>
              </a:ext>
            </a:extLst>
          </p:cNvPr>
          <p:cNvSpPr txBox="1"/>
          <p:nvPr/>
        </p:nvSpPr>
        <p:spPr>
          <a:xfrm>
            <a:off x="1555884" y="1317075"/>
            <a:ext cx="541777" cy="246221"/>
          </a:xfrm>
          <a:prstGeom prst="rect">
            <a:avLst/>
          </a:prstGeom>
          <a:noFill/>
        </p:spPr>
        <p:txBody>
          <a:bodyPr wrap="square">
            <a:spAutoFit/>
          </a:bodyPr>
          <a:lstStyle/>
          <a:p>
            <a:pPr algn="ctr"/>
            <a:r>
              <a:rPr lang="de-DE" sz="1000" dirty="0">
                <a:latin typeface="Pangolin" panose="00000500000000000000" pitchFamily="2" charset="0"/>
              </a:rPr>
              <a:t>Sicher.</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2329570" y="528544"/>
            <a:ext cx="2197100" cy="861774"/>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So…für meine Mathematik Hausaufgabe </a:t>
            </a:r>
            <a:r>
              <a:rPr lang="de-DE" sz="1000" dirty="0">
                <a:latin typeface="Pangolin" panose="00000500000000000000" pitchFamily="2" charset="0"/>
              </a:rPr>
              <a:t>muss ich ein Szenario mit einer mathematischen Denkweise beschreiben. Aber ich weiß nicht, wie ich das angehen soll.</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1FC76032-6472-42A7-9F81-6EDD70FC8732}"/>
              </a:ext>
            </a:extLst>
          </p:cNvPr>
          <p:cNvSpPr txBox="1"/>
          <p:nvPr/>
        </p:nvSpPr>
        <p:spPr>
          <a:xfrm>
            <a:off x="3768724" y="1448301"/>
            <a:ext cx="666751" cy="246221"/>
          </a:xfrm>
          <a:prstGeom prst="rect">
            <a:avLst/>
          </a:prstGeom>
          <a:noFill/>
        </p:spPr>
        <p:txBody>
          <a:bodyPr wrap="square">
            <a:spAutoFit/>
          </a:bodyPr>
          <a:lstStyle/>
          <a:p>
            <a:pPr algn="ctr"/>
            <a:r>
              <a:rPr lang="de-DE" sz="1000" dirty="0" err="1">
                <a:latin typeface="Pangolin" panose="00000500000000000000" pitchFamily="2" charset="0"/>
              </a:rPr>
              <a:t>Hmm</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E55F0D-1374-442B-8C82-48FCEA4796A4}"/>
              </a:ext>
            </a:extLst>
          </p:cNvPr>
          <p:cNvSpPr txBox="1"/>
          <p:nvPr/>
        </p:nvSpPr>
        <p:spPr>
          <a:xfrm>
            <a:off x="4613835" y="667852"/>
            <a:ext cx="1997074" cy="553998"/>
          </a:xfrm>
          <a:prstGeom prst="rect">
            <a:avLst/>
          </a:prstGeom>
          <a:noFill/>
        </p:spPr>
        <p:txBody>
          <a:bodyPr wrap="square">
            <a:spAutoFit/>
          </a:bodyPr>
          <a:lstStyle/>
          <a:p>
            <a:pPr algn="ctr"/>
            <a:r>
              <a:rPr lang="de-DE" sz="1000" dirty="0">
                <a:latin typeface="Pangolin" panose="00000500000000000000" pitchFamily="2" charset="0"/>
              </a:rPr>
              <a:t>Ich hätte da eine Idee, aber lass uns die am Besten im Restaurant um die Ecke besprechen.</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EAFCC845-7912-40D3-ABE8-DEC2E9DD0B0B}"/>
              </a:ext>
            </a:extLst>
          </p:cNvPr>
          <p:cNvSpPr txBox="1"/>
          <p:nvPr/>
        </p:nvSpPr>
        <p:spPr>
          <a:xfrm>
            <a:off x="419101" y="3905775"/>
            <a:ext cx="147955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Aber wieso gehen wir für meine Hausaufgabe in ein Restaurant?</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B6037A6F-86BA-497F-AF88-9A18F21E9A4B}"/>
              </a:ext>
            </a:extLst>
          </p:cNvPr>
          <p:cNvSpPr txBox="1"/>
          <p:nvPr/>
        </p:nvSpPr>
        <p:spPr>
          <a:xfrm>
            <a:off x="4654712" y="3617821"/>
            <a:ext cx="1952065"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Nah, du brauchst doch ein Szenario – un</a:t>
            </a:r>
            <a:r>
              <a:rPr lang="de-DE" sz="1000" dirty="0">
                <a:latin typeface="Pangolin" panose="00000500000000000000" pitchFamily="2" charset="0"/>
              </a:rPr>
              <a:t>d ich hier gibt es ein gutes Beispiel dafür.</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389798" y="6846612"/>
            <a:ext cx="1330756"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Betrachte den Kellner mal genauer.</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461333" y="6825496"/>
            <a:ext cx="1933573"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Er rennt herum und notiert sich die Bestellungen der Kunden.</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881E28-81CC-43CA-B8EA-1F672F1D4615}"/>
              </a:ext>
            </a:extLst>
          </p:cNvPr>
          <p:cNvSpPr txBox="1"/>
          <p:nvPr/>
        </p:nvSpPr>
        <p:spPr>
          <a:xfrm>
            <a:off x="2542283" y="7528476"/>
            <a:ext cx="1057275"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Was hätten Sie heute gerne?</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624676" y="6790600"/>
            <a:ext cx="1982101"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Ich hätte gerne einen Salat, bitte.</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B53E7053-BA1E-4399-9E83-539B44F36339}"/>
              </a:ext>
            </a:extLst>
          </p:cNvPr>
          <p:cNvSpPr txBox="1"/>
          <p:nvPr/>
        </p:nvSpPr>
        <p:spPr>
          <a:xfrm>
            <a:off x="5061999" y="7328421"/>
            <a:ext cx="1233368"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Ich will den Spezial Fisch probieren!</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5ED9E0F0-71E0-4370-A870-8E0A52A50FAA}"/>
              </a:ext>
            </a:extLst>
          </p:cNvPr>
          <p:cNvSpPr txBox="1">
            <a:spLocks noGrp="1"/>
          </p:cNvSpPr>
          <p:nvPr>
            <p:ph type="title" idx="4294967295"/>
          </p:nvPr>
        </p:nvSpPr>
        <p:spPr>
          <a:xfrm>
            <a:off x="4990070" y="9128467"/>
            <a:ext cx="1181714"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Ein Wiener Schnitzel, bitte.</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FA036A61-A4EB-903C-7C93-6DE41CB5FDB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 y="46313"/>
            <a:ext cx="6858000" cy="9905385"/>
          </a:xfrm>
          <a:prstGeom prst="rect">
            <a:avLst/>
          </a:prstGeom>
        </p:spPr>
      </p:pic>
      <p:pic>
        <p:nvPicPr>
          <p:cNvPr id="40" name="Grafik 39">
            <a:extLst>
              <a:ext uri="{FF2B5EF4-FFF2-40B4-BE49-F238E27FC236}">
                <a16:creationId xmlns:a16="http://schemas.microsoft.com/office/drawing/2014/main" id="{DAFE9B8B-8ED1-8BC1-8CDB-FCA08A438B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79" y="-7566"/>
            <a:ext cx="6858000" cy="9905385"/>
          </a:xfrm>
          <a:prstGeom prst="rect">
            <a:avLst/>
          </a:prstGeom>
        </p:spPr>
      </p:pic>
      <p:sp>
        <p:nvSpPr>
          <p:cNvPr id="8" name="Rechteck 7">
            <a:extLst>
              <a:ext uri="{FF2B5EF4-FFF2-40B4-BE49-F238E27FC236}">
                <a16:creationId xmlns:a16="http://schemas.microsoft.com/office/drawing/2014/main" id="{7A4221AB-8C7D-42B5-BB12-1928B4339DAD}"/>
              </a:ext>
              <a:ext uri="{C183D7F6-B498-43B3-948B-1728B52AA6E4}">
                <adec:decorative xmlns:adec="http://schemas.microsoft.com/office/drawing/2017/decorative" val="1"/>
              </a:ext>
            </a:extLst>
          </p:cNvPr>
          <p:cNvSpPr/>
          <p:nvPr/>
        </p:nvSpPr>
        <p:spPr>
          <a:xfrm>
            <a:off x="2351409" y="1749376"/>
            <a:ext cx="51054" cy="1483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DF124154-31C6-431C-896B-FB281F72C63C}"/>
              </a:ext>
              <a:ext uri="{C183D7F6-B498-43B3-948B-1728B52AA6E4}">
                <adec:decorative xmlns:adec="http://schemas.microsoft.com/office/drawing/2017/decorative" val="1"/>
              </a:ext>
            </a:extLst>
          </p:cNvPr>
          <p:cNvSpPr/>
          <p:nvPr/>
        </p:nvSpPr>
        <p:spPr>
          <a:xfrm rot="16200000">
            <a:off x="-4488588" y="5037944"/>
            <a:ext cx="9243529" cy="2153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9DC15F78-FF3D-4713-9A0F-8F987CF88EDB}"/>
              </a:ext>
              <a:ext uri="{C183D7F6-B498-43B3-948B-1728B52AA6E4}">
                <adec:decorative xmlns:adec="http://schemas.microsoft.com/office/drawing/2017/decorative" val="1"/>
              </a:ext>
            </a:extLst>
          </p:cNvPr>
          <p:cNvSpPr/>
          <p:nvPr/>
        </p:nvSpPr>
        <p:spPr>
          <a:xfrm>
            <a:off x="4454525" y="989045"/>
            <a:ext cx="127000" cy="2345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pic>
        <p:nvPicPr>
          <p:cNvPr id="38" name="Grafik 37">
            <a:extLst>
              <a:ext uri="{FF2B5EF4-FFF2-40B4-BE49-F238E27FC236}">
                <a16:creationId xmlns:a16="http://schemas.microsoft.com/office/drawing/2014/main" id="{9BCD2D83-0B43-4F67-83F0-73CFA1A54868}"/>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4208" y="6799410"/>
            <a:ext cx="304801" cy="256033"/>
          </a:xfrm>
          <a:prstGeom prst="rect">
            <a:avLst/>
          </a:prstGeom>
        </p:spPr>
      </p:pic>
      <p:sp>
        <p:nvSpPr>
          <p:cNvPr id="41" name="Rechteck 40">
            <a:extLst>
              <a:ext uri="{FF2B5EF4-FFF2-40B4-BE49-F238E27FC236}">
                <a16:creationId xmlns:a16="http://schemas.microsoft.com/office/drawing/2014/main" id="{A48DA395-912E-6370-6530-8B2D438DD75F}"/>
              </a:ext>
              <a:ext uri="{C183D7F6-B498-43B3-948B-1728B52AA6E4}">
                <adec:decorative xmlns:adec="http://schemas.microsoft.com/office/drawing/2017/decorative" val="1"/>
              </a:ext>
            </a:extLst>
          </p:cNvPr>
          <p:cNvSpPr/>
          <p:nvPr/>
        </p:nvSpPr>
        <p:spPr>
          <a:xfrm rot="16200000">
            <a:off x="2257406" y="1442473"/>
            <a:ext cx="136123" cy="42036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1" name="Rechteck 30">
            <a:extLst>
              <a:ext uri="{FF2B5EF4-FFF2-40B4-BE49-F238E27FC236}">
                <a16:creationId xmlns:a16="http://schemas.microsoft.com/office/drawing/2014/main" id="{33D68691-7F81-BCAC-9039-1567134076DD}"/>
              </a:ext>
              <a:ext uri="{C183D7F6-B498-43B3-948B-1728B52AA6E4}">
                <adec:decorative xmlns:adec="http://schemas.microsoft.com/office/drawing/2017/decorative" val="1"/>
              </a:ext>
            </a:extLst>
          </p:cNvPr>
          <p:cNvSpPr/>
          <p:nvPr/>
        </p:nvSpPr>
        <p:spPr>
          <a:xfrm rot="16200000">
            <a:off x="1450882" y="8165723"/>
            <a:ext cx="83117" cy="31202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9" name="Rechteck 38">
            <a:extLst>
              <a:ext uri="{FF2B5EF4-FFF2-40B4-BE49-F238E27FC236}">
                <a16:creationId xmlns:a16="http://schemas.microsoft.com/office/drawing/2014/main" id="{87B3EB46-34A8-6C33-29EB-C5C61CD0228C}"/>
              </a:ext>
              <a:ext uri="{C183D7F6-B498-43B3-948B-1728B52AA6E4}">
                <adec:decorative xmlns:adec="http://schemas.microsoft.com/office/drawing/2017/decorative" val="1"/>
              </a:ext>
            </a:extLst>
          </p:cNvPr>
          <p:cNvSpPr/>
          <p:nvPr/>
        </p:nvSpPr>
        <p:spPr>
          <a:xfrm rot="16200000">
            <a:off x="-549284" y="8900147"/>
            <a:ext cx="1147138" cy="415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2" name="Rechteck 41">
            <a:extLst>
              <a:ext uri="{FF2B5EF4-FFF2-40B4-BE49-F238E27FC236}">
                <a16:creationId xmlns:a16="http://schemas.microsoft.com/office/drawing/2014/main" id="{BD671AE2-0ACB-036B-A28D-4E3384F831E5}"/>
              </a:ext>
              <a:ext uri="{C183D7F6-B498-43B3-948B-1728B52AA6E4}">
                <adec:decorative xmlns:adec="http://schemas.microsoft.com/office/drawing/2017/decorative" val="1"/>
              </a:ext>
            </a:extLst>
          </p:cNvPr>
          <p:cNvSpPr/>
          <p:nvPr/>
        </p:nvSpPr>
        <p:spPr>
          <a:xfrm rot="16200000">
            <a:off x="953416" y="5773346"/>
            <a:ext cx="110987" cy="17087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3" name="Rechteck 42">
            <a:extLst>
              <a:ext uri="{FF2B5EF4-FFF2-40B4-BE49-F238E27FC236}">
                <a16:creationId xmlns:a16="http://schemas.microsoft.com/office/drawing/2014/main" id="{D0375222-57A4-4DAB-DE64-FA414EFDB4EE}"/>
              </a:ext>
              <a:ext uri="{C183D7F6-B498-43B3-948B-1728B52AA6E4}">
                <adec:decorative xmlns:adec="http://schemas.microsoft.com/office/drawing/2017/decorative" val="1"/>
              </a:ext>
            </a:extLst>
          </p:cNvPr>
          <p:cNvSpPr/>
          <p:nvPr/>
        </p:nvSpPr>
        <p:spPr>
          <a:xfrm rot="16200000">
            <a:off x="3124008" y="5782061"/>
            <a:ext cx="110987" cy="17087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4" name="Rechteck 43">
            <a:extLst>
              <a:ext uri="{FF2B5EF4-FFF2-40B4-BE49-F238E27FC236}">
                <a16:creationId xmlns:a16="http://schemas.microsoft.com/office/drawing/2014/main" id="{83D98A36-D728-0D7E-AB35-853DAFA76725}"/>
              </a:ext>
              <a:ext uri="{C183D7F6-B498-43B3-948B-1728B52AA6E4}">
                <adec:decorative xmlns:adec="http://schemas.microsoft.com/office/drawing/2017/decorative" val="1"/>
              </a:ext>
            </a:extLst>
          </p:cNvPr>
          <p:cNvSpPr/>
          <p:nvPr/>
        </p:nvSpPr>
        <p:spPr>
          <a:xfrm rot="16200000">
            <a:off x="5325421" y="5798027"/>
            <a:ext cx="110987" cy="17087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7" name="Rechteck 46">
            <a:extLst>
              <a:ext uri="{FF2B5EF4-FFF2-40B4-BE49-F238E27FC236}">
                <a16:creationId xmlns:a16="http://schemas.microsoft.com/office/drawing/2014/main" id="{8FBD7595-41B7-F33A-1254-7725387C295F}"/>
              </a:ext>
              <a:ext uri="{C183D7F6-B498-43B3-948B-1728B52AA6E4}">
                <adec:decorative xmlns:adec="http://schemas.microsoft.com/office/drawing/2017/decorative" val="1"/>
              </a:ext>
            </a:extLst>
          </p:cNvPr>
          <p:cNvSpPr/>
          <p:nvPr/>
        </p:nvSpPr>
        <p:spPr>
          <a:xfrm rot="16200000">
            <a:off x="2856567" y="3020733"/>
            <a:ext cx="119701" cy="10491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8" name="Rechteck 47">
            <a:extLst>
              <a:ext uri="{FF2B5EF4-FFF2-40B4-BE49-F238E27FC236}">
                <a16:creationId xmlns:a16="http://schemas.microsoft.com/office/drawing/2014/main" id="{343ACB2A-8A3D-D010-97F2-A10D442E7580}"/>
              </a:ext>
              <a:ext uri="{C183D7F6-B498-43B3-948B-1728B52AA6E4}">
                <adec:decorative xmlns:adec="http://schemas.microsoft.com/office/drawing/2017/decorative" val="1"/>
              </a:ext>
            </a:extLst>
          </p:cNvPr>
          <p:cNvSpPr/>
          <p:nvPr/>
        </p:nvSpPr>
        <p:spPr>
          <a:xfrm rot="16200000">
            <a:off x="1922941" y="6013957"/>
            <a:ext cx="84809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9" name="Rechteck 48">
            <a:extLst>
              <a:ext uri="{FF2B5EF4-FFF2-40B4-BE49-F238E27FC236}">
                <a16:creationId xmlns:a16="http://schemas.microsoft.com/office/drawing/2014/main" id="{C9692846-00C6-1DB8-E3E7-ADD75F11DB82}"/>
              </a:ext>
              <a:ext uri="{C183D7F6-B498-43B3-948B-1728B52AA6E4}">
                <adec:decorative xmlns:adec="http://schemas.microsoft.com/office/drawing/2017/decorative" val="1"/>
              </a:ext>
            </a:extLst>
          </p:cNvPr>
          <p:cNvSpPr/>
          <p:nvPr/>
        </p:nvSpPr>
        <p:spPr>
          <a:xfrm rot="16200000">
            <a:off x="4133667" y="5872705"/>
            <a:ext cx="84809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3029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9754"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C09E96E0-270D-4E43-A18D-B50D9F3EC858}"/>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B67031F7-8C52-4BC4-B9C5-8E70100AC0F7}"/>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84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46" name="Grafik 45">
            <a:extLst>
              <a:ext uri="{FF2B5EF4-FFF2-40B4-BE49-F238E27FC236}">
                <a16:creationId xmlns:a16="http://schemas.microsoft.com/office/drawing/2014/main" id="{CA2B0936-7A46-769C-0EE9-0CE5B3CF9086}"/>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t="60858" b="32763"/>
          <a:stretch/>
        </p:blipFill>
        <p:spPr>
          <a:xfrm>
            <a:off x="-17253" y="6074500"/>
            <a:ext cx="6858000" cy="631902"/>
          </a:xfrm>
          <a:prstGeom prst="rect">
            <a:avLst/>
          </a:prstGeom>
        </p:spPr>
      </p:pic>
      <p:sp>
        <p:nvSpPr>
          <p:cNvPr id="2" name="Textfeld 49">
            <a:extLst>
              <a:ext uri="{FF2B5EF4-FFF2-40B4-BE49-F238E27FC236}">
                <a16:creationId xmlns:a16="http://schemas.microsoft.com/office/drawing/2014/main" id="{9E378F56-02F7-24C0-DED7-E585E49036F3}"/>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Mathematisches Denken</a:t>
            </a:r>
          </a:p>
        </p:txBody>
      </p:sp>
      <p:sp>
        <p:nvSpPr>
          <p:cNvPr id="17" name="Textfeld 16">
            <a:extLst>
              <a:ext uri="{FF2B5EF4-FFF2-40B4-BE49-F238E27FC236}">
                <a16:creationId xmlns:a16="http://schemas.microsoft.com/office/drawing/2014/main" id="{EAB2CE85-EDAA-40CE-91A0-7CF9037A8673}"/>
              </a:ext>
            </a:extLst>
          </p:cNvPr>
          <p:cNvSpPr txBox="1"/>
          <p:nvPr/>
        </p:nvSpPr>
        <p:spPr>
          <a:xfrm>
            <a:off x="347163" y="582585"/>
            <a:ext cx="1807574" cy="400110"/>
          </a:xfrm>
          <a:prstGeom prst="rect">
            <a:avLst/>
          </a:prstGeom>
          <a:noFill/>
        </p:spPr>
        <p:txBody>
          <a:bodyPr wrap="square">
            <a:spAutoFit/>
          </a:bodyPr>
          <a:lstStyle/>
          <a:p>
            <a:pPr algn="ctr"/>
            <a:r>
              <a:rPr lang="de-DE" sz="1000" dirty="0">
                <a:latin typeface="Pangolin" panose="00000500000000000000" pitchFamily="2" charset="0"/>
              </a:rPr>
              <a:t>Der Kellner schreibt die Bestellung der Gäste auf…</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77766320-C323-4F05-B79B-21F5B1A5F7A2}"/>
              </a:ext>
            </a:extLst>
          </p:cNvPr>
          <p:cNvSpPr txBox="1"/>
          <p:nvPr/>
        </p:nvSpPr>
        <p:spPr>
          <a:xfrm>
            <a:off x="2261896" y="603522"/>
            <a:ext cx="2305048"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…und kümmert sich um </a:t>
            </a:r>
          </a:p>
          <a:p>
            <a:pPr algn="ctr"/>
            <a:r>
              <a:rPr lang="de-DE" sz="1000" dirty="0">
                <a:solidFill>
                  <a:schemeClr val="tx1"/>
                </a:solidFill>
                <a:latin typeface="Pangolin" panose="00000500000000000000" pitchFamily="2" charset="0"/>
              </a:rPr>
              <a:t>weitere Tische bis…</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B24C216A-D5C5-4BB2-8DD4-89F87B09606C}"/>
              </a:ext>
            </a:extLst>
          </p:cNvPr>
          <p:cNvSpPr txBox="1"/>
          <p:nvPr/>
        </p:nvSpPr>
        <p:spPr>
          <a:xfrm>
            <a:off x="4644208" y="651564"/>
            <a:ext cx="192568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Essen für Tisch Eins ist fertig!</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710136DB-CD31-4F92-AD93-4D8E7954D92B}"/>
              </a:ext>
            </a:extLst>
          </p:cNvPr>
          <p:cNvSpPr txBox="1"/>
          <p:nvPr/>
        </p:nvSpPr>
        <p:spPr>
          <a:xfrm>
            <a:off x="5713458" y="1266591"/>
            <a:ext cx="86913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Komme!</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154512" y="3652117"/>
            <a:ext cx="2144422" cy="553998"/>
          </a:xfrm>
          <a:prstGeom prst="rect">
            <a:avLst/>
          </a:prstGeom>
          <a:noFill/>
        </p:spPr>
        <p:txBody>
          <a:bodyPr wrap="square">
            <a:spAutoFit/>
          </a:bodyPr>
          <a:lstStyle/>
          <a:p>
            <a:pPr algn="ctr"/>
            <a:r>
              <a:rPr lang="de-DE" sz="1000" dirty="0">
                <a:latin typeface="Pangolin" panose="00000500000000000000" pitchFamily="2" charset="0"/>
              </a:rPr>
              <a:t>Jetzt muss der Kellner jeden Gast das richtige Essen geben. Meistens fragt er wem was gehört.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F2AA65D-82EC-4378-AA41-79361034D199}"/>
              </a:ext>
            </a:extLst>
          </p:cNvPr>
          <p:cNvSpPr txBox="1"/>
          <p:nvPr/>
        </p:nvSpPr>
        <p:spPr>
          <a:xfrm>
            <a:off x="340812" y="4330030"/>
            <a:ext cx="1280465"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Einmal </a:t>
            </a:r>
            <a:r>
              <a:rPr lang="de-DE" sz="1000" dirty="0">
                <a:latin typeface="Pangolin" panose="00000500000000000000" pitchFamily="2" charset="0"/>
              </a:rPr>
              <a:t>der Salat?</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4AC4F8E2-F1E5-42CA-93A7-FB36A1F72476}"/>
              </a:ext>
            </a:extLst>
          </p:cNvPr>
          <p:cNvSpPr txBox="1"/>
          <p:nvPr/>
        </p:nvSpPr>
        <p:spPr>
          <a:xfrm>
            <a:off x="317426" y="4815415"/>
            <a:ext cx="583191"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Ja!</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369846" y="3640138"/>
            <a:ext cx="1280465" cy="246221"/>
          </a:xfrm>
          <a:prstGeom prst="rect">
            <a:avLst/>
          </a:prstGeom>
          <a:noFill/>
        </p:spPr>
        <p:txBody>
          <a:bodyPr wrap="square">
            <a:spAutoFit/>
          </a:bodyPr>
          <a:lstStyle/>
          <a:p>
            <a:pPr algn="ctr"/>
            <a:r>
              <a:rPr lang="de-DE" sz="1000" dirty="0">
                <a:latin typeface="Pangolin" panose="00000500000000000000" pitchFamily="2" charset="0"/>
              </a:rPr>
              <a:t>Für Sie, Madame.</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AF3FA7B9-77CE-4CBD-8983-01F6D461E8F9}"/>
              </a:ext>
            </a:extLst>
          </p:cNvPr>
          <p:cNvSpPr txBox="1"/>
          <p:nvPr/>
        </p:nvSpPr>
        <p:spPr>
          <a:xfrm>
            <a:off x="2582500" y="4006060"/>
            <a:ext cx="1280465" cy="400110"/>
          </a:xfrm>
          <a:prstGeom prst="rect">
            <a:avLst/>
          </a:prstGeom>
          <a:noFill/>
        </p:spPr>
        <p:txBody>
          <a:bodyPr wrap="square">
            <a:spAutoFit/>
          </a:bodyPr>
          <a:lstStyle/>
          <a:p>
            <a:pPr algn="ctr"/>
            <a:r>
              <a:rPr lang="de-DE" sz="1000" dirty="0">
                <a:latin typeface="Pangolin" panose="00000500000000000000" pitchFamily="2" charset="0"/>
              </a:rPr>
              <a:t>Wer bekommt </a:t>
            </a:r>
          </a:p>
          <a:p>
            <a:pPr algn="ctr"/>
            <a:r>
              <a:rPr lang="de-DE" sz="1000" dirty="0">
                <a:latin typeface="Pangolin" panose="00000500000000000000" pitchFamily="2" charset="0"/>
              </a:rPr>
              <a:t>den Fisch?</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02A36435-50C5-4438-965F-C7FE55ECC0FE}"/>
              </a:ext>
            </a:extLst>
          </p:cNvPr>
          <p:cNvSpPr txBox="1"/>
          <p:nvPr/>
        </p:nvSpPr>
        <p:spPr>
          <a:xfrm>
            <a:off x="3440968" y="4647739"/>
            <a:ext cx="874128" cy="400110"/>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Der ist für mich!</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44208" y="3645767"/>
            <a:ext cx="1925683" cy="553998"/>
          </a:xfrm>
          <a:prstGeom prst="rect">
            <a:avLst/>
          </a:prstGeom>
          <a:noFill/>
        </p:spPr>
        <p:txBody>
          <a:bodyPr wrap="square">
            <a:spAutoFit/>
          </a:bodyPr>
          <a:lstStyle/>
          <a:p>
            <a:pPr algn="ctr"/>
            <a:r>
              <a:rPr lang="de-DE" sz="1000" dirty="0">
                <a:latin typeface="Pangolin" panose="00000500000000000000" pitchFamily="2" charset="0"/>
              </a:rPr>
              <a:t>Für das letzte Essen muss er nicht mehr fragen, da nur noch ein Gericht und ein Gast da ist.</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C4E15962-42BB-4800-B61A-1F5083B52D73}"/>
              </a:ext>
            </a:extLst>
          </p:cNvPr>
          <p:cNvSpPr txBox="1"/>
          <p:nvPr/>
        </p:nvSpPr>
        <p:spPr>
          <a:xfrm>
            <a:off x="4756150" y="4360568"/>
            <a:ext cx="1327150" cy="400110"/>
          </a:xfrm>
          <a:prstGeom prst="rect">
            <a:avLst/>
          </a:prstGeom>
          <a:noFill/>
        </p:spPr>
        <p:txBody>
          <a:bodyPr wrap="square">
            <a:spAutoFit/>
          </a:bodyPr>
          <a:lstStyle/>
          <a:p>
            <a:pPr algn="ctr"/>
            <a:r>
              <a:rPr lang="de-DE" sz="1000" dirty="0">
                <a:latin typeface="Pangolin" panose="00000500000000000000" pitchFamily="2" charset="0"/>
              </a:rPr>
              <a:t>Und für Sie, ein Wiener Schnitzel.</a:t>
            </a:r>
            <a:endParaRPr lang="de-AT" sz="10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E9DD36E4-26CB-4C0B-8B3C-4552D5FF2FE9}"/>
              </a:ext>
            </a:extLst>
          </p:cNvPr>
          <p:cNvSpPr txBox="1"/>
          <p:nvPr/>
        </p:nvSpPr>
        <p:spPr>
          <a:xfrm>
            <a:off x="5949610" y="4945127"/>
            <a:ext cx="611933" cy="246221"/>
          </a:xfrm>
          <a:prstGeom prst="rect">
            <a:avLst/>
          </a:prstGeom>
          <a:noFill/>
        </p:spPr>
        <p:txBody>
          <a:bodyPr wrap="square">
            <a:spAutoFit/>
          </a:bodyPr>
          <a:lstStyle/>
          <a:p>
            <a:pPr algn="ctr"/>
            <a:r>
              <a:rPr lang="de-DE" sz="1000" dirty="0">
                <a:latin typeface="Pangolin" panose="00000500000000000000" pitchFamily="2" charset="0"/>
              </a:rPr>
              <a:t>Danke!</a:t>
            </a:r>
            <a:endParaRPr lang="de-AT" sz="1000" dirty="0">
              <a:solidFill>
                <a:schemeClr val="tx1"/>
              </a:solidFill>
              <a:latin typeface="Pangolin" panose="00000500000000000000" pitchFamily="2" charset="0"/>
            </a:endParaRPr>
          </a:p>
        </p:txBody>
      </p:sp>
      <p:sp>
        <p:nvSpPr>
          <p:cNvPr id="33" name="Sprechblase: rechteckig mit abgerundeten Ecken 32" descr="Nun könnten wir dieses Szenario, das richtige Essen zum richtigen Kunden zu bringen, nehmen und versuchen, einen mathematischen Ansatz für dieses &quot;Problem&quot; zu finden.">
            <a:extLst>
              <a:ext uri="{FF2B5EF4-FFF2-40B4-BE49-F238E27FC236}">
                <a16:creationId xmlns:a16="http://schemas.microsoft.com/office/drawing/2014/main" id="{0C233EFC-D749-4B5C-9BBA-CAF6FB26532D}"/>
              </a:ext>
            </a:extLst>
          </p:cNvPr>
          <p:cNvSpPr/>
          <p:nvPr/>
        </p:nvSpPr>
        <p:spPr>
          <a:xfrm>
            <a:off x="340812" y="6837130"/>
            <a:ext cx="1837237" cy="1076892"/>
          </a:xfrm>
          <a:custGeom>
            <a:avLst/>
            <a:gdLst>
              <a:gd name="connsiteX0" fmla="*/ 0 w 1837237"/>
              <a:gd name="connsiteY0" fmla="*/ 179486 h 1076892"/>
              <a:gd name="connsiteX1" fmla="*/ 179486 w 1837237"/>
              <a:gd name="connsiteY1" fmla="*/ 0 h 1076892"/>
              <a:gd name="connsiteX2" fmla="*/ 306206 w 1837237"/>
              <a:gd name="connsiteY2" fmla="*/ 0 h 1076892"/>
              <a:gd name="connsiteX3" fmla="*/ 306206 w 1837237"/>
              <a:gd name="connsiteY3" fmla="*/ 0 h 1076892"/>
              <a:gd name="connsiteX4" fmla="*/ 765515 w 1837237"/>
              <a:gd name="connsiteY4" fmla="*/ 0 h 1076892"/>
              <a:gd name="connsiteX5" fmla="*/ 1229478 w 1837237"/>
              <a:gd name="connsiteY5" fmla="*/ 0 h 1076892"/>
              <a:gd name="connsiteX6" fmla="*/ 1657751 w 1837237"/>
              <a:gd name="connsiteY6" fmla="*/ 0 h 1076892"/>
              <a:gd name="connsiteX7" fmla="*/ 1837237 w 1837237"/>
              <a:gd name="connsiteY7" fmla="*/ 179486 h 1076892"/>
              <a:gd name="connsiteX8" fmla="*/ 1837237 w 1837237"/>
              <a:gd name="connsiteY8" fmla="*/ 628187 h 1076892"/>
              <a:gd name="connsiteX9" fmla="*/ 1837237 w 1837237"/>
              <a:gd name="connsiteY9" fmla="*/ 628187 h 1076892"/>
              <a:gd name="connsiteX10" fmla="*/ 1837237 w 1837237"/>
              <a:gd name="connsiteY10" fmla="*/ 897410 h 1076892"/>
              <a:gd name="connsiteX11" fmla="*/ 1837237 w 1837237"/>
              <a:gd name="connsiteY11" fmla="*/ 897406 h 1076892"/>
              <a:gd name="connsiteX12" fmla="*/ 1657751 w 1837237"/>
              <a:gd name="connsiteY12" fmla="*/ 1076892 h 1076892"/>
              <a:gd name="connsiteX13" fmla="*/ 1211633 w 1837237"/>
              <a:gd name="connsiteY13" fmla="*/ 1076892 h 1076892"/>
              <a:gd name="connsiteX14" fmla="*/ 765515 w 1837237"/>
              <a:gd name="connsiteY14" fmla="*/ 1076892 h 1076892"/>
              <a:gd name="connsiteX15" fmla="*/ 343049 w 1837237"/>
              <a:gd name="connsiteY15" fmla="*/ 1382514 h 1076892"/>
              <a:gd name="connsiteX16" fmla="*/ 306206 w 1837237"/>
              <a:gd name="connsiteY16" fmla="*/ 1076892 h 1076892"/>
              <a:gd name="connsiteX17" fmla="*/ 179486 w 1837237"/>
              <a:gd name="connsiteY17" fmla="*/ 1076892 h 1076892"/>
              <a:gd name="connsiteX18" fmla="*/ 0 w 1837237"/>
              <a:gd name="connsiteY18" fmla="*/ 897406 h 1076892"/>
              <a:gd name="connsiteX19" fmla="*/ 0 w 1837237"/>
              <a:gd name="connsiteY19" fmla="*/ 897410 h 1076892"/>
              <a:gd name="connsiteX20" fmla="*/ 0 w 1837237"/>
              <a:gd name="connsiteY20" fmla="*/ 628187 h 1076892"/>
              <a:gd name="connsiteX21" fmla="*/ 0 w 1837237"/>
              <a:gd name="connsiteY21" fmla="*/ 628187 h 1076892"/>
              <a:gd name="connsiteX22" fmla="*/ 0 w 1837237"/>
              <a:gd name="connsiteY22" fmla="*/ 179486 h 107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37237" h="1076892" fill="none" extrusionOk="0">
                <a:moveTo>
                  <a:pt x="0" y="179486"/>
                </a:moveTo>
                <a:cubicBezTo>
                  <a:pt x="4138" y="82022"/>
                  <a:pt x="80657" y="2683"/>
                  <a:pt x="179486" y="0"/>
                </a:cubicBezTo>
                <a:cubicBezTo>
                  <a:pt x="236272" y="-4490"/>
                  <a:pt x="243398" y="5188"/>
                  <a:pt x="306206" y="0"/>
                </a:cubicBezTo>
                <a:lnTo>
                  <a:pt x="306206" y="0"/>
                </a:lnTo>
                <a:cubicBezTo>
                  <a:pt x="442208" y="-10163"/>
                  <a:pt x="586045" y="-21324"/>
                  <a:pt x="765515" y="0"/>
                </a:cubicBezTo>
                <a:cubicBezTo>
                  <a:pt x="902413" y="15028"/>
                  <a:pt x="1023964" y="7031"/>
                  <a:pt x="1229478" y="0"/>
                </a:cubicBezTo>
                <a:cubicBezTo>
                  <a:pt x="1434992" y="-7031"/>
                  <a:pt x="1542605" y="-16503"/>
                  <a:pt x="1657751" y="0"/>
                </a:cubicBezTo>
                <a:cubicBezTo>
                  <a:pt x="1761227" y="-8984"/>
                  <a:pt x="1832059" y="103901"/>
                  <a:pt x="1837237" y="179486"/>
                </a:cubicBezTo>
                <a:cubicBezTo>
                  <a:pt x="1856749" y="323491"/>
                  <a:pt x="1845927" y="430123"/>
                  <a:pt x="1837237" y="628187"/>
                </a:cubicBezTo>
                <a:lnTo>
                  <a:pt x="1837237" y="628187"/>
                </a:lnTo>
                <a:cubicBezTo>
                  <a:pt x="1836845" y="707898"/>
                  <a:pt x="1824182" y="789470"/>
                  <a:pt x="1837237" y="897410"/>
                </a:cubicBezTo>
                <a:lnTo>
                  <a:pt x="1837237" y="897406"/>
                </a:lnTo>
                <a:cubicBezTo>
                  <a:pt x="1839707" y="1016238"/>
                  <a:pt x="1754741" y="1083274"/>
                  <a:pt x="1657751" y="1076892"/>
                </a:cubicBezTo>
                <a:cubicBezTo>
                  <a:pt x="1527053" y="1077489"/>
                  <a:pt x="1334941" y="1062013"/>
                  <a:pt x="1211633" y="1076892"/>
                </a:cubicBezTo>
                <a:cubicBezTo>
                  <a:pt x="1088325" y="1091771"/>
                  <a:pt x="911904" y="1089152"/>
                  <a:pt x="765515" y="1076892"/>
                </a:cubicBezTo>
                <a:cubicBezTo>
                  <a:pt x="574766" y="1221982"/>
                  <a:pt x="523377" y="1245305"/>
                  <a:pt x="343049" y="1382514"/>
                </a:cubicBezTo>
                <a:cubicBezTo>
                  <a:pt x="334022" y="1282502"/>
                  <a:pt x="302711" y="1143230"/>
                  <a:pt x="306206" y="1076892"/>
                </a:cubicBezTo>
                <a:cubicBezTo>
                  <a:pt x="246574" y="1082870"/>
                  <a:pt x="230167" y="1078895"/>
                  <a:pt x="179486" y="1076892"/>
                </a:cubicBezTo>
                <a:cubicBezTo>
                  <a:pt x="82781" y="1081608"/>
                  <a:pt x="6070" y="1015728"/>
                  <a:pt x="0" y="897406"/>
                </a:cubicBezTo>
                <a:lnTo>
                  <a:pt x="0" y="897410"/>
                </a:lnTo>
                <a:cubicBezTo>
                  <a:pt x="-8778" y="814640"/>
                  <a:pt x="-11372" y="697292"/>
                  <a:pt x="0" y="628187"/>
                </a:cubicBezTo>
                <a:lnTo>
                  <a:pt x="0" y="628187"/>
                </a:lnTo>
                <a:cubicBezTo>
                  <a:pt x="15261" y="461476"/>
                  <a:pt x="-18525" y="364872"/>
                  <a:pt x="0" y="179486"/>
                </a:cubicBezTo>
                <a:close/>
              </a:path>
              <a:path w="1837237" h="1076892" stroke="0" extrusionOk="0">
                <a:moveTo>
                  <a:pt x="0" y="179486"/>
                </a:moveTo>
                <a:cubicBezTo>
                  <a:pt x="-3025" y="78317"/>
                  <a:pt x="82793" y="-797"/>
                  <a:pt x="179486" y="0"/>
                </a:cubicBezTo>
                <a:cubicBezTo>
                  <a:pt x="214016" y="2283"/>
                  <a:pt x="248360" y="-3123"/>
                  <a:pt x="306206" y="0"/>
                </a:cubicBezTo>
                <a:lnTo>
                  <a:pt x="306206" y="0"/>
                </a:lnTo>
                <a:cubicBezTo>
                  <a:pt x="442122" y="-4851"/>
                  <a:pt x="618047" y="10881"/>
                  <a:pt x="765515" y="0"/>
                </a:cubicBezTo>
                <a:cubicBezTo>
                  <a:pt x="984633" y="-15635"/>
                  <a:pt x="1105243" y="7815"/>
                  <a:pt x="1229478" y="0"/>
                </a:cubicBezTo>
                <a:cubicBezTo>
                  <a:pt x="1353713" y="-7815"/>
                  <a:pt x="1550633" y="-5422"/>
                  <a:pt x="1657751" y="0"/>
                </a:cubicBezTo>
                <a:cubicBezTo>
                  <a:pt x="1767562" y="6149"/>
                  <a:pt x="1835855" y="82114"/>
                  <a:pt x="1837237" y="179486"/>
                </a:cubicBezTo>
                <a:cubicBezTo>
                  <a:pt x="1824404" y="376464"/>
                  <a:pt x="1825080" y="435492"/>
                  <a:pt x="1837237" y="628187"/>
                </a:cubicBezTo>
                <a:lnTo>
                  <a:pt x="1837237" y="628187"/>
                </a:lnTo>
                <a:cubicBezTo>
                  <a:pt x="1843535" y="761825"/>
                  <a:pt x="1824182" y="828910"/>
                  <a:pt x="1837237" y="897410"/>
                </a:cubicBezTo>
                <a:lnTo>
                  <a:pt x="1837237" y="897406"/>
                </a:lnTo>
                <a:cubicBezTo>
                  <a:pt x="1823317" y="988593"/>
                  <a:pt x="1765919" y="1072034"/>
                  <a:pt x="1657751" y="1076892"/>
                </a:cubicBezTo>
                <a:cubicBezTo>
                  <a:pt x="1446867" y="1089314"/>
                  <a:pt x="1378918" y="1076130"/>
                  <a:pt x="1202711" y="1076892"/>
                </a:cubicBezTo>
                <a:cubicBezTo>
                  <a:pt x="1026504" y="1077654"/>
                  <a:pt x="923442" y="1088828"/>
                  <a:pt x="765515" y="1076892"/>
                </a:cubicBezTo>
                <a:cubicBezTo>
                  <a:pt x="595809" y="1204093"/>
                  <a:pt x="544045" y="1266652"/>
                  <a:pt x="343049" y="1382514"/>
                </a:cubicBezTo>
                <a:cubicBezTo>
                  <a:pt x="323250" y="1290206"/>
                  <a:pt x="334933" y="1217724"/>
                  <a:pt x="306206" y="1076892"/>
                </a:cubicBezTo>
                <a:cubicBezTo>
                  <a:pt x="265169" y="1073619"/>
                  <a:pt x="241654" y="1075628"/>
                  <a:pt x="179486" y="1076892"/>
                </a:cubicBezTo>
                <a:cubicBezTo>
                  <a:pt x="85493" y="1067301"/>
                  <a:pt x="5291" y="996210"/>
                  <a:pt x="0" y="897406"/>
                </a:cubicBezTo>
                <a:lnTo>
                  <a:pt x="0" y="897410"/>
                </a:lnTo>
                <a:cubicBezTo>
                  <a:pt x="6724" y="775155"/>
                  <a:pt x="-7924" y="740552"/>
                  <a:pt x="0" y="628187"/>
                </a:cubicBezTo>
                <a:lnTo>
                  <a:pt x="0" y="628187"/>
                </a:lnTo>
                <a:cubicBezTo>
                  <a:pt x="-19033" y="493300"/>
                  <a:pt x="-1594" y="400584"/>
                  <a:pt x="0" y="179486"/>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prstGeom prst="wedgeRoundRectCallout">
                    <a:avLst>
                      <a:gd name="adj1" fmla="val -31328"/>
                      <a:gd name="adj2" fmla="val 78380"/>
                      <a:gd name="adj3" fmla="val 16667"/>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latin typeface="Pangolin" panose="00000500000000000000" pitchFamily="2" charset="0"/>
              </a:rPr>
              <a:t>Nun könnten wir dieses Szenario, das richtige Essen zum richtigen Kunden zu bringen, nehmen und versuchen, einen mathematischen Ansatz für dieses "Problem" zu finden.</a:t>
            </a:r>
          </a:p>
        </p:txBody>
      </p:sp>
      <p:sp>
        <p:nvSpPr>
          <p:cNvPr id="34" name="Textfeld 33">
            <a:extLst>
              <a:ext uri="{FF2B5EF4-FFF2-40B4-BE49-F238E27FC236}">
                <a16:creationId xmlns:a16="http://schemas.microsoft.com/office/drawing/2014/main" id="{7D31D6E0-FA84-4BF7-8596-48C1293642A5}"/>
              </a:ext>
            </a:extLst>
          </p:cNvPr>
          <p:cNvSpPr txBox="1"/>
          <p:nvPr/>
        </p:nvSpPr>
        <p:spPr>
          <a:xfrm>
            <a:off x="2428467" y="6844331"/>
            <a:ext cx="2001066" cy="400110"/>
          </a:xfrm>
          <a:prstGeom prst="rect">
            <a:avLst/>
          </a:prstGeom>
          <a:noFill/>
        </p:spPr>
        <p:txBody>
          <a:bodyPr wrap="square">
            <a:spAutoFit/>
          </a:bodyPr>
          <a:lstStyle/>
          <a:p>
            <a:pPr algn="ctr"/>
            <a:r>
              <a:rPr lang="de-DE" sz="1000" dirty="0">
                <a:latin typeface="Pangolin" panose="00000500000000000000" pitchFamily="2" charset="0"/>
              </a:rPr>
              <a:t>Wir haben drei Gäste und drei Gerichte.</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8F21897-5AAA-47E6-8150-1D0699452F70}"/>
              </a:ext>
            </a:extLst>
          </p:cNvPr>
          <p:cNvSpPr txBox="1"/>
          <p:nvPr/>
        </p:nvSpPr>
        <p:spPr>
          <a:xfrm>
            <a:off x="2426241" y="9103566"/>
            <a:ext cx="2001066" cy="553998"/>
          </a:xfrm>
          <a:prstGeom prst="rect">
            <a:avLst/>
          </a:prstGeom>
          <a:noFill/>
        </p:spPr>
        <p:txBody>
          <a:bodyPr wrap="square">
            <a:spAutoFit/>
          </a:bodyPr>
          <a:lstStyle/>
          <a:p>
            <a:pPr algn="ctr"/>
            <a:r>
              <a:rPr lang="de-DE" sz="1000" dirty="0">
                <a:latin typeface="Pangolin" panose="00000500000000000000" pitchFamily="2" charset="0"/>
              </a:rPr>
              <a:t>Das heißt wir haben neun verschiedene möglich Kombinationen.</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787224" y="6784941"/>
            <a:ext cx="2001066" cy="400110"/>
          </a:xfrm>
          <a:prstGeom prst="rect">
            <a:avLst/>
          </a:prstGeom>
          <a:noFill/>
        </p:spPr>
        <p:txBody>
          <a:bodyPr wrap="square">
            <a:spAutoFit/>
          </a:bodyPr>
          <a:lstStyle/>
          <a:p>
            <a:pPr algn="ctr"/>
            <a:r>
              <a:rPr lang="de-DE" sz="1000" dirty="0">
                <a:latin typeface="Pangolin" panose="00000500000000000000" pitchFamily="2" charset="0"/>
              </a:rPr>
              <a:t>Was passiert wenn wir eine Verbindung gefunden haben?</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a:spLocks noGrp="1"/>
          </p:cNvSpPr>
          <p:nvPr>
            <p:ph type="title" idx="4294967295"/>
          </p:nvPr>
        </p:nvSpPr>
        <p:spPr>
          <a:xfrm>
            <a:off x="4606516" y="9167066"/>
            <a:ext cx="2001066"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Wie viele Möglichkeiten bleiben  dann übrig?</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B42942D1-D67B-4EE3-B583-46158F493CC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26511"/>
            <a:ext cx="6857999" cy="9905384"/>
          </a:xfrm>
          <a:prstGeom prst="rect">
            <a:avLst/>
          </a:prstGeom>
        </p:spPr>
      </p:pic>
      <p:pic>
        <p:nvPicPr>
          <p:cNvPr id="39" name="Grafik 38">
            <a:extLst>
              <a:ext uri="{FF2B5EF4-FFF2-40B4-BE49-F238E27FC236}">
                <a16:creationId xmlns:a16="http://schemas.microsoft.com/office/drawing/2014/main" id="{B86FAD7B-2C6F-6251-4DCC-95CF1F025EC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6332" y="849871"/>
            <a:ext cx="2125336" cy="106552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254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240347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123F607-DE70-4AB6-A4AC-C797CE048C9D}"/>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8" name="Textfeld 27">
            <a:extLst>
              <a:ext uri="{FF2B5EF4-FFF2-40B4-BE49-F238E27FC236}">
                <a16:creationId xmlns:a16="http://schemas.microsoft.com/office/drawing/2014/main" id="{35F301C2-6C4B-4E54-A4C4-140129A3CB31}"/>
              </a:ext>
              <a:ext uri="{C183D7F6-B498-43B3-948B-1728B52AA6E4}">
                <adec:decorative xmlns:adec="http://schemas.microsoft.com/office/drawing/2017/decorative" val="1"/>
              </a:ext>
            </a:extLst>
          </p:cNvPr>
          <p:cNvSpPr txBox="1"/>
          <p:nvPr/>
        </p:nvSpPr>
        <p:spPr>
          <a:xfrm>
            <a:off x="2459137" y="7797002"/>
            <a:ext cx="581025" cy="276999"/>
          </a:xfrm>
          <a:prstGeom prst="rect">
            <a:avLst/>
          </a:prstGeom>
          <a:noFill/>
        </p:spPr>
        <p:txBody>
          <a:bodyPr wrap="square">
            <a:spAutoFit/>
          </a:bodyPr>
          <a:lstStyle/>
          <a:p>
            <a:pPr algn="ctr"/>
            <a:r>
              <a:rPr lang="en-US" sz="1200" dirty="0">
                <a:latin typeface="Pangolin" panose="00000500000000000000" pitchFamily="2" charset="0"/>
              </a:rPr>
              <a:t>Salat</a:t>
            </a:r>
            <a:endParaRPr lang="de-AT" sz="12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3452765A-BC87-4F5F-A8F4-9E439009F266}"/>
              </a:ext>
              <a:ext uri="{C183D7F6-B498-43B3-948B-1728B52AA6E4}">
                <adec:decorative xmlns:adec="http://schemas.microsoft.com/office/drawing/2017/decorative" val="1"/>
              </a:ext>
            </a:extLst>
          </p:cNvPr>
          <p:cNvSpPr txBox="1"/>
          <p:nvPr/>
        </p:nvSpPr>
        <p:spPr>
          <a:xfrm>
            <a:off x="3072015" y="7792138"/>
            <a:ext cx="581025" cy="276999"/>
          </a:xfrm>
          <a:prstGeom prst="rect">
            <a:avLst/>
          </a:prstGeom>
          <a:noFill/>
        </p:spPr>
        <p:txBody>
          <a:bodyPr wrap="square">
            <a:spAutoFit/>
          </a:bodyPr>
          <a:lstStyle/>
          <a:p>
            <a:pPr algn="ctr"/>
            <a:r>
              <a:rPr lang="en-US" sz="1200" dirty="0">
                <a:latin typeface="Pangolin" panose="00000500000000000000" pitchFamily="2" charset="0"/>
              </a:rPr>
              <a:t>Fisch</a:t>
            </a:r>
            <a:endParaRPr lang="de-AT" sz="1200"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FE98852C-ECBC-4A2E-8C78-8A86B11D2651}"/>
              </a:ext>
              <a:ext uri="{C183D7F6-B498-43B3-948B-1728B52AA6E4}">
                <adec:decorative xmlns:adec="http://schemas.microsoft.com/office/drawing/2017/decorative" val="1"/>
              </a:ext>
            </a:extLst>
          </p:cNvPr>
          <p:cNvSpPr txBox="1"/>
          <p:nvPr/>
        </p:nvSpPr>
        <p:spPr>
          <a:xfrm>
            <a:off x="3651250" y="7792138"/>
            <a:ext cx="822325" cy="276999"/>
          </a:xfrm>
          <a:prstGeom prst="rect">
            <a:avLst/>
          </a:prstGeom>
          <a:noFill/>
        </p:spPr>
        <p:txBody>
          <a:bodyPr wrap="square">
            <a:spAutoFit/>
          </a:bodyPr>
          <a:lstStyle/>
          <a:p>
            <a:pPr algn="ctr"/>
            <a:r>
              <a:rPr lang="en-US" sz="1200" dirty="0">
                <a:latin typeface="Pangolin" panose="00000500000000000000" pitchFamily="2" charset="0"/>
              </a:rPr>
              <a:t>Schnitzel</a:t>
            </a:r>
            <a:endParaRPr lang="de-AT" sz="12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4D6692C8-F446-44D7-B5F5-27CC517352A5}"/>
              </a:ext>
              <a:ext uri="{C183D7F6-B498-43B3-948B-1728B52AA6E4}">
                <adec:decorative xmlns:adec="http://schemas.microsoft.com/office/drawing/2017/decorative" val="1"/>
              </a:ext>
            </a:extLst>
          </p:cNvPr>
          <p:cNvSpPr txBox="1"/>
          <p:nvPr/>
        </p:nvSpPr>
        <p:spPr>
          <a:xfrm>
            <a:off x="2777448" y="9494352"/>
            <a:ext cx="1717675" cy="215444"/>
          </a:xfrm>
          <a:prstGeom prst="rect">
            <a:avLst/>
          </a:prstGeom>
          <a:noFill/>
        </p:spPr>
        <p:txBody>
          <a:bodyPr wrap="square">
            <a:spAutoFit/>
          </a:bodyPr>
          <a:lstStyle/>
          <a:p>
            <a:pPr algn="ctr"/>
            <a:r>
              <a:rPr lang="en-US" sz="800" dirty="0">
                <a:latin typeface="Pangolin" panose="00000500000000000000" pitchFamily="2" charset="0"/>
              </a:rPr>
              <a:t>Das </a:t>
            </a:r>
            <a:r>
              <a:rPr lang="en-US" sz="800" dirty="0" err="1">
                <a:latin typeface="Pangolin" panose="00000500000000000000" pitchFamily="2" charset="0"/>
              </a:rPr>
              <a:t>ist</a:t>
            </a:r>
            <a:r>
              <a:rPr lang="en-US" sz="800" dirty="0">
                <a:latin typeface="Pangolin" panose="00000500000000000000" pitchFamily="2" charset="0"/>
              </a:rPr>
              <a:t> das “</a:t>
            </a:r>
            <a:r>
              <a:rPr lang="en-US" sz="800" dirty="0" err="1">
                <a:latin typeface="Pangolin" panose="00000500000000000000" pitchFamily="2" charset="0"/>
              </a:rPr>
              <a:t>Mathe</a:t>
            </a:r>
            <a:r>
              <a:rPr lang="en-US" sz="800" dirty="0">
                <a:latin typeface="Pangolin" panose="00000500000000000000" pitchFamily="2" charset="0"/>
              </a:rPr>
              <a:t> Symbol” für OR</a:t>
            </a:r>
            <a:endParaRPr lang="de-AT" sz="8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3E02E20-DC1A-4BD8-8843-01A92DC2069C}"/>
              </a:ext>
              <a:ext uri="{C183D7F6-B498-43B3-948B-1728B52AA6E4}">
                <adec:decorative xmlns:adec="http://schemas.microsoft.com/office/drawing/2017/decorative" val="1"/>
              </a:ext>
            </a:extLst>
          </p:cNvPr>
          <p:cNvSpPr txBox="1"/>
          <p:nvPr/>
        </p:nvSpPr>
        <p:spPr>
          <a:xfrm>
            <a:off x="4804217" y="8822440"/>
            <a:ext cx="1781813" cy="215444"/>
          </a:xfrm>
          <a:prstGeom prst="rect">
            <a:avLst/>
          </a:prstGeom>
          <a:noFill/>
        </p:spPr>
        <p:txBody>
          <a:bodyPr wrap="square">
            <a:spAutoFit/>
          </a:bodyPr>
          <a:lstStyle/>
          <a:p>
            <a:pPr algn="ctr"/>
            <a:r>
              <a:rPr lang="en-US" sz="800" dirty="0">
                <a:latin typeface="Pangolin" panose="00000500000000000000" pitchFamily="2" charset="0"/>
              </a:rPr>
              <a:t>Das </a:t>
            </a:r>
            <a:r>
              <a:rPr lang="en-US" sz="800" dirty="0" err="1">
                <a:latin typeface="Pangolin" panose="00000500000000000000" pitchFamily="2" charset="0"/>
              </a:rPr>
              <a:t>ist</a:t>
            </a:r>
            <a:r>
              <a:rPr lang="en-US" sz="800" dirty="0">
                <a:latin typeface="Pangolin" panose="00000500000000000000" pitchFamily="2" charset="0"/>
              </a:rPr>
              <a:t> das “</a:t>
            </a:r>
            <a:r>
              <a:rPr lang="en-US" sz="800" dirty="0" err="1">
                <a:latin typeface="Pangolin" panose="00000500000000000000" pitchFamily="2" charset="0"/>
              </a:rPr>
              <a:t>Mathe</a:t>
            </a:r>
            <a:r>
              <a:rPr lang="en-US" sz="800" dirty="0">
                <a:latin typeface="Pangolin" panose="00000500000000000000" pitchFamily="2" charset="0"/>
              </a:rPr>
              <a:t> Symbol” für NOT</a:t>
            </a:r>
            <a:endParaRPr lang="de-AT" sz="8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8FD647CD-B233-45DE-88FC-7B235F56923F}"/>
              </a:ext>
              <a:ext uri="{C183D7F6-B498-43B3-948B-1728B52AA6E4}">
                <adec:decorative xmlns:adec="http://schemas.microsoft.com/office/drawing/2017/decorative" val="1"/>
              </a:ext>
            </a:extLst>
          </p:cNvPr>
          <p:cNvSpPr txBox="1"/>
          <p:nvPr/>
        </p:nvSpPr>
        <p:spPr>
          <a:xfrm>
            <a:off x="5013325" y="9407852"/>
            <a:ext cx="1544091" cy="215444"/>
          </a:xfrm>
          <a:prstGeom prst="rect">
            <a:avLst/>
          </a:prstGeom>
          <a:noFill/>
        </p:spPr>
        <p:txBody>
          <a:bodyPr wrap="square">
            <a:spAutoFit/>
          </a:bodyPr>
          <a:lstStyle/>
          <a:p>
            <a:pPr algn="ctr"/>
            <a:r>
              <a:rPr lang="en-US" sz="800" dirty="0">
                <a:latin typeface="Pangolin" panose="00000500000000000000" pitchFamily="2" charset="0"/>
              </a:rPr>
              <a:t>Und das </a:t>
            </a:r>
            <a:r>
              <a:rPr lang="en-US" sz="800" dirty="0" err="1">
                <a:latin typeface="Pangolin" panose="00000500000000000000" pitchFamily="2" charset="0"/>
              </a:rPr>
              <a:t>heißt</a:t>
            </a:r>
            <a:r>
              <a:rPr lang="en-US" sz="800" dirty="0">
                <a:latin typeface="Pangolin" panose="00000500000000000000" pitchFamily="2" charset="0"/>
              </a:rPr>
              <a:t> AND</a:t>
            </a:r>
            <a:endParaRPr lang="de-AT" sz="800" dirty="0">
              <a:solidFill>
                <a:schemeClr val="tx1"/>
              </a:solidFill>
              <a:latin typeface="Pangolin" panose="00000500000000000000" pitchFamily="2" charset="0"/>
            </a:endParaRPr>
          </a:p>
        </p:txBody>
      </p:sp>
      <p:sp>
        <p:nvSpPr>
          <p:cNvPr id="2" name="Rechteck 1">
            <a:extLst>
              <a:ext uri="{FF2B5EF4-FFF2-40B4-BE49-F238E27FC236}">
                <a16:creationId xmlns:a16="http://schemas.microsoft.com/office/drawing/2014/main" id="{7FCC2E15-1522-8884-CD9B-625052A97D15}"/>
              </a:ext>
              <a:ext uri="{C183D7F6-B498-43B3-948B-1728B52AA6E4}">
                <adec:decorative xmlns:adec="http://schemas.microsoft.com/office/drawing/2017/decorative" val="1"/>
              </a:ext>
            </a:extLst>
          </p:cNvPr>
          <p:cNvSpPr/>
          <p:nvPr/>
        </p:nvSpPr>
        <p:spPr>
          <a:xfrm rot="16200000">
            <a:off x="3384458" y="2433545"/>
            <a:ext cx="100450" cy="2185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7" name="Rechteck 36">
            <a:extLst>
              <a:ext uri="{FF2B5EF4-FFF2-40B4-BE49-F238E27FC236}">
                <a16:creationId xmlns:a16="http://schemas.microsoft.com/office/drawing/2014/main" id="{85A89FA2-E7B2-44F9-6DC5-5CAA9E84DBC8}"/>
              </a:ext>
              <a:ext uri="{C183D7F6-B498-43B3-948B-1728B52AA6E4}">
                <adec:decorative xmlns:adec="http://schemas.microsoft.com/office/drawing/2017/decorative" val="1"/>
              </a:ext>
            </a:extLst>
          </p:cNvPr>
          <p:cNvSpPr/>
          <p:nvPr/>
        </p:nvSpPr>
        <p:spPr>
          <a:xfrm rot="16200000">
            <a:off x="2222161" y="3209143"/>
            <a:ext cx="28834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25462"/>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38" name="Grafik 37">
            <a:extLst>
              <a:ext uri="{FF2B5EF4-FFF2-40B4-BE49-F238E27FC236}">
                <a16:creationId xmlns:a16="http://schemas.microsoft.com/office/drawing/2014/main" id="{01D25D9D-230A-2F32-79F6-AFF3077BD2F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7062" y="9167150"/>
            <a:ext cx="244521" cy="163940"/>
          </a:xfrm>
          <a:prstGeom prst="rect">
            <a:avLst/>
          </a:prstGeom>
        </p:spPr>
      </p:pic>
      <p:sp>
        <p:nvSpPr>
          <p:cNvPr id="40" name="Textfeld 49">
            <a:extLst>
              <a:ext uri="{FF2B5EF4-FFF2-40B4-BE49-F238E27FC236}">
                <a16:creationId xmlns:a16="http://schemas.microsoft.com/office/drawing/2014/main" id="{21FA7E29-3248-CE0C-765C-9B40E9E093F7}"/>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Mathematisches Denken</a:t>
            </a:r>
          </a:p>
        </p:txBody>
      </p:sp>
      <p:sp>
        <p:nvSpPr>
          <p:cNvPr id="12" name="Textfeld 11">
            <a:extLst>
              <a:ext uri="{FF2B5EF4-FFF2-40B4-BE49-F238E27FC236}">
                <a16:creationId xmlns:a16="http://schemas.microsoft.com/office/drawing/2014/main" id="{32370669-B1FA-4A62-883F-48DF8C3FF9DD}"/>
              </a:ext>
            </a:extLst>
          </p:cNvPr>
          <p:cNvSpPr txBox="1"/>
          <p:nvPr/>
        </p:nvSpPr>
        <p:spPr>
          <a:xfrm>
            <a:off x="262709" y="2717487"/>
            <a:ext cx="2001066" cy="707886"/>
          </a:xfrm>
          <a:prstGeom prst="rect">
            <a:avLst/>
          </a:prstGeom>
          <a:noFill/>
        </p:spPr>
        <p:txBody>
          <a:bodyPr wrap="square">
            <a:spAutoFit/>
          </a:bodyPr>
          <a:lstStyle/>
          <a:p>
            <a:pPr algn="ctr"/>
            <a:r>
              <a:rPr lang="de-DE" sz="1000" dirty="0">
                <a:latin typeface="Pangolin" panose="00000500000000000000" pitchFamily="2" charset="0"/>
              </a:rPr>
              <a:t>Sobald also eine Kombination feststeht, wird das Problem einfacher - es gibt somit nur noch vier Möglichkeiten.</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282621" y="544025"/>
            <a:ext cx="2298904" cy="1015663"/>
          </a:xfrm>
          <a:prstGeom prst="rect">
            <a:avLst/>
          </a:prstGeom>
          <a:noFill/>
        </p:spPr>
        <p:txBody>
          <a:bodyPr wrap="square">
            <a:spAutoFit/>
          </a:bodyPr>
          <a:lstStyle/>
          <a:p>
            <a:pPr algn="ctr"/>
            <a:r>
              <a:rPr lang="de-DE" sz="1000" dirty="0">
                <a:latin typeface="Pangolin" panose="00000500000000000000" pitchFamily="2" charset="0"/>
              </a:rPr>
              <a:t>Wir können dieses "Essen-zum-Kunden"-Problem auch mit mathematischen Begriffen beschreiben. Dieser Transformationsprozess wird "Abstraktion" genannt.</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81525" y="581025"/>
            <a:ext cx="2051050" cy="1169551"/>
          </a:xfrm>
          <a:prstGeom prst="rect">
            <a:avLst/>
          </a:prstGeom>
          <a:noFill/>
        </p:spPr>
        <p:txBody>
          <a:bodyPr wrap="square">
            <a:spAutoFit/>
          </a:bodyPr>
          <a:lstStyle/>
          <a:p>
            <a:pPr algn="ctr"/>
            <a:r>
              <a:rPr lang="de-DE" sz="1000" dirty="0">
                <a:latin typeface="Pangolin" panose="00000500000000000000" pitchFamily="2" charset="0"/>
              </a:rPr>
              <a:t>Durch die Abstraktion wird das Problem so beschrieben, dass es leicht - mathematisch - auf andere Fälle übertragen werden kann. Zum Beispiel kann die Mutter, die den Salat bekommt, auf folgende Weise abstrahiert werden:</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25017" y="3664294"/>
            <a:ext cx="2051050" cy="861774"/>
          </a:xfrm>
          <a:prstGeom prst="rect">
            <a:avLst/>
          </a:prstGeom>
          <a:noFill/>
        </p:spPr>
        <p:txBody>
          <a:bodyPr wrap="square">
            <a:spAutoFit/>
          </a:bodyPr>
          <a:lstStyle/>
          <a:p>
            <a:pPr algn="ctr"/>
            <a:r>
              <a:rPr lang="en-US" sz="1000" dirty="0">
                <a:latin typeface="Pangolin" panose="00000500000000000000" pitchFamily="2" charset="0"/>
              </a:rPr>
              <a:t>Das Essen, das die Mutter </a:t>
            </a:r>
            <a:r>
              <a:rPr lang="en-US" sz="1000" dirty="0" err="1">
                <a:latin typeface="Pangolin" panose="00000500000000000000" pitchFamily="2" charset="0"/>
              </a:rPr>
              <a:t>bekommt</a:t>
            </a:r>
            <a:r>
              <a:rPr lang="en-US" sz="1000" dirty="0">
                <a:latin typeface="Pangolin" panose="00000500000000000000" pitchFamily="2" charset="0"/>
              </a:rPr>
              <a:t> </a:t>
            </a:r>
            <a:r>
              <a:rPr lang="en-US" sz="1000" dirty="0" err="1">
                <a:latin typeface="Pangolin" panose="00000500000000000000" pitchFamily="2" charset="0"/>
              </a:rPr>
              <a:t>ist</a:t>
            </a:r>
            <a:r>
              <a:rPr lang="en-US" sz="1000" dirty="0">
                <a:latin typeface="Pangolin" panose="00000500000000000000" pitchFamily="2" charset="0"/>
              </a:rPr>
              <a:t>, </a:t>
            </a:r>
            <a:r>
              <a:rPr lang="en-US" sz="1000" dirty="0" err="1">
                <a:latin typeface="Pangolin" panose="00000500000000000000" pitchFamily="2" charset="0"/>
              </a:rPr>
              <a:t>steht</a:t>
            </a:r>
            <a:r>
              <a:rPr lang="en-US" sz="1000" dirty="0">
                <a:latin typeface="Pangolin" panose="00000500000000000000" pitchFamily="2" charset="0"/>
              </a:rPr>
              <a:t> in den </a:t>
            </a:r>
            <a:r>
              <a:rPr lang="en-US" sz="1000" dirty="0" err="1">
                <a:latin typeface="Pangolin" panose="00000500000000000000" pitchFamily="2" charset="0"/>
              </a:rPr>
              <a:t>Klammern</a:t>
            </a:r>
            <a:r>
              <a:rPr lang="en-US" sz="1000" dirty="0">
                <a:latin typeface="Pangolin" panose="00000500000000000000" pitchFamily="2" charset="0"/>
              </a:rPr>
              <a:t>. Da </a:t>
            </a:r>
            <a:r>
              <a:rPr lang="en-US" sz="1000" dirty="0" err="1">
                <a:latin typeface="Pangolin" panose="00000500000000000000" pitchFamily="2" charset="0"/>
              </a:rPr>
              <a:t>sie</a:t>
            </a:r>
            <a:r>
              <a:rPr lang="en-US" sz="1000" dirty="0">
                <a:latin typeface="Pangolin" panose="00000500000000000000" pitchFamily="2" charset="0"/>
              </a:rPr>
              <a:t> </a:t>
            </a:r>
            <a:r>
              <a:rPr lang="en-US" sz="1000" dirty="0" err="1">
                <a:latin typeface="Pangolin" panose="00000500000000000000" pitchFamily="2" charset="0"/>
              </a:rPr>
              <a:t>einen</a:t>
            </a:r>
            <a:r>
              <a:rPr lang="en-US" sz="1000" dirty="0">
                <a:latin typeface="Pangolin" panose="00000500000000000000" pitchFamily="2" charset="0"/>
              </a:rPr>
              <a:t> Salat </a:t>
            </a:r>
            <a:r>
              <a:rPr lang="en-US" sz="1000" dirty="0" err="1">
                <a:latin typeface="Pangolin" panose="00000500000000000000" pitchFamily="2" charset="0"/>
              </a:rPr>
              <a:t>bekommt</a:t>
            </a:r>
            <a:r>
              <a:rPr lang="en-US" sz="1000" dirty="0">
                <a:latin typeface="Pangolin" panose="00000500000000000000" pitchFamily="2" charset="0"/>
              </a:rPr>
              <a:t>, </a:t>
            </a:r>
            <a:r>
              <a:rPr lang="en-US" sz="1000" dirty="0" err="1">
                <a:latin typeface="Pangolin" panose="00000500000000000000" pitchFamily="2" charset="0"/>
              </a:rPr>
              <a:t>kürzen</a:t>
            </a:r>
            <a:r>
              <a:rPr lang="en-US" sz="1000" dirty="0">
                <a:latin typeface="Pangolin" panose="00000500000000000000" pitchFamily="2" charset="0"/>
              </a:rPr>
              <a:t> </a:t>
            </a:r>
            <a:r>
              <a:rPr lang="en-US" sz="1000" dirty="0" err="1">
                <a:latin typeface="Pangolin" panose="00000500000000000000" pitchFamily="2" charset="0"/>
              </a:rPr>
              <a:t>wir</a:t>
            </a:r>
            <a:r>
              <a:rPr lang="en-US" sz="1000" dirty="0">
                <a:latin typeface="Pangolin" panose="00000500000000000000" pitchFamily="2" charset="0"/>
              </a:rPr>
              <a:t> </a:t>
            </a:r>
            <a:r>
              <a:rPr lang="en-US" sz="1000" dirty="0" err="1">
                <a:latin typeface="Pangolin" panose="00000500000000000000" pitchFamily="2" charset="0"/>
              </a:rPr>
              <a:t>diesen</a:t>
            </a:r>
            <a:r>
              <a:rPr lang="en-US" sz="1000" dirty="0">
                <a:latin typeface="Pangolin" panose="00000500000000000000" pitchFamily="2" charset="0"/>
              </a:rPr>
              <a:t> </a:t>
            </a:r>
            <a:r>
              <a:rPr lang="en-US" sz="1000" dirty="0" err="1">
                <a:latin typeface="Pangolin" panose="00000500000000000000" pitchFamily="2" charset="0"/>
              </a:rPr>
              <a:t>mit</a:t>
            </a:r>
            <a:r>
              <a:rPr lang="en-US" sz="1000" dirty="0">
                <a:latin typeface="Pangolin" panose="00000500000000000000" pitchFamily="2" charset="0"/>
              </a:rPr>
              <a:t> </a:t>
            </a:r>
            <a:r>
              <a:rPr lang="en-US" sz="1000" dirty="0" err="1">
                <a:latin typeface="Pangolin" panose="00000500000000000000" pitchFamily="2" charset="0"/>
              </a:rPr>
              <a:t>einem</a:t>
            </a:r>
            <a:r>
              <a:rPr lang="en-US" sz="1000" dirty="0">
                <a:latin typeface="Pangolin" panose="00000500000000000000" pitchFamily="2" charset="0"/>
              </a:rPr>
              <a:t> “s” ab.</a:t>
            </a:r>
            <a:endParaRPr lang="de-AT" sz="1000" dirty="0">
              <a:solidFill>
                <a:schemeClr val="tx1"/>
              </a:solidFill>
              <a:latin typeface="Pangolin" panose="00000500000000000000" pitchFamily="2" charset="0"/>
            </a:endParaRPr>
          </a:p>
        </p:txBody>
      </p:sp>
      <p:sp>
        <p:nvSpPr>
          <p:cNvPr id="16" name="Textfeld 15">
            <a:extLst>
              <a:ext uri="{FF2B5EF4-FFF2-40B4-BE49-F238E27FC236}">
                <a16:creationId xmlns:a16="http://schemas.microsoft.com/office/drawing/2014/main" id="{BEE8BB84-D3D2-4AB0-8F0A-3EC00DCEC7F9}"/>
              </a:ext>
            </a:extLst>
          </p:cNvPr>
          <p:cNvSpPr txBox="1"/>
          <p:nvPr/>
        </p:nvSpPr>
        <p:spPr>
          <a:xfrm>
            <a:off x="237717" y="5922293"/>
            <a:ext cx="2051050" cy="553998"/>
          </a:xfrm>
          <a:prstGeom prst="rect">
            <a:avLst/>
          </a:prstGeom>
          <a:noFill/>
        </p:spPr>
        <p:txBody>
          <a:bodyPr wrap="square">
            <a:spAutoFit/>
          </a:bodyPr>
          <a:lstStyle/>
          <a:p>
            <a:pPr algn="ctr"/>
            <a:r>
              <a:rPr lang="en-US" sz="1000" dirty="0">
                <a:latin typeface="Pangolin" panose="00000500000000000000" pitchFamily="2" charset="0"/>
              </a:rPr>
              <a:t>M(s) </a:t>
            </a:r>
            <a:r>
              <a:rPr lang="de-DE" sz="1000" dirty="0">
                <a:latin typeface="Pangolin" panose="00000500000000000000" pitchFamily="2" charset="0"/>
              </a:rPr>
              <a:t>ist unsere mathematische Notation für den Satz "Den Salat bekommt die Mutter".</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389193" y="3698748"/>
            <a:ext cx="4221158" cy="246221"/>
          </a:xfrm>
          <a:prstGeom prst="rect">
            <a:avLst/>
          </a:prstGeom>
          <a:noFill/>
        </p:spPr>
        <p:txBody>
          <a:bodyPr wrap="square">
            <a:spAutoFit/>
          </a:bodyPr>
          <a:lstStyle/>
          <a:p>
            <a:pPr algn="ctr"/>
            <a:r>
              <a:rPr lang="en-US" sz="1000" dirty="0" err="1">
                <a:latin typeface="Pangolin" panose="00000500000000000000" pitchFamily="2" charset="0"/>
              </a:rPr>
              <a:t>Dasselbe</a:t>
            </a:r>
            <a:r>
              <a:rPr lang="en-US" sz="1000" dirty="0">
                <a:latin typeface="Pangolin" panose="00000500000000000000" pitchFamily="2" charset="0"/>
              </a:rPr>
              <a:t> </a:t>
            </a:r>
            <a:r>
              <a:rPr lang="en-US" sz="1000" dirty="0" err="1">
                <a:latin typeface="Pangolin" panose="00000500000000000000" pitchFamily="2" charset="0"/>
              </a:rPr>
              <a:t>wird</a:t>
            </a:r>
            <a:r>
              <a:rPr lang="en-US" sz="1000" dirty="0">
                <a:latin typeface="Pangolin" panose="00000500000000000000" pitchFamily="2" charset="0"/>
              </a:rPr>
              <a:t> für die </a:t>
            </a:r>
            <a:r>
              <a:rPr lang="en-US" sz="1000" dirty="0" err="1">
                <a:latin typeface="Pangolin" panose="00000500000000000000" pitchFamily="2" charset="0"/>
              </a:rPr>
              <a:t>anderen</a:t>
            </a:r>
            <a:r>
              <a:rPr lang="de-DE" sz="1000" dirty="0">
                <a:latin typeface="Pangolin" panose="00000500000000000000" pitchFamily="2" charset="0"/>
              </a:rPr>
              <a:t> "Essen-zum-Kunden"-Probleme angewendet.</a:t>
            </a:r>
            <a:r>
              <a:rPr lang="en-US" sz="1000" dirty="0">
                <a:latin typeface="Pangolin" panose="00000500000000000000" pitchFamily="2" charset="0"/>
              </a:rPr>
              <a:t> </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3643312" y="4125648"/>
            <a:ext cx="2635249" cy="261610"/>
          </a:xfrm>
          <a:prstGeom prst="rect">
            <a:avLst/>
          </a:prstGeom>
          <a:noFill/>
        </p:spPr>
        <p:txBody>
          <a:bodyPr wrap="square">
            <a:spAutoFit/>
          </a:bodyPr>
          <a:lstStyle/>
          <a:p>
            <a:r>
              <a:rPr lang="en-US" sz="1100" dirty="0" err="1">
                <a:solidFill>
                  <a:schemeClr val="tx1"/>
                </a:solidFill>
                <a:latin typeface="Pangolin" panose="00000500000000000000" pitchFamily="2" charset="0"/>
              </a:rPr>
              <a:t>heißt</a:t>
            </a:r>
            <a:r>
              <a:rPr lang="en-US" sz="1100" dirty="0">
                <a:solidFill>
                  <a:schemeClr val="tx1"/>
                </a:solidFill>
                <a:latin typeface="Pangolin" panose="00000500000000000000" pitchFamily="2" charset="0"/>
              </a:rPr>
              <a:t> “</a:t>
            </a:r>
            <a:r>
              <a:rPr lang="de-DE" sz="1100" dirty="0">
                <a:latin typeface="Pangolin" panose="00000500000000000000" pitchFamily="2" charset="0"/>
              </a:rPr>
              <a:t>Den Salat bekommt die Mutter</a:t>
            </a:r>
            <a:r>
              <a:rPr lang="en-US" sz="1100" dirty="0">
                <a:solidFill>
                  <a:schemeClr val="tx1"/>
                </a:solidFill>
                <a:latin typeface="Pangolin" panose="00000500000000000000" pitchFamily="2" charset="0"/>
              </a:rPr>
              <a:t>”.</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3643311" y="4470393"/>
            <a:ext cx="2635249" cy="261610"/>
          </a:xfrm>
          <a:prstGeom prst="rect">
            <a:avLst/>
          </a:prstGeom>
          <a:noFill/>
        </p:spPr>
        <p:txBody>
          <a:bodyPr wrap="square">
            <a:spAutoFit/>
          </a:bodyPr>
          <a:lstStyle/>
          <a:p>
            <a:r>
              <a:rPr lang="en-US" sz="1100" dirty="0" err="1">
                <a:latin typeface="Pangolin" panose="00000500000000000000" pitchFamily="2" charset="0"/>
              </a:rPr>
              <a:t>heißt</a:t>
            </a:r>
            <a:r>
              <a:rPr lang="en-US" sz="1100" dirty="0">
                <a:solidFill>
                  <a:schemeClr val="tx1"/>
                </a:solidFill>
                <a:latin typeface="Pangolin" panose="00000500000000000000" pitchFamily="2" charset="0"/>
              </a:rPr>
              <a:t> “</a:t>
            </a:r>
            <a:r>
              <a:rPr lang="de-DE" sz="1100" dirty="0">
                <a:latin typeface="Pangolin" panose="00000500000000000000" pitchFamily="2" charset="0"/>
              </a:rPr>
              <a:t>Den Fisch bekommt das Kind</a:t>
            </a:r>
            <a:r>
              <a:rPr lang="en-US" sz="1100" dirty="0">
                <a:solidFill>
                  <a:schemeClr val="tx1"/>
                </a:solidFill>
                <a:latin typeface="Pangolin" panose="00000500000000000000" pitchFamily="2" charset="0"/>
              </a:rPr>
              <a:t>”.</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3643310" y="4815138"/>
            <a:ext cx="2635249" cy="261610"/>
          </a:xfrm>
          <a:prstGeom prst="rect">
            <a:avLst/>
          </a:prstGeom>
          <a:noFill/>
        </p:spPr>
        <p:txBody>
          <a:bodyPr wrap="square">
            <a:spAutoFit/>
          </a:bodyPr>
          <a:lstStyle/>
          <a:p>
            <a:r>
              <a:rPr lang="en-US" sz="1100" dirty="0" err="1">
                <a:solidFill>
                  <a:schemeClr val="tx1"/>
                </a:solidFill>
                <a:latin typeface="Pangolin" panose="00000500000000000000" pitchFamily="2" charset="0"/>
              </a:rPr>
              <a:t>heißt</a:t>
            </a:r>
            <a:r>
              <a:rPr lang="en-US" sz="1100" dirty="0">
                <a:solidFill>
                  <a:schemeClr val="tx1"/>
                </a:solidFill>
                <a:latin typeface="Pangolin" panose="00000500000000000000" pitchFamily="2" charset="0"/>
              </a:rPr>
              <a:t> “</a:t>
            </a:r>
            <a:r>
              <a:rPr lang="de-DE" sz="1100" dirty="0">
                <a:latin typeface="Pangolin" panose="00000500000000000000" pitchFamily="2" charset="0"/>
              </a:rPr>
              <a:t>Das Schnitzel bekommt der Vater</a:t>
            </a:r>
            <a:r>
              <a:rPr lang="en-US" sz="1100" dirty="0">
                <a:solidFill>
                  <a:schemeClr val="tx1"/>
                </a:solidFill>
                <a:latin typeface="Pangolin" panose="00000500000000000000" pitchFamily="2" charset="0"/>
              </a:rPr>
              <a:t>”.</a:t>
            </a:r>
            <a:endParaRPr lang="de-AT" sz="11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48B3C406-0AE1-4C65-92B6-58BD53FAFEFE}"/>
              </a:ext>
            </a:extLst>
          </p:cNvPr>
          <p:cNvSpPr txBox="1"/>
          <p:nvPr/>
        </p:nvSpPr>
        <p:spPr>
          <a:xfrm>
            <a:off x="3429000" y="5396321"/>
            <a:ext cx="2921000" cy="400110"/>
          </a:xfrm>
          <a:prstGeom prst="rect">
            <a:avLst/>
          </a:prstGeom>
          <a:noFill/>
        </p:spPr>
        <p:txBody>
          <a:bodyPr wrap="square">
            <a:spAutoFit/>
          </a:bodyPr>
          <a:lstStyle/>
          <a:p>
            <a:r>
              <a:rPr lang="en-US" sz="1000" dirty="0">
                <a:latin typeface="Pangolin" panose="00000500000000000000" pitchFamily="2" charset="0"/>
              </a:rPr>
              <a:t>Falls der Salat das </a:t>
            </a:r>
            <a:r>
              <a:rPr lang="en-US" sz="1000" dirty="0" err="1">
                <a:latin typeface="Pangolin" panose="00000500000000000000" pitchFamily="2" charset="0"/>
              </a:rPr>
              <a:t>richtige</a:t>
            </a:r>
            <a:r>
              <a:rPr lang="en-US" sz="1000" dirty="0">
                <a:latin typeface="Pangolin" panose="00000500000000000000" pitchFamily="2" charset="0"/>
              </a:rPr>
              <a:t> Essen für die Mutter </a:t>
            </a:r>
            <a:r>
              <a:rPr lang="en-US" sz="1000" dirty="0" err="1">
                <a:latin typeface="Pangolin" panose="00000500000000000000" pitchFamily="2" charset="0"/>
              </a:rPr>
              <a:t>ist</a:t>
            </a:r>
            <a:r>
              <a:rPr lang="en-US" sz="1000" dirty="0">
                <a:latin typeface="Pangolin" panose="00000500000000000000" pitchFamily="2" charset="0"/>
              </a:rPr>
              <a:t>, </a:t>
            </a:r>
            <a:r>
              <a:rPr lang="en-US" sz="1000" dirty="0" err="1">
                <a:latin typeface="Pangolin" panose="00000500000000000000" pitchFamily="2" charset="0"/>
              </a:rPr>
              <a:t>schreiben</a:t>
            </a:r>
            <a:r>
              <a:rPr lang="en-US" sz="1000" dirty="0">
                <a:latin typeface="Pangolin" panose="00000500000000000000" pitchFamily="2" charset="0"/>
              </a:rPr>
              <a:t> </a:t>
            </a:r>
            <a:r>
              <a:rPr lang="en-US" sz="1000" dirty="0" err="1">
                <a:latin typeface="Pangolin" panose="00000500000000000000" pitchFamily="2" charset="0"/>
              </a:rPr>
              <a:t>wir</a:t>
            </a:r>
            <a:r>
              <a:rPr lang="en-US" sz="1000" dirty="0">
                <a:latin typeface="Pangolin" panose="00000500000000000000" pitchFamily="2" charset="0"/>
              </a:rPr>
              <a:t> das so:</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D3B8B63F-34D3-42BA-94E3-41D4ABEDB366}"/>
              </a:ext>
            </a:extLst>
          </p:cNvPr>
          <p:cNvSpPr txBox="1">
            <a:spLocks noGrp="1"/>
          </p:cNvSpPr>
          <p:nvPr>
            <p:ph type="title" idx="4294967295"/>
          </p:nvPr>
        </p:nvSpPr>
        <p:spPr>
          <a:xfrm>
            <a:off x="3429000" y="6190659"/>
            <a:ext cx="2921000"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Dies </a:t>
            </a:r>
            <a:r>
              <a:rPr kumimoji="0" lang="en-US" sz="1000" b="0" i="0"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beschreibt</a:t>
            </a:r>
            <a:r>
              <a:rPr kumimoji="0" lang="en-US" sz="1000" b="0" i="1"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einen</a:t>
            </a:r>
            <a:r>
              <a:rPr kumimoji="0" lang="en-US" sz="1000" b="0" i="1" u="none" strike="noStrike" kern="1200" cap="none" spc="0" normalizeH="0" baseline="0" noProof="0" dirty="0">
                <a:ln>
                  <a:noFill/>
                </a:ln>
                <a:solidFill>
                  <a:schemeClr val="tx1"/>
                </a:solidFill>
                <a:effectLst/>
                <a:uLnTx/>
                <a:uFillTx/>
                <a:latin typeface="Pangolin" panose="00000500000000000000" pitchFamily="2" charset="0"/>
                <a:ea typeface="+mn-ea"/>
                <a:cs typeface="+mn-cs"/>
              </a:rPr>
              <a:t> </a:t>
            </a:r>
            <a:r>
              <a:rPr kumimoji="0" lang="en-US" sz="1000" b="0" i="1" u="none" strike="noStrike" kern="1200" cap="none" spc="0" normalizeH="0" baseline="0" noProof="0" dirty="0" err="1">
                <a:ln>
                  <a:noFill/>
                </a:ln>
                <a:solidFill>
                  <a:schemeClr val="tx1"/>
                </a:solidFill>
                <a:effectLst/>
                <a:uLnTx/>
                <a:uFillTx/>
                <a:latin typeface="Pangolin" panose="00000500000000000000" pitchFamily="2" charset="0"/>
                <a:ea typeface="+mn-ea"/>
                <a:cs typeface="+mn-cs"/>
              </a:rPr>
              <a:t>Fakt</a:t>
            </a: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3" name="Textfeld 22">
            <a:extLst>
              <a:ext uri="{FF2B5EF4-FFF2-40B4-BE49-F238E27FC236}">
                <a16:creationId xmlns:a16="http://schemas.microsoft.com/office/drawing/2014/main" id="{3E4DDAC6-C113-4C1A-A97E-53515C709092}"/>
              </a:ext>
            </a:extLst>
          </p:cNvPr>
          <p:cNvSpPr txBox="1"/>
          <p:nvPr/>
        </p:nvSpPr>
        <p:spPr>
          <a:xfrm>
            <a:off x="231571" y="6883054"/>
            <a:ext cx="2051050" cy="553998"/>
          </a:xfrm>
          <a:prstGeom prst="rect">
            <a:avLst/>
          </a:prstGeom>
          <a:noFill/>
        </p:spPr>
        <p:txBody>
          <a:bodyPr wrap="square">
            <a:spAutoFit/>
          </a:bodyPr>
          <a:lstStyle/>
          <a:p>
            <a:pPr algn="ctr"/>
            <a:r>
              <a:rPr lang="en-US" sz="1000" dirty="0" err="1">
                <a:latin typeface="Pangolin" panose="00000500000000000000" pitchFamily="2" charset="0"/>
              </a:rPr>
              <a:t>Mathematiker</a:t>
            </a:r>
            <a:r>
              <a:rPr lang="en-US" sz="1000" dirty="0">
                <a:latin typeface="Pangolin" panose="00000500000000000000" pitchFamily="2" charset="0"/>
              </a:rPr>
              <a:t> </a:t>
            </a:r>
            <a:r>
              <a:rPr lang="en-US" sz="1000" dirty="0" err="1">
                <a:latin typeface="Pangolin" panose="00000500000000000000" pitchFamily="2" charset="0"/>
              </a:rPr>
              <a:t>wollen</a:t>
            </a:r>
            <a:r>
              <a:rPr lang="en-US" sz="1000" dirty="0">
                <a:latin typeface="Pangolin" panose="00000500000000000000" pitchFamily="2" charset="0"/>
              </a:rPr>
              <a:t> so </a:t>
            </a:r>
            <a:r>
              <a:rPr lang="en-US" sz="1000" dirty="0" err="1">
                <a:latin typeface="Pangolin" panose="00000500000000000000" pitchFamily="2" charset="0"/>
              </a:rPr>
              <a:t>wenig</a:t>
            </a:r>
            <a:r>
              <a:rPr lang="en-US" sz="1000" dirty="0">
                <a:latin typeface="Pangolin" panose="00000500000000000000" pitchFamily="2" charset="0"/>
              </a:rPr>
              <a:t> </a:t>
            </a:r>
            <a:r>
              <a:rPr lang="en-US" sz="1000" dirty="0" err="1">
                <a:latin typeface="Pangolin" panose="00000500000000000000" pitchFamily="2" charset="0"/>
              </a:rPr>
              <a:t>wie</a:t>
            </a:r>
            <a:r>
              <a:rPr lang="en-US" sz="1000" dirty="0">
                <a:latin typeface="Pangolin" panose="00000500000000000000" pitchFamily="2" charset="0"/>
              </a:rPr>
              <a:t> </a:t>
            </a:r>
            <a:r>
              <a:rPr lang="en-US" sz="1000" dirty="0" err="1">
                <a:latin typeface="Pangolin" panose="00000500000000000000" pitchFamily="2" charset="0"/>
              </a:rPr>
              <a:t>möglich</a:t>
            </a:r>
            <a:r>
              <a:rPr lang="en-US" sz="1000" dirty="0">
                <a:latin typeface="Pangolin" panose="00000500000000000000" pitchFamily="2" charset="0"/>
              </a:rPr>
              <a:t> </a:t>
            </a:r>
            <a:r>
              <a:rPr lang="en-US" sz="1000" dirty="0" err="1">
                <a:latin typeface="Pangolin" panose="00000500000000000000" pitchFamily="2" charset="0"/>
              </a:rPr>
              <a:t>schreiben</a:t>
            </a:r>
            <a:r>
              <a:rPr lang="en-US" sz="1000" dirty="0">
                <a:latin typeface="Pangolin" panose="00000500000000000000" pitchFamily="2" charset="0"/>
              </a:rPr>
              <a:t> und </a:t>
            </a:r>
            <a:r>
              <a:rPr lang="en-US" sz="1000" dirty="0" err="1">
                <a:latin typeface="Pangolin" panose="00000500000000000000" pitchFamily="2" charset="0"/>
              </a:rPr>
              <a:t>lieben</a:t>
            </a:r>
            <a:r>
              <a:rPr lang="en-US" sz="1000" dirty="0">
                <a:latin typeface="Pangolin" panose="00000500000000000000" pitchFamily="2" charset="0"/>
              </a:rPr>
              <a:t> </a:t>
            </a:r>
            <a:r>
              <a:rPr lang="en-US" sz="1000" dirty="0" err="1">
                <a:latin typeface="Pangolin" panose="00000500000000000000" pitchFamily="2" charset="0"/>
              </a:rPr>
              <a:t>Abkürzungen</a:t>
            </a:r>
            <a:r>
              <a:rPr lang="en-US" sz="1000" dirty="0">
                <a:latin typeface="Pangolin" panose="00000500000000000000" pitchFamily="2" charset="0"/>
              </a:rPr>
              <a:t>, also </a:t>
            </a:r>
            <a:r>
              <a:rPr lang="en-US" sz="1000" dirty="0" err="1">
                <a:latin typeface="Pangolin" panose="00000500000000000000" pitchFamily="2" charset="0"/>
              </a:rPr>
              <a:t>anstatt</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3F1A1DF7-28A2-4316-B049-D4D85C87E58F}"/>
              </a:ext>
            </a:extLst>
          </p:cNvPr>
          <p:cNvSpPr txBox="1"/>
          <p:nvPr/>
        </p:nvSpPr>
        <p:spPr>
          <a:xfrm>
            <a:off x="231571" y="7803983"/>
            <a:ext cx="2051050" cy="400110"/>
          </a:xfrm>
          <a:prstGeom prst="rect">
            <a:avLst/>
          </a:prstGeom>
          <a:noFill/>
        </p:spPr>
        <p:txBody>
          <a:bodyPr wrap="square">
            <a:spAutoFit/>
          </a:bodyPr>
          <a:lstStyle/>
          <a:p>
            <a:pPr algn="ctr"/>
            <a:r>
              <a:rPr lang="en-US" sz="1000" dirty="0" err="1">
                <a:latin typeface="Pangolin" panose="00000500000000000000" pitchFamily="2" charset="0"/>
              </a:rPr>
              <a:t>zu</a:t>
            </a:r>
            <a:r>
              <a:rPr lang="en-US" sz="1000" dirty="0">
                <a:latin typeface="Pangolin" panose="00000500000000000000" pitchFamily="2" charset="0"/>
              </a:rPr>
              <a:t> </a:t>
            </a:r>
            <a:r>
              <a:rPr lang="en-US" sz="1000" dirty="0" err="1">
                <a:latin typeface="Pangolin" panose="00000500000000000000" pitchFamily="2" charset="0"/>
              </a:rPr>
              <a:t>schreiben</a:t>
            </a:r>
            <a:r>
              <a:rPr lang="en-US" sz="1000" dirty="0">
                <a:latin typeface="Pangolin" panose="00000500000000000000" pitchFamily="2" charset="0"/>
              </a:rPr>
              <a:t>, </a:t>
            </a:r>
            <a:r>
              <a:rPr lang="en-US" sz="1000" dirty="0" err="1">
                <a:latin typeface="Pangolin" panose="00000500000000000000" pitchFamily="2" charset="0"/>
              </a:rPr>
              <a:t>können</a:t>
            </a:r>
            <a:r>
              <a:rPr lang="en-US" sz="1000" dirty="0">
                <a:latin typeface="Pangolin" panose="00000500000000000000" pitchFamily="2" charset="0"/>
              </a:rPr>
              <a:t> </a:t>
            </a:r>
            <a:r>
              <a:rPr lang="en-US" sz="1000" dirty="0" err="1">
                <a:latin typeface="Pangolin" panose="00000500000000000000" pitchFamily="2" charset="0"/>
              </a:rPr>
              <a:t>wir</a:t>
            </a:r>
            <a:r>
              <a:rPr lang="en-US" sz="1000" dirty="0">
                <a:latin typeface="Pangolin" panose="00000500000000000000" pitchFamily="2" charset="0"/>
              </a:rPr>
              <a:t> </a:t>
            </a:r>
            <a:r>
              <a:rPr lang="en-US" sz="1000" dirty="0" err="1">
                <a:latin typeface="Pangolin" panose="00000500000000000000" pitchFamily="2" charset="0"/>
              </a:rPr>
              <a:t>auch</a:t>
            </a:r>
            <a:r>
              <a:rPr lang="en-US" sz="1000" dirty="0">
                <a:latin typeface="Pangolin" panose="00000500000000000000" pitchFamily="2" charset="0"/>
              </a:rPr>
              <a:t> </a:t>
            </a:r>
          </a:p>
          <a:p>
            <a:pPr algn="ctr"/>
            <a:r>
              <a:rPr lang="en-US" sz="1000" dirty="0" err="1">
                <a:latin typeface="Pangolin" panose="00000500000000000000" pitchFamily="2" charset="0"/>
              </a:rPr>
              <a:t>stattdessen</a:t>
            </a:r>
            <a:r>
              <a:rPr lang="en-US" sz="1000" dirty="0">
                <a:latin typeface="Pangolin" panose="00000500000000000000" pitchFamily="2" charset="0"/>
              </a:rPr>
              <a:t> das </a:t>
            </a:r>
            <a:r>
              <a:rPr lang="en-US" sz="1000" dirty="0" err="1">
                <a:latin typeface="Pangolin" panose="00000500000000000000" pitchFamily="2" charset="0"/>
              </a:rPr>
              <a:t>schreiben</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1FC5C205-FAA3-449C-A8FD-C52109290EC9}"/>
              </a:ext>
            </a:extLst>
          </p:cNvPr>
          <p:cNvSpPr txBox="1"/>
          <p:nvPr/>
        </p:nvSpPr>
        <p:spPr>
          <a:xfrm>
            <a:off x="231571" y="8654089"/>
            <a:ext cx="2051050" cy="861774"/>
          </a:xfrm>
          <a:prstGeom prst="rect">
            <a:avLst/>
          </a:prstGeom>
          <a:noFill/>
        </p:spPr>
        <p:txBody>
          <a:bodyPr wrap="square">
            <a:spAutoFit/>
          </a:bodyPr>
          <a:lstStyle/>
          <a:p>
            <a:pPr algn="ctr"/>
            <a:r>
              <a:rPr lang="en-US" sz="1000" dirty="0">
                <a:latin typeface="Pangolin" panose="00000500000000000000" pitchFamily="2" charset="0"/>
              </a:rPr>
              <a:t>Oder x=true. Oder a=true. </a:t>
            </a:r>
          </a:p>
          <a:p>
            <a:pPr algn="ctr"/>
            <a:r>
              <a:rPr lang="en-US" sz="1000" dirty="0" err="1">
                <a:solidFill>
                  <a:schemeClr val="tx1"/>
                </a:solidFill>
                <a:latin typeface="Pangolin" panose="00000500000000000000" pitchFamily="2" charset="0"/>
              </a:rPr>
              <a:t>Im</a:t>
            </a:r>
            <a:r>
              <a:rPr lang="en-US" sz="1000" dirty="0">
                <a:solidFill>
                  <a:schemeClr val="tx1"/>
                </a:solidFill>
                <a:latin typeface="Pangolin" panose="00000500000000000000" pitchFamily="2" charset="0"/>
              </a:rPr>
              <a:t> </a:t>
            </a:r>
            <a:r>
              <a:rPr lang="en-US" sz="1000" dirty="0" err="1">
                <a:solidFill>
                  <a:schemeClr val="tx1"/>
                </a:solidFill>
                <a:latin typeface="Pangolin" panose="00000500000000000000" pitchFamily="2" charset="0"/>
              </a:rPr>
              <a:t>Grunde</a:t>
            </a:r>
            <a:r>
              <a:rPr lang="en-US" sz="1000" dirty="0">
                <a:solidFill>
                  <a:schemeClr val="tx1"/>
                </a:solidFill>
                <a:latin typeface="Pangolin" panose="00000500000000000000" pitchFamily="2" charset="0"/>
              </a:rPr>
              <a:t> </a:t>
            </a:r>
            <a:r>
              <a:rPr lang="en-US" sz="1000" dirty="0" err="1">
                <a:solidFill>
                  <a:schemeClr val="tx1"/>
                </a:solidFill>
                <a:latin typeface="Pangolin" panose="00000500000000000000" pitchFamily="2" charset="0"/>
              </a:rPr>
              <a:t>ist</a:t>
            </a:r>
            <a:r>
              <a:rPr lang="en-US" sz="1000" dirty="0">
                <a:solidFill>
                  <a:schemeClr val="tx1"/>
                </a:solidFill>
                <a:latin typeface="Pangolin" panose="00000500000000000000" pitchFamily="2" charset="0"/>
              </a:rPr>
              <a:t> </a:t>
            </a:r>
            <a:r>
              <a:rPr lang="en-US" sz="1000" dirty="0" err="1">
                <a:solidFill>
                  <a:schemeClr val="tx1"/>
                </a:solidFill>
                <a:latin typeface="Pangolin" panose="00000500000000000000" pitchFamily="2" charset="0"/>
              </a:rPr>
              <a:t>alles</a:t>
            </a:r>
            <a:r>
              <a:rPr lang="en-US" sz="1000" dirty="0">
                <a:solidFill>
                  <a:schemeClr val="tx1"/>
                </a:solidFill>
                <a:latin typeface="Pangolin" panose="00000500000000000000" pitchFamily="2" charset="0"/>
              </a:rPr>
              <a:t> </a:t>
            </a:r>
            <a:r>
              <a:rPr lang="en-US" sz="1000" dirty="0" err="1">
                <a:solidFill>
                  <a:schemeClr val="tx1"/>
                </a:solidFill>
                <a:latin typeface="Pangolin" panose="00000500000000000000" pitchFamily="2" charset="0"/>
              </a:rPr>
              <a:t>mögich</a:t>
            </a:r>
            <a:r>
              <a:rPr lang="en-US" sz="1000" dirty="0">
                <a:solidFill>
                  <a:schemeClr val="tx1"/>
                </a:solidFill>
                <a:latin typeface="Pangolin" panose="00000500000000000000" pitchFamily="2" charset="0"/>
              </a:rPr>
              <a:t>, man </a:t>
            </a:r>
            <a:r>
              <a:rPr lang="en-US" sz="1000" dirty="0" err="1">
                <a:solidFill>
                  <a:schemeClr val="tx1"/>
                </a:solidFill>
                <a:latin typeface="Pangolin" panose="00000500000000000000" pitchFamily="2" charset="0"/>
              </a:rPr>
              <a:t>könnte</a:t>
            </a:r>
            <a:r>
              <a:rPr lang="en-US" sz="1000" dirty="0">
                <a:solidFill>
                  <a:schemeClr val="tx1"/>
                </a:solidFill>
                <a:latin typeface="Pangolin" panose="00000500000000000000" pitchFamily="2" charset="0"/>
              </a:rPr>
              <a:t> </a:t>
            </a:r>
            <a:r>
              <a:rPr lang="en-US" sz="1000" dirty="0" err="1">
                <a:solidFill>
                  <a:schemeClr val="tx1"/>
                </a:solidFill>
                <a:latin typeface="Pangolin" panose="00000500000000000000" pitchFamily="2" charset="0"/>
              </a:rPr>
              <a:t>auch</a:t>
            </a:r>
            <a:r>
              <a:rPr lang="en-US" sz="1000" dirty="0">
                <a:solidFill>
                  <a:schemeClr val="tx1"/>
                </a:solidFill>
                <a:latin typeface="Pangolin" panose="00000500000000000000" pitchFamily="2" charset="0"/>
              </a:rPr>
              <a:t> </a:t>
            </a:r>
            <a:r>
              <a:rPr lang="en-US" sz="1000" dirty="0" err="1">
                <a:solidFill>
                  <a:schemeClr val="tx1"/>
                </a:solidFill>
                <a:latin typeface="Pangolin" panose="00000500000000000000" pitchFamily="2" charset="0"/>
              </a:rPr>
              <a:t>ein</a:t>
            </a:r>
            <a:r>
              <a:rPr lang="en-US" sz="1000" dirty="0">
                <a:solidFill>
                  <a:schemeClr val="tx1"/>
                </a:solidFill>
                <a:latin typeface="Pangolin" panose="00000500000000000000" pitchFamily="2" charset="0"/>
              </a:rPr>
              <a:t> Emoji </a:t>
            </a:r>
            <a:r>
              <a:rPr lang="en-US" sz="1000" dirty="0" err="1">
                <a:solidFill>
                  <a:schemeClr val="tx1"/>
                </a:solidFill>
                <a:latin typeface="Pangolin" panose="00000500000000000000" pitchFamily="2" charset="0"/>
              </a:rPr>
              <a:t>benutzen</a:t>
            </a:r>
            <a:r>
              <a:rPr lang="en-US" sz="1000" dirty="0">
                <a:solidFill>
                  <a:schemeClr val="tx1"/>
                </a:solidFill>
                <a:latin typeface="Pangolin" panose="00000500000000000000" pitchFamily="2" charset="0"/>
              </a:rPr>
              <a:t>. Es </a:t>
            </a:r>
            <a:r>
              <a:rPr lang="en-US" sz="1000" dirty="0" err="1">
                <a:solidFill>
                  <a:schemeClr val="tx1"/>
                </a:solidFill>
                <a:latin typeface="Pangolin" panose="00000500000000000000" pitchFamily="2" charset="0"/>
              </a:rPr>
              <a:t>ist</a:t>
            </a:r>
            <a:r>
              <a:rPr lang="en-US" sz="1000" dirty="0">
                <a:solidFill>
                  <a:schemeClr val="tx1"/>
                </a:solidFill>
                <a:latin typeface="Pangolin" panose="00000500000000000000" pitchFamily="2" charset="0"/>
              </a:rPr>
              <a:t> </a:t>
            </a:r>
            <a:r>
              <a:rPr lang="en-US" sz="1000" dirty="0" err="1">
                <a:solidFill>
                  <a:schemeClr val="tx1"/>
                </a:solidFill>
                <a:latin typeface="Pangolin" panose="00000500000000000000" pitchFamily="2" charset="0"/>
              </a:rPr>
              <a:t>schließlich</a:t>
            </a:r>
            <a:r>
              <a:rPr lang="en-US" sz="1000" dirty="0">
                <a:solidFill>
                  <a:schemeClr val="tx1"/>
                </a:solidFill>
                <a:latin typeface="Pangolin" panose="00000500000000000000" pitchFamily="2" charset="0"/>
              </a:rPr>
              <a:t> </a:t>
            </a:r>
            <a:r>
              <a:rPr lang="en-US" sz="1000" dirty="0" err="1">
                <a:solidFill>
                  <a:schemeClr val="tx1"/>
                </a:solidFill>
                <a:latin typeface="Pangolin" panose="00000500000000000000" pitchFamily="2" charset="0"/>
              </a:rPr>
              <a:t>nur</a:t>
            </a:r>
            <a:r>
              <a:rPr lang="en-US" sz="1000" dirty="0">
                <a:solidFill>
                  <a:schemeClr val="tx1"/>
                </a:solidFill>
                <a:latin typeface="Pangolin" panose="00000500000000000000" pitchFamily="2" charset="0"/>
              </a:rPr>
              <a:t> </a:t>
            </a:r>
            <a:r>
              <a:rPr lang="en-US" sz="1000" dirty="0" err="1">
                <a:solidFill>
                  <a:schemeClr val="tx1"/>
                </a:solidFill>
                <a:latin typeface="Pangolin" panose="00000500000000000000" pitchFamily="2" charset="0"/>
              </a:rPr>
              <a:t>eine</a:t>
            </a:r>
            <a:r>
              <a:rPr lang="en-US" sz="1000" dirty="0">
                <a:solidFill>
                  <a:schemeClr val="tx1"/>
                </a:solidFill>
                <a:latin typeface="Pangolin" panose="00000500000000000000" pitchFamily="2" charset="0"/>
              </a:rPr>
              <a:t> Variable, die den Wert </a:t>
            </a:r>
            <a:r>
              <a:rPr lang="en-US" sz="1000" dirty="0" err="1">
                <a:solidFill>
                  <a:schemeClr val="tx1"/>
                </a:solidFill>
                <a:latin typeface="Pangolin" panose="00000500000000000000" pitchFamily="2" charset="0"/>
              </a:rPr>
              <a:t>beschreibt</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80D18C-23CA-49E9-8A03-8E31A0BE3CC9}"/>
              </a:ext>
            </a:extLst>
          </p:cNvPr>
          <p:cNvSpPr txBox="1"/>
          <p:nvPr/>
        </p:nvSpPr>
        <p:spPr>
          <a:xfrm>
            <a:off x="2384425" y="6805287"/>
            <a:ext cx="2051050" cy="553998"/>
          </a:xfrm>
          <a:prstGeom prst="rect">
            <a:avLst/>
          </a:prstGeom>
          <a:noFill/>
        </p:spPr>
        <p:txBody>
          <a:bodyPr wrap="square">
            <a:spAutoFit/>
          </a:bodyPr>
          <a:lstStyle/>
          <a:p>
            <a:pPr algn="ctr"/>
            <a:r>
              <a:rPr lang="de-DE" sz="1000" dirty="0">
                <a:latin typeface="Pangolin" panose="00000500000000000000" pitchFamily="2" charset="0"/>
              </a:rPr>
              <a:t>Wir können alles, was der Kellner weiß, zunächst auf mathematische Weise beschreiben.</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40966AB-959B-4003-8750-39869662CED2}"/>
              </a:ext>
            </a:extLst>
          </p:cNvPr>
          <p:cNvSpPr txBox="1"/>
          <p:nvPr/>
        </p:nvSpPr>
        <p:spPr>
          <a:xfrm>
            <a:off x="2403475" y="7302855"/>
            <a:ext cx="2051050" cy="553998"/>
          </a:xfrm>
          <a:prstGeom prst="rect">
            <a:avLst/>
          </a:prstGeom>
          <a:noFill/>
        </p:spPr>
        <p:txBody>
          <a:bodyPr wrap="square">
            <a:spAutoFit/>
          </a:bodyPr>
          <a:lstStyle/>
          <a:p>
            <a:pPr algn="ctr"/>
            <a:r>
              <a:rPr lang="en-US" sz="1000" dirty="0" err="1">
                <a:latin typeface="Pangolin" panose="00000500000000000000" pitchFamily="2" charset="0"/>
              </a:rPr>
              <a:t>Wenn</a:t>
            </a:r>
            <a:r>
              <a:rPr lang="en-US" sz="1000" dirty="0">
                <a:latin typeface="Pangolin" panose="00000500000000000000" pitchFamily="2" charset="0"/>
              </a:rPr>
              <a:t> </a:t>
            </a:r>
            <a:r>
              <a:rPr lang="en-US" sz="1000" dirty="0" err="1">
                <a:latin typeface="Pangolin" panose="00000500000000000000" pitchFamily="2" charset="0"/>
              </a:rPr>
              <a:t>jedem</a:t>
            </a:r>
            <a:r>
              <a:rPr lang="en-US" sz="1000" dirty="0">
                <a:latin typeface="Pangolin" panose="00000500000000000000" pitchFamily="2" charset="0"/>
              </a:rPr>
              <a:t> Kunde </a:t>
            </a:r>
            <a:r>
              <a:rPr lang="en-US" sz="1000" dirty="0" err="1">
                <a:latin typeface="Pangolin" panose="00000500000000000000" pitchFamily="2" charset="0"/>
              </a:rPr>
              <a:t>ein</a:t>
            </a:r>
            <a:r>
              <a:rPr lang="en-US" sz="1000" dirty="0">
                <a:latin typeface="Pangolin" panose="00000500000000000000" pitchFamily="2" charset="0"/>
              </a:rPr>
              <a:t> Essen </a:t>
            </a:r>
            <a:r>
              <a:rPr lang="en-US" sz="1000" dirty="0" err="1">
                <a:latin typeface="Pangolin" panose="00000500000000000000" pitchFamily="2" charset="0"/>
              </a:rPr>
              <a:t>gehört</a:t>
            </a:r>
            <a:r>
              <a:rPr lang="en-US" sz="1000" dirty="0">
                <a:latin typeface="Pangolin" panose="00000500000000000000" pitchFamily="2" charset="0"/>
              </a:rPr>
              <a:t>, </a:t>
            </a:r>
            <a:r>
              <a:rPr lang="en-US" sz="1000" dirty="0" err="1">
                <a:latin typeface="Pangolin" panose="00000500000000000000" pitchFamily="2" charset="0"/>
              </a:rPr>
              <a:t>dann</a:t>
            </a:r>
            <a:r>
              <a:rPr lang="en-US" sz="1000" dirty="0">
                <a:latin typeface="Pangolin" panose="00000500000000000000" pitchFamily="2" charset="0"/>
              </a:rPr>
              <a:t> </a:t>
            </a:r>
            <a:r>
              <a:rPr lang="en-US" sz="1000" dirty="0" err="1">
                <a:latin typeface="Pangolin" panose="00000500000000000000" pitchFamily="2" charset="0"/>
              </a:rPr>
              <a:t>könnte</a:t>
            </a:r>
            <a:r>
              <a:rPr lang="en-US" sz="1000" dirty="0">
                <a:latin typeface="Pangolin" panose="00000500000000000000" pitchFamily="2" charset="0"/>
              </a:rPr>
              <a:t> die Mutter </a:t>
            </a:r>
            <a:r>
              <a:rPr lang="en-US" sz="1000" dirty="0" err="1">
                <a:latin typeface="Pangolin" panose="00000500000000000000" pitchFamily="2" charset="0"/>
              </a:rPr>
              <a:t>folgende</a:t>
            </a:r>
            <a:r>
              <a:rPr lang="en-US" sz="1000" dirty="0">
                <a:latin typeface="Pangolin" panose="00000500000000000000" pitchFamily="2" charset="0"/>
              </a:rPr>
              <a:t> </a:t>
            </a:r>
            <a:r>
              <a:rPr lang="en-US" sz="1000" dirty="0" err="1">
                <a:latin typeface="Pangolin" panose="00000500000000000000" pitchFamily="2" charset="0"/>
              </a:rPr>
              <a:t>bekommen</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8CD2E9CC-A9A8-4684-AAEA-4F06CFBFBCB9}"/>
              </a:ext>
            </a:extLst>
          </p:cNvPr>
          <p:cNvSpPr txBox="1"/>
          <p:nvPr/>
        </p:nvSpPr>
        <p:spPr>
          <a:xfrm>
            <a:off x="2384425" y="8654089"/>
            <a:ext cx="2051050" cy="400110"/>
          </a:xfrm>
          <a:prstGeom prst="rect">
            <a:avLst/>
          </a:prstGeom>
          <a:noFill/>
        </p:spPr>
        <p:txBody>
          <a:bodyPr wrap="square">
            <a:spAutoFit/>
          </a:bodyPr>
          <a:lstStyle/>
          <a:p>
            <a:pPr algn="ctr"/>
            <a:r>
              <a:rPr lang="en-US" sz="1000" dirty="0">
                <a:latin typeface="Pangolin" panose="00000500000000000000" pitchFamily="2" charset="0"/>
              </a:rPr>
              <a:t>Für </a:t>
            </a:r>
            <a:r>
              <a:rPr lang="en-US" sz="1000" dirty="0" err="1">
                <a:latin typeface="Pangolin" panose="00000500000000000000" pitchFamily="2" charset="0"/>
              </a:rPr>
              <a:t>eine</a:t>
            </a:r>
            <a:r>
              <a:rPr lang="en-US" sz="1000" dirty="0">
                <a:latin typeface="Pangolin" panose="00000500000000000000" pitchFamily="2" charset="0"/>
              </a:rPr>
              <a:t> </a:t>
            </a:r>
            <a:r>
              <a:rPr lang="en-US" sz="1000" dirty="0" err="1">
                <a:latin typeface="Pangolin" panose="00000500000000000000" pitchFamily="2" charset="0"/>
              </a:rPr>
              <a:t>mathematische</a:t>
            </a:r>
            <a:r>
              <a:rPr lang="en-US" sz="1000" dirty="0">
                <a:latin typeface="Pangolin" panose="00000500000000000000" pitchFamily="2" charset="0"/>
              </a:rPr>
              <a:t> Notation </a:t>
            </a:r>
            <a:r>
              <a:rPr lang="en-US" sz="1000" dirty="0" err="1">
                <a:latin typeface="Pangolin" panose="00000500000000000000" pitchFamily="2" charset="0"/>
              </a:rPr>
              <a:t>würden</a:t>
            </a:r>
            <a:r>
              <a:rPr lang="en-US" sz="1000" dirty="0">
                <a:latin typeface="Pangolin" panose="00000500000000000000" pitchFamily="2" charset="0"/>
              </a:rPr>
              <a:t> </a:t>
            </a:r>
            <a:r>
              <a:rPr lang="en-US" sz="1000" dirty="0" err="1">
                <a:latin typeface="Pangolin" panose="00000500000000000000" pitchFamily="2" charset="0"/>
              </a:rPr>
              <a:t>wir</a:t>
            </a:r>
            <a:r>
              <a:rPr lang="en-US" sz="1000" dirty="0">
                <a:latin typeface="Pangolin" panose="00000500000000000000" pitchFamily="2" charset="0"/>
              </a:rPr>
              <a:t> das so </a:t>
            </a:r>
            <a:r>
              <a:rPr lang="en-US" sz="1000" dirty="0" err="1">
                <a:latin typeface="Pangolin" panose="00000500000000000000" pitchFamily="2" charset="0"/>
              </a:rPr>
              <a:t>anschreiben</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02D2558D-A546-4B9A-B699-6F833DB4FCB4}"/>
              </a:ext>
            </a:extLst>
          </p:cNvPr>
          <p:cNvSpPr txBox="1"/>
          <p:nvPr/>
        </p:nvSpPr>
        <p:spPr>
          <a:xfrm>
            <a:off x="4581525" y="6700184"/>
            <a:ext cx="2051050" cy="861774"/>
          </a:xfrm>
          <a:prstGeom prst="rect">
            <a:avLst/>
          </a:prstGeom>
          <a:noFill/>
        </p:spPr>
        <p:txBody>
          <a:bodyPr wrap="square">
            <a:spAutoFit/>
          </a:bodyPr>
          <a:lstStyle/>
          <a:p>
            <a:pPr algn="ctr"/>
            <a:r>
              <a:rPr lang="de-DE" sz="1000" dirty="0">
                <a:latin typeface="Pangolin" panose="00000500000000000000" pitchFamily="2" charset="0"/>
              </a:rPr>
              <a:t>Nachdem der Kellner zwei richtige Gerichte geliefert hat, weiß er, dass der Vater weder den Salat noch den Fisch bekommen kann, da diese bereits auf dem Tisch stehen.</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36F85E33-BBCD-4F7A-8FA6-A89CDCBD5801}"/>
              </a:ext>
            </a:extLst>
          </p:cNvPr>
          <p:cNvSpPr txBox="1"/>
          <p:nvPr/>
        </p:nvSpPr>
        <p:spPr>
          <a:xfrm>
            <a:off x="4566230" y="8233659"/>
            <a:ext cx="2051050" cy="553998"/>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Das heißt, der Vater bekommt weder den Salat noch den Fisch, also bleibt nur das Schnitzel übrig.</a:t>
            </a:r>
            <a:endParaRPr lang="de-AT" sz="1000" dirty="0">
              <a:solidFill>
                <a:schemeClr val="tx1"/>
              </a:solidFill>
              <a:latin typeface="Pangolin" panose="00000500000000000000" pitchFamily="2" charset="0"/>
            </a:endParaRPr>
          </a:p>
        </p:txBody>
      </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9" name="Grafik 28">
            <a:extLst>
              <a:ext uri="{FF2B5EF4-FFF2-40B4-BE49-F238E27FC236}">
                <a16:creationId xmlns:a16="http://schemas.microsoft.com/office/drawing/2014/main" id="{374A380C-D98A-8814-B18D-1671AE8E6C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 y="615"/>
            <a:ext cx="6857999" cy="9905385"/>
          </a:xfrm>
          <a:prstGeom prst="rect">
            <a:avLst/>
          </a:prstGeom>
        </p:spPr>
      </p:pic>
      <p:pic>
        <p:nvPicPr>
          <p:cNvPr id="31" name="Grafik 30">
            <a:extLst>
              <a:ext uri="{FF2B5EF4-FFF2-40B4-BE49-F238E27FC236}">
                <a16:creationId xmlns:a16="http://schemas.microsoft.com/office/drawing/2014/main" id="{869CE862-9165-338E-CE96-9F123D77AB3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4" name="Rechteck 3">
            <a:extLst>
              <a:ext uri="{FF2B5EF4-FFF2-40B4-BE49-F238E27FC236}">
                <a16:creationId xmlns:a16="http://schemas.microsoft.com/office/drawing/2014/main" id="{18BF69B6-CC77-4407-9583-DAB155BEB2E8}"/>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2F2BAE84-6669-487D-9AFB-6B798F617EED}"/>
              </a:ext>
              <a:ext uri="{C183D7F6-B498-43B3-948B-1728B52AA6E4}">
                <adec:decorative xmlns:adec="http://schemas.microsoft.com/office/drawing/2017/decorative" val="1"/>
              </a:ext>
            </a:extLst>
          </p:cNvPr>
          <p:cNvSpPr/>
          <p:nvPr/>
        </p:nvSpPr>
        <p:spPr>
          <a:xfrm>
            <a:off x="2403475" y="3621088"/>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7C571028-DEB5-4A49-8D2B-222F52D8F4AA}"/>
              </a:ext>
              <a:ext uri="{C183D7F6-B498-43B3-948B-1728B52AA6E4}">
                <adec:decorative xmlns:adec="http://schemas.microsoft.com/office/drawing/2017/decorative" val="1"/>
              </a:ext>
            </a:extLst>
          </p:cNvPr>
          <p:cNvSpPr/>
          <p:nvPr/>
        </p:nvSpPr>
        <p:spPr>
          <a:xfrm>
            <a:off x="4581525"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04D2C42B-317B-4A88-BF61-7B3A3B5CD6CF}"/>
              </a:ext>
              <a:ext uri="{C183D7F6-B498-43B3-948B-1728B52AA6E4}">
                <adec:decorative xmlns:adec="http://schemas.microsoft.com/office/drawing/2017/decorative" val="1"/>
              </a:ext>
            </a:extLst>
          </p:cNvPr>
          <p:cNvSpPr/>
          <p:nvPr/>
        </p:nvSpPr>
        <p:spPr>
          <a:xfrm>
            <a:off x="225425" y="6718300"/>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pic>
        <p:nvPicPr>
          <p:cNvPr id="16" name="Grafik 15">
            <a:extLst>
              <a:ext uri="{FF2B5EF4-FFF2-40B4-BE49-F238E27FC236}">
                <a16:creationId xmlns:a16="http://schemas.microsoft.com/office/drawing/2014/main" id="{89D102F6-0BB4-47CD-9233-3C556C89C8F1}"/>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9063" y="7678838"/>
            <a:ext cx="209550" cy="246896"/>
          </a:xfrm>
          <a:prstGeom prst="rect">
            <a:avLst/>
          </a:prstGeom>
        </p:spPr>
      </p:pic>
      <p:pic>
        <p:nvPicPr>
          <p:cNvPr id="22" name="Grafik 21">
            <a:extLst>
              <a:ext uri="{FF2B5EF4-FFF2-40B4-BE49-F238E27FC236}">
                <a16:creationId xmlns:a16="http://schemas.microsoft.com/office/drawing/2014/main" id="{E7032948-9687-4D75-A4CA-4BE6746CB549}"/>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48906" y="687874"/>
            <a:ext cx="215990" cy="197990"/>
          </a:xfrm>
          <a:prstGeom prst="rect">
            <a:avLst/>
          </a:prstGeom>
        </p:spPr>
      </p:pic>
      <p:pic>
        <p:nvPicPr>
          <p:cNvPr id="23" name="Grafik 22">
            <a:extLst>
              <a:ext uri="{FF2B5EF4-FFF2-40B4-BE49-F238E27FC236}">
                <a16:creationId xmlns:a16="http://schemas.microsoft.com/office/drawing/2014/main" id="{710D30BE-E79C-4E59-BEC8-9F38CEDDE9A2}"/>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84685" y="1082929"/>
            <a:ext cx="215990" cy="197990"/>
          </a:xfrm>
          <a:prstGeom prst="rect">
            <a:avLst/>
          </a:prstGeom>
        </p:spPr>
      </p:pic>
      <p:pic>
        <p:nvPicPr>
          <p:cNvPr id="26" name="Grafik 25">
            <a:extLst>
              <a:ext uri="{FF2B5EF4-FFF2-40B4-BE49-F238E27FC236}">
                <a16:creationId xmlns:a16="http://schemas.microsoft.com/office/drawing/2014/main" id="{A0E1ACAB-FAE3-49DF-828D-33602DAB4CED}"/>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63489" y="3892996"/>
            <a:ext cx="178947" cy="164034"/>
          </a:xfrm>
          <a:prstGeom prst="rect">
            <a:avLst/>
          </a:prstGeom>
        </p:spPr>
      </p:pic>
      <p:sp>
        <p:nvSpPr>
          <p:cNvPr id="2" name="Textfeld 49">
            <a:extLst>
              <a:ext uri="{FF2B5EF4-FFF2-40B4-BE49-F238E27FC236}">
                <a16:creationId xmlns:a16="http://schemas.microsoft.com/office/drawing/2014/main" id="{D271B825-7AB1-A018-E1FC-9279ADBCE713}"/>
              </a:ext>
            </a:extLst>
          </p:cNvPr>
          <p:cNvSpPr txBox="1"/>
          <p:nvPr/>
        </p:nvSpPr>
        <p:spPr>
          <a:xfrm>
            <a:off x="114552" y="221488"/>
            <a:ext cx="2055144" cy="246221"/>
          </a:xfrm>
          <a:prstGeom prst="rect">
            <a:avLst/>
          </a:prstGeom>
          <a:noFill/>
        </p:spPr>
        <p:txBody>
          <a:bodyPr wrap="square" rtlCol="0">
            <a:spAutoFit/>
          </a:bodyPr>
          <a:lstStyle/>
          <a:p>
            <a:r>
              <a:rPr lang="de-DE" sz="1000" dirty="0">
                <a:latin typeface="Pangolin" panose="00000500000000000000" pitchFamily="2" charset="0"/>
              </a:rPr>
              <a:t>Mathematisches Denken</a:t>
            </a:r>
          </a:p>
        </p:txBody>
      </p:sp>
      <p:sp>
        <p:nvSpPr>
          <p:cNvPr id="18" name="Textfeld 17">
            <a:extLst>
              <a:ext uri="{FF2B5EF4-FFF2-40B4-BE49-F238E27FC236}">
                <a16:creationId xmlns:a16="http://schemas.microsoft.com/office/drawing/2014/main" id="{1A1AEC66-48A3-4E75-8540-E5458E8C506E}"/>
              </a:ext>
            </a:extLst>
          </p:cNvPr>
          <p:cNvSpPr txBox="1"/>
          <p:nvPr/>
        </p:nvSpPr>
        <p:spPr>
          <a:xfrm>
            <a:off x="300907" y="590886"/>
            <a:ext cx="1916890" cy="1015663"/>
          </a:xfrm>
          <a:prstGeom prst="rect">
            <a:avLst/>
          </a:prstGeom>
          <a:noFill/>
        </p:spPr>
        <p:txBody>
          <a:bodyPr wrap="square">
            <a:spAutoFit/>
          </a:bodyPr>
          <a:lstStyle/>
          <a:p>
            <a:pPr algn="ctr"/>
            <a:r>
              <a:rPr lang="de-DE" sz="1000" b="0" i="0" dirty="0">
                <a:effectLst/>
                <a:latin typeface="Pangolin" panose="00000500000000000000" pitchFamily="2" charset="0"/>
              </a:rPr>
              <a:t>Als Kellner könnte ich meine Leistung auch mathematisch bewerten. Im Grunde möchte ich überprüfen, wie viele Leute ihr Essen korrekt geliefert bekommen haben.</a:t>
            </a:r>
            <a:endParaRPr lang="de-AT" sz="1000" dirty="0">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372022" y="687874"/>
            <a:ext cx="2129018" cy="707886"/>
          </a:xfrm>
          <a:prstGeom prst="rect">
            <a:avLst/>
          </a:prstGeom>
          <a:noFill/>
        </p:spPr>
        <p:txBody>
          <a:bodyPr wrap="square">
            <a:spAutoFit/>
          </a:bodyPr>
          <a:lstStyle/>
          <a:p>
            <a:pPr algn="ctr"/>
            <a:r>
              <a:rPr lang="de-DE" sz="1000" b="0" i="0" dirty="0">
                <a:effectLst/>
                <a:latin typeface="Pangolin" panose="00000500000000000000" pitchFamily="2" charset="0"/>
              </a:rPr>
              <a:t>Wir können dies mit einer Art "Zuordnungsspiel" tun. Diese Tabelle zeigt alle möglichen Kombinationen von Kunde und Essen:</a:t>
            </a:r>
            <a:endParaRPr lang="de-AT" sz="1000" dirty="0">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571880" y="666734"/>
            <a:ext cx="2051050" cy="1236877"/>
          </a:xfrm>
          <a:prstGeom prst="rect">
            <a:avLst/>
          </a:prstGeom>
          <a:noFill/>
        </p:spPr>
        <p:txBody>
          <a:bodyPr wrap="square">
            <a:spAutoFit/>
          </a:bodyPr>
          <a:lstStyle/>
          <a:p>
            <a:pPr algn="ctr">
              <a:lnSpc>
                <a:spcPts val="1500"/>
              </a:lnSpc>
            </a:pPr>
            <a:r>
              <a:rPr lang="de-DE" sz="1000" dirty="0">
                <a:latin typeface="Pangolin" panose="00000500000000000000" pitchFamily="2" charset="0"/>
              </a:rPr>
              <a:t>...und wir haben drei Quadrate           ,   die wir in ein Feld einfügen können. Aber jedes           kann nur in einem Feld oder Spalte erscheinen, da jeder Kunde nur eines der drei Gerichte bekommen kann.</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7D6A16E5-9806-44E5-ADFB-CC665404A1F5}"/>
              </a:ext>
            </a:extLst>
          </p:cNvPr>
          <p:cNvSpPr txBox="1"/>
          <p:nvPr/>
        </p:nvSpPr>
        <p:spPr>
          <a:xfrm>
            <a:off x="263165" y="3735144"/>
            <a:ext cx="1992374" cy="1169551"/>
          </a:xfrm>
          <a:prstGeom prst="rect">
            <a:avLst/>
          </a:prstGeom>
          <a:noFill/>
        </p:spPr>
        <p:txBody>
          <a:bodyPr wrap="square">
            <a:spAutoFit/>
          </a:bodyPr>
          <a:lstStyle/>
          <a:p>
            <a:pPr algn="ctr"/>
            <a:r>
              <a:rPr lang="de-DE" sz="1000" dirty="0">
                <a:latin typeface="Pangolin" panose="00000500000000000000" pitchFamily="2" charset="0"/>
              </a:rPr>
              <a:t>In verschiedenen Fällen kann es sogar einige Einschränkungen geben - so genannte </a:t>
            </a:r>
            <a:r>
              <a:rPr lang="de-DE" sz="1000" dirty="0" err="1">
                <a:latin typeface="Pangolin" panose="00000500000000000000" pitchFamily="2" charset="0"/>
              </a:rPr>
              <a:t>Constrains</a:t>
            </a:r>
            <a:r>
              <a:rPr lang="de-DE" sz="1000" dirty="0">
                <a:latin typeface="Pangolin" panose="00000500000000000000" pitchFamily="2" charset="0"/>
              </a:rPr>
              <a:t>. Zum Beispiel darf ein Kind keinen Alkohol bekommen. In diesem Fall würde eines der Felder "blockiert" sein.</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EA2DEE02-A743-48AC-A52B-B894BDBC4624}"/>
              </a:ext>
            </a:extLst>
          </p:cNvPr>
          <p:cNvSpPr txBox="1"/>
          <p:nvPr/>
        </p:nvSpPr>
        <p:spPr>
          <a:xfrm>
            <a:off x="2985366" y="3709185"/>
            <a:ext cx="3567834" cy="707886"/>
          </a:xfrm>
          <a:prstGeom prst="rect">
            <a:avLst/>
          </a:prstGeom>
          <a:noFill/>
        </p:spPr>
        <p:txBody>
          <a:bodyPr wrap="square">
            <a:spAutoFit/>
          </a:bodyPr>
          <a:lstStyle/>
          <a:p>
            <a:pPr algn="ctr"/>
            <a:r>
              <a:rPr lang="de-DE" sz="1000" b="0" i="0" dirty="0">
                <a:effectLst/>
                <a:latin typeface="Pangolin" panose="00000500000000000000" pitchFamily="2" charset="0"/>
              </a:rPr>
              <a:t>Für jedes Essen und jeden Kunden prüfen wir, ob die Platzierung unseres        der Vorbedingung entspricht. Wenn ja, bekommen wir einen Punkt, wenn nicht, bekommen wir keinen. Und wenn wir alle 3 Punkte bekommen, haben wir gewonnen!</a:t>
            </a:r>
            <a:endParaRPr lang="de-AT" sz="1000" dirty="0">
              <a:latin typeface="Pangolin" panose="00000500000000000000" pitchFamily="2" charset="0"/>
            </a:endParaRPr>
          </a:p>
        </p:txBody>
      </p:sp>
      <p:sp>
        <p:nvSpPr>
          <p:cNvPr id="25" name="Textfeld 24">
            <a:extLst>
              <a:ext uri="{FF2B5EF4-FFF2-40B4-BE49-F238E27FC236}">
                <a16:creationId xmlns:a16="http://schemas.microsoft.com/office/drawing/2014/main" id="{488CBF92-B5A5-499F-B0F3-7771BAEA6C2E}"/>
              </a:ext>
            </a:extLst>
          </p:cNvPr>
          <p:cNvSpPr txBox="1"/>
          <p:nvPr/>
        </p:nvSpPr>
        <p:spPr>
          <a:xfrm>
            <a:off x="314325" y="6829202"/>
            <a:ext cx="4051300" cy="553998"/>
          </a:xfrm>
          <a:prstGeom prst="rect">
            <a:avLst/>
          </a:prstGeom>
          <a:noFill/>
        </p:spPr>
        <p:txBody>
          <a:bodyPr wrap="square">
            <a:spAutoFit/>
          </a:bodyPr>
          <a:lstStyle/>
          <a:p>
            <a:pPr algn="ctr"/>
            <a:r>
              <a:rPr lang="de-DE" sz="1000" dirty="0">
                <a:latin typeface="Pangolin" panose="00000500000000000000" pitchFamily="2" charset="0"/>
              </a:rPr>
              <a:t>Es könnte viele Lösungen für unser "Problem" geben, aber nur eine ist richtig. Die richtige Lösung wäre die Vorbedingung, und wir müssen bewerten, wie unsere Vermutung zu dieser Vorbedingung passt.</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E1ECB7B7-F29F-493A-BB38-7F8FC8A9A902}"/>
              </a:ext>
            </a:extLst>
          </p:cNvPr>
          <p:cNvSpPr txBox="1"/>
          <p:nvPr/>
        </p:nvSpPr>
        <p:spPr>
          <a:xfrm>
            <a:off x="4581525" y="6839500"/>
            <a:ext cx="2051050" cy="553998"/>
          </a:xfrm>
          <a:prstGeom prst="rect">
            <a:avLst/>
          </a:prstGeom>
          <a:noFill/>
        </p:spPr>
        <p:txBody>
          <a:bodyPr wrap="square">
            <a:spAutoFit/>
          </a:bodyPr>
          <a:lstStyle/>
          <a:p>
            <a:pPr algn="ctr"/>
            <a:r>
              <a:rPr lang="en-US" sz="1000" dirty="0">
                <a:latin typeface="Pangolin" panose="00000500000000000000" pitchFamily="2" charset="0"/>
              </a:rPr>
              <a:t>Oof, </a:t>
            </a:r>
            <a:r>
              <a:rPr lang="en-US" sz="1000" dirty="0" err="1">
                <a:latin typeface="Pangolin" panose="00000500000000000000" pitchFamily="2" charset="0"/>
              </a:rPr>
              <a:t>jetzt</a:t>
            </a:r>
            <a:r>
              <a:rPr lang="en-US" sz="1000" dirty="0">
                <a:latin typeface="Pangolin" panose="00000500000000000000" pitchFamily="2" charset="0"/>
              </a:rPr>
              <a:t> bin ich </a:t>
            </a:r>
            <a:r>
              <a:rPr lang="en-US" sz="1000" dirty="0" err="1">
                <a:latin typeface="Pangolin" panose="00000500000000000000" pitchFamily="2" charset="0"/>
              </a:rPr>
              <a:t>satt</a:t>
            </a:r>
            <a:r>
              <a:rPr lang="en-US" sz="1000" dirty="0">
                <a:latin typeface="Pangolin" panose="00000500000000000000" pitchFamily="2" charset="0"/>
              </a:rPr>
              <a:t>… </a:t>
            </a:r>
            <a:r>
              <a:rPr lang="en-US" sz="1000" dirty="0" err="1">
                <a:latin typeface="Pangolin" panose="00000500000000000000" pitchFamily="2" charset="0"/>
              </a:rPr>
              <a:t>aber</a:t>
            </a:r>
            <a:r>
              <a:rPr lang="en-US" sz="1000" dirty="0">
                <a:latin typeface="Pangolin" panose="00000500000000000000" pitchFamily="2" charset="0"/>
              </a:rPr>
              <a:t> hey, Ich </a:t>
            </a:r>
            <a:r>
              <a:rPr lang="en-US" sz="1000" dirty="0" err="1">
                <a:latin typeface="Pangolin" panose="00000500000000000000" pitchFamily="2" charset="0"/>
              </a:rPr>
              <a:t>habe</a:t>
            </a:r>
            <a:r>
              <a:rPr lang="en-US" sz="1000" dirty="0">
                <a:latin typeface="Pangolin" panose="00000500000000000000" pitchFamily="2" charset="0"/>
              </a:rPr>
              <a:t> </a:t>
            </a:r>
            <a:r>
              <a:rPr lang="en-US" sz="1000" dirty="0" err="1">
                <a:latin typeface="Pangolin" panose="00000500000000000000" pitchFamily="2" charset="0"/>
              </a:rPr>
              <a:t>jetzt</a:t>
            </a:r>
            <a:r>
              <a:rPr lang="en-US" sz="1000" dirty="0">
                <a:latin typeface="Pangolin" panose="00000500000000000000" pitchFamily="2" charset="0"/>
              </a:rPr>
              <a:t> </a:t>
            </a:r>
            <a:r>
              <a:rPr lang="en-US" sz="1000" dirty="0" err="1">
                <a:latin typeface="Pangolin" panose="00000500000000000000" pitchFamily="2" charset="0"/>
              </a:rPr>
              <a:t>meine</a:t>
            </a:r>
            <a:r>
              <a:rPr lang="en-US" sz="1000" dirty="0">
                <a:latin typeface="Pangolin" panose="00000500000000000000" pitchFamily="2" charset="0"/>
              </a:rPr>
              <a:t> </a:t>
            </a:r>
            <a:r>
              <a:rPr lang="en-US" sz="1000" dirty="0" err="1">
                <a:latin typeface="Pangolin" panose="00000500000000000000" pitchFamily="2" charset="0"/>
              </a:rPr>
              <a:t>Hausaufgabe</a:t>
            </a:r>
            <a:r>
              <a:rPr lang="en-US" sz="1000" dirty="0">
                <a:latin typeface="Pangolin" panose="00000500000000000000" pitchFamily="2" charset="0"/>
              </a:rPr>
              <a:t> </a:t>
            </a:r>
            <a:r>
              <a:rPr lang="en-US" sz="1000" dirty="0" err="1">
                <a:latin typeface="Pangolin" panose="00000500000000000000" pitchFamily="2" charset="0"/>
              </a:rPr>
              <a:t>verstanden</a:t>
            </a:r>
            <a:r>
              <a:rPr lang="en-US" sz="1000" dirty="0">
                <a:latin typeface="Pangolin" panose="00000500000000000000" pitchFamily="2" charset="0"/>
              </a:rPr>
              <a:t> und </a:t>
            </a:r>
            <a:r>
              <a:rPr lang="en-US" sz="1000" dirty="0" err="1">
                <a:latin typeface="Pangolin" panose="00000500000000000000" pitchFamily="2" charset="0"/>
              </a:rPr>
              <a:t>fertig</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2DAAE9F6-16BF-4F91-98F1-1C37AD2DC0A9}"/>
              </a:ext>
            </a:extLst>
          </p:cNvPr>
          <p:cNvSpPr txBox="1"/>
          <p:nvPr/>
        </p:nvSpPr>
        <p:spPr>
          <a:xfrm>
            <a:off x="5143500" y="7522085"/>
            <a:ext cx="1409700" cy="246221"/>
          </a:xfrm>
          <a:prstGeom prst="rect">
            <a:avLst/>
          </a:prstGeom>
          <a:noFill/>
        </p:spPr>
        <p:txBody>
          <a:bodyPr wrap="square">
            <a:spAutoFit/>
          </a:bodyPr>
          <a:lstStyle/>
          <a:p>
            <a:pPr algn="ctr"/>
            <a:r>
              <a:rPr lang="en-US" sz="1000" dirty="0">
                <a:latin typeface="Pangolin" panose="00000500000000000000" pitchFamily="2" charset="0"/>
              </a:rPr>
              <a:t>Also, </a:t>
            </a:r>
            <a:r>
              <a:rPr lang="en-US" sz="1000" dirty="0" err="1">
                <a:latin typeface="Pangolin" panose="00000500000000000000" pitchFamily="2" charset="0"/>
              </a:rPr>
              <a:t>heißt</a:t>
            </a:r>
            <a:r>
              <a:rPr lang="en-US" sz="1000" dirty="0">
                <a:latin typeface="Pangolin" panose="00000500000000000000" pitchFamily="2" charset="0"/>
              </a:rPr>
              <a:t> das </a:t>
            </a:r>
            <a:r>
              <a:rPr lang="en-US" sz="1000" dirty="0" err="1">
                <a:latin typeface="Pangolin" panose="00000500000000000000" pitchFamily="2" charset="0"/>
              </a:rPr>
              <a:t>jetzt</a:t>
            </a:r>
            <a:r>
              <a:rPr lang="en-US"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56D88109-B603-48E2-8692-411A6C1C9FAF}"/>
              </a:ext>
            </a:extLst>
          </p:cNvPr>
          <p:cNvSpPr txBox="1">
            <a:spLocks noGrp="1"/>
          </p:cNvSpPr>
          <p:nvPr>
            <p:ph type="title" idx="4294967295"/>
          </p:nvPr>
        </p:nvSpPr>
        <p:spPr>
          <a:xfrm>
            <a:off x="5262563" y="7696085"/>
            <a:ext cx="1409700" cy="24622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(Aufgabe) = true ?</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05F8B1-89AF-AA97-64B9-9325E09AB1E8}"/>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F2E8AC57-1062-322C-A4CA-18F211AA9576}"/>
              </a:ext>
            </a:extLst>
          </p:cNvPr>
          <p:cNvSpPr txBox="1">
            <a:spLocks noGrp="1"/>
          </p:cNvSpPr>
          <p:nvPr>
            <p:ph type="title" idx="4294967295"/>
          </p:nvPr>
        </p:nvSpPr>
        <p:spPr>
          <a:xfrm>
            <a:off x="599281" y="6653212"/>
            <a:ext cx="4860000" cy="2462213"/>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lvl="0" defTabSz="457200">
              <a:lnSpc>
                <a:spcPct val="100000"/>
              </a:lnSpc>
              <a:spcBef>
                <a:spcPts val="0"/>
              </a:spcBef>
              <a:defRPr/>
            </a:pPr>
            <a:r>
              <a:rPr lang="de-DE" sz="1100" b="1" dirty="0">
                <a:solidFill>
                  <a:srgbClr val="333333"/>
                </a:solidFill>
                <a:latin typeface="Segoe UI" panose="020B0502040204020203" pitchFamily="34" charset="0"/>
                <a:ea typeface="+mn-ea"/>
                <a:cs typeface="Segoe UI" panose="020B0502040204020203" pitchFamily="34" charset="0"/>
              </a:rPr>
              <a:t>Wie man dieses Dokument zitiert:</a:t>
            </a:r>
            <a:br>
              <a:rPr lang="de-DE" sz="1100" b="1" dirty="0">
                <a:solidFill>
                  <a:srgbClr val="333333"/>
                </a:solidFill>
                <a:latin typeface="Segoe UI" panose="020B0502040204020203" pitchFamily="34" charset="0"/>
                <a:ea typeface="+mn-ea"/>
                <a:cs typeface="Segoe UI" panose="020B0502040204020203" pitchFamily="34" charset="0"/>
              </a:rPr>
            </a:br>
            <a:br>
              <a:rPr lang="de-DE" sz="1100" dirty="0">
                <a:solidFill>
                  <a:srgbClr val="333333"/>
                </a:solidFill>
                <a:latin typeface="Segoe UI" panose="020B0502040204020203" pitchFamily="34" charset="0"/>
                <a:ea typeface="+mn-ea"/>
                <a:cs typeface="Segoe UI" panose="020B0502040204020203" pitchFamily="34" charset="0"/>
              </a:rPr>
            </a:br>
            <a:r>
              <a:rPr lang="en-US" sz="1100" i="1" dirty="0">
                <a:latin typeface="Segoe UI" panose="020B0502040204020203" pitchFamily="34" charset="0"/>
                <a:cs typeface="Segoe UI" panose="020B0502040204020203" pitchFamily="34" charset="0"/>
              </a:rPr>
              <a:t>Wu, H.-Y., Boucher, A., Boucher, M., Stoiber, C., &amp; De-Jesus-Oliveira, V.-A. (2025). </a:t>
            </a:r>
            <a:r>
              <a:rPr lang="en-US" sz="1100" i="1" dirty="0" err="1">
                <a:latin typeface="Segoe UI" panose="020B0502040204020203" pitchFamily="34" charset="0"/>
                <a:cs typeface="Segoe UI" panose="020B0502040204020203" pitchFamily="34" charset="0"/>
              </a:rPr>
              <a:t>Mathematisches</a:t>
            </a:r>
            <a:r>
              <a:rPr lang="en-US" sz="1100" i="1" dirty="0">
                <a:latin typeface="Segoe UI" panose="020B0502040204020203" pitchFamily="34" charset="0"/>
                <a:cs typeface="Segoe UI" panose="020B0502040204020203" pitchFamily="34" charset="0"/>
              </a:rPr>
              <a:t> Denken. University of Applied Sciences St. </a:t>
            </a:r>
            <a:r>
              <a:rPr lang="en-US" sz="1100" i="1" dirty="0" err="1">
                <a:latin typeface="Segoe UI" panose="020B0502040204020203" pitchFamily="34" charset="0"/>
                <a:cs typeface="Segoe UI" panose="020B0502040204020203" pitchFamily="34" charset="0"/>
              </a:rPr>
              <a:t>Pölten</a:t>
            </a:r>
            <a:r>
              <a:rPr lang="en-US" sz="1100" i="1" dirty="0">
                <a:latin typeface="Segoe UI" panose="020B0502040204020203" pitchFamily="34" charset="0"/>
                <a:cs typeface="Segoe UI" panose="020B0502040204020203" pitchFamily="34" charset="0"/>
              </a:rPr>
              <a:t> (USTP). https://www.comixplain.cc</a:t>
            </a:r>
            <a:br>
              <a:rPr lang="de-DE" sz="1100" dirty="0">
                <a:solidFill>
                  <a:srgbClr val="333333"/>
                </a:solidFill>
                <a:latin typeface="Segoe UI" panose="020B0502040204020203" pitchFamily="34" charset="0"/>
                <a:ea typeface="+mn-ea"/>
                <a:cs typeface="Segoe UI" panose="020B0502040204020203" pitchFamily="34" charset="0"/>
              </a:rPr>
            </a:br>
            <a:br>
              <a:rPr lang="de-DE" sz="1100" b="1" dirty="0">
                <a:solidFill>
                  <a:srgbClr val="333333"/>
                </a:solidFill>
                <a:latin typeface="Segoe UI" panose="020B0502040204020203" pitchFamily="34" charset="0"/>
                <a:ea typeface="+mn-ea"/>
                <a:cs typeface="Segoe UI" panose="020B0502040204020203" pitchFamily="34" charset="0"/>
              </a:rPr>
            </a:br>
            <a:r>
              <a:rPr lang="de-DE" sz="1100" b="1" dirty="0">
                <a:solidFill>
                  <a:srgbClr val="333333"/>
                </a:solidFill>
                <a:latin typeface="Segoe UI" panose="020B0502040204020203" pitchFamily="34" charset="0"/>
                <a:ea typeface="+mn-ea"/>
                <a:cs typeface="Segoe UI" panose="020B0502040204020203" pitchFamily="34" charset="0"/>
              </a:rPr>
              <a:t>Dieser Comic wurde adaptiert von:</a:t>
            </a:r>
            <a:br>
              <a:rPr lang="de-DE" sz="1100" dirty="0">
                <a:solidFill>
                  <a:srgbClr val="333333"/>
                </a:solidFill>
                <a:latin typeface="Segoe UI" panose="020B0502040204020203" pitchFamily="34" charset="0"/>
                <a:ea typeface="+mn-ea"/>
                <a:cs typeface="Segoe UI" panose="020B0502040204020203" pitchFamily="34" charset="0"/>
              </a:rPr>
            </a:br>
            <a:br>
              <a:rPr lang="de-DE" sz="1100" dirty="0">
                <a:solidFill>
                  <a:srgbClr val="333333"/>
                </a:solidFill>
                <a:latin typeface="Segoe UI" panose="020B0502040204020203" pitchFamily="34" charset="0"/>
                <a:ea typeface="+mn-ea"/>
                <a:cs typeface="Segoe UI" panose="020B0502040204020203" pitchFamily="34" charset="0"/>
              </a:rPr>
            </a:b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Mathematisches Denken © 2023 by Comixplain Team: Victor-Adriel De-Jesus-Oliveira, Hsiang-Yun Wu, Christina Stoiber, Magdalena Boucher, and Alena Ertl, with illustrations by Magdalena Boucher and Alena Ertl, all employed by Sankt Pölten University of Applied Sciences is licensed under CC BY-SA 4.0. To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view</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copy</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of</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this</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license</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a:t>
            </a:r>
            <a:r>
              <a:rPr kumimoji="0" lang="de-DE" sz="1100" b="0" i="0" u="none" strike="noStrike" kern="1200" cap="none" spc="0" normalizeH="0" baseline="0" noProof="0" dirty="0" err="1">
                <a:ln>
                  <a:noFill/>
                </a:ln>
                <a:solidFill>
                  <a:srgbClr val="333333"/>
                </a:solidFill>
                <a:effectLst/>
                <a:uLnTx/>
                <a:uFillTx/>
                <a:latin typeface="Segoe UI" panose="020B0502040204020203" pitchFamily="34" charset="0"/>
                <a:ea typeface="+mn-ea"/>
                <a:cs typeface="Segoe UI" panose="020B0502040204020203" pitchFamily="34" charset="0"/>
              </a:rPr>
              <a:t>visit</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 http://creativecommons.org/licenses/by-sa/4.0/</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2" name="Textfeld 1">
            <a:extLst>
              <a:ext uri="{FF2B5EF4-FFF2-40B4-BE49-F238E27FC236}">
                <a16:creationId xmlns:a16="http://schemas.microsoft.com/office/drawing/2014/main" id="{D59406A9-2370-E0E8-CE42-F617DCCCAF9E}"/>
              </a:ext>
            </a:extLst>
          </p:cNvPr>
          <p:cNvSpPr txBox="1"/>
          <p:nvPr/>
        </p:nvSpPr>
        <p:spPr>
          <a:xfrm>
            <a:off x="599280" y="790575"/>
            <a:ext cx="5778073" cy="1446550"/>
          </a:xfrm>
          <a:prstGeom prst="rect">
            <a:avLst/>
          </a:prstGeom>
          <a:noFill/>
        </p:spPr>
        <p:txBody>
          <a:bodyPr wrap="square" rtlCol="0">
            <a:spAutoFit/>
          </a:bodyPr>
          <a:lstStyle/>
          <a:p>
            <a:r>
              <a:rPr lang="de-AT" sz="1100" b="1" dirty="0">
                <a:latin typeface="Segoe UI" panose="020B0502040204020203" pitchFamily="34" charset="0"/>
                <a:cs typeface="Segoe UI" panose="020B0502040204020203" pitchFamily="34" charset="0"/>
              </a:rPr>
              <a:t>Quellen:</a:t>
            </a:r>
          </a:p>
          <a:p>
            <a:endParaRPr lang="de-AT" sz="1100" dirty="0">
              <a:latin typeface="Segoe UI" panose="020B0502040204020203" pitchFamily="34" charset="0"/>
              <a:cs typeface="Segoe UI" panose="020B0502040204020203" pitchFamily="34" charset="0"/>
            </a:endParaRPr>
          </a:p>
          <a:p>
            <a:endParaRPr lang="de-AT"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Ben-Ari, M. (2012). Mathematical logic for computer science. Springer Science &amp; Business Media.</a:t>
            </a:r>
          </a:p>
          <a:p>
            <a:endParaRPr lang="en-US" sz="1100" dirty="0">
              <a:latin typeface="Segoe UI" panose="020B0502040204020203" pitchFamily="34" charset="0"/>
              <a:cs typeface="Segoe UI" panose="020B0502040204020203" pitchFamily="34" charset="0"/>
            </a:endParaRPr>
          </a:p>
          <a:p>
            <a:r>
              <a:rPr lang="en-US" sz="1100" dirty="0">
                <a:latin typeface="Segoe UI" panose="020B0502040204020203" pitchFamily="34" charset="0"/>
                <a:cs typeface="Segoe UI" panose="020B0502040204020203" pitchFamily="34" charset="0"/>
              </a:rPr>
              <a:t>Devlin, K. J. (2012). Introduction to mathematical thinking (Vol. 331). Palo Alto, CA: Keith Devlin.</a:t>
            </a:r>
            <a:endParaRPr lang="de-AT" sz="1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6" ma:contentTypeDescription="Ein neues Dokument erstellen." ma:contentTypeScope="" ma:versionID="a5f25a2d2f3966261c4134713dfa4526">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3bd5b08873ef7f837dc9b940f7d80505"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Props1.xml><?xml version="1.0" encoding="utf-8"?>
<ds:datastoreItem xmlns:ds="http://schemas.openxmlformats.org/officeDocument/2006/customXml" ds:itemID="{3FCC31E8-FFFE-44F0-93B8-6A558955E9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6038F4-9D2E-44CB-8650-29FEE361B382}">
  <ds:schemaRefs>
    <ds:schemaRef ds:uri="http://schemas.microsoft.com/sharepoint/v3/contenttype/forms"/>
  </ds:schemaRefs>
</ds:datastoreItem>
</file>

<file path=customXml/itemProps3.xml><?xml version="1.0" encoding="utf-8"?>
<ds:datastoreItem xmlns:ds="http://schemas.openxmlformats.org/officeDocument/2006/customXml" ds:itemID="{84372B3F-CE2E-42EC-9979-028DA50166FC}">
  <ds:schemaRefs>
    <ds:schemaRef ds:uri="http://purl.org/dc/elements/1.1/"/>
    <ds:schemaRef ds:uri="da1b7603-f8b8-47c9-9682-dc6aa8e9acd7"/>
    <ds:schemaRef ds:uri="http://purl.org/dc/dcmitype/"/>
    <ds:schemaRef ds:uri="http://purl.org/dc/terms/"/>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94bcf745-830c-42f4-885c-a1d7342e6e3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17</TotalTime>
  <Words>1205</Words>
  <Application>Microsoft Office PowerPoint</Application>
  <PresentationFormat>A4 Paper (210x297 mm)</PresentationFormat>
  <Paragraphs>97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Pangolin</vt:lpstr>
      <vt:lpstr>Arial</vt:lpstr>
      <vt:lpstr>Segoe UI</vt:lpstr>
      <vt:lpstr>Calibri Light</vt:lpstr>
      <vt:lpstr>Calibri</vt:lpstr>
      <vt:lpstr>Office</vt:lpstr>
      <vt:lpstr>Mathematisches Denken</vt:lpstr>
      <vt:lpstr>PowerPoint Presentation</vt:lpstr>
      <vt:lpstr>Ein Wiener Schnitzel, bitte.</vt:lpstr>
      <vt:lpstr>Wie viele Möglichkeiten bleiben  dann übrig?</vt:lpstr>
      <vt:lpstr>Dies beschreibteinen Fakt.</vt:lpstr>
      <vt:lpstr>(Aufgabe) = true ?</vt:lpstr>
      <vt:lpstr>Wie man dieses Dokument zitiert:  Wu, H.-Y., Boucher, A., Boucher, M., Stoiber, C., &amp; De-Jesus-Oliveira, V.-A. (2025). Mathematisches Denken. University of Applied Sciences St. Pölten (USTP). https://www.comixplain.cc  Dieser Comic wurde adaptiert von:  Mathematisches Denken © 2023 by Comixplain Team: Victor-Adriel De-Jesus-Oliveira, Hsiang-Yun Wu, Christina Stoiber, Magdalena Boucher, and Alena Ertl, with illustrations by Magdalena Boucher and Alena Ertl, all employed by Sankt Pölten University of Applied Sciences is licensed under CC BY-SA 4.0. To view a copy of this license, visit http://creativecommons.org/licenses/by-sa/4.0/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Mathematisches Denken</dc:title>
  <dc:creator>Boucher Magdalena</dc:creator>
  <cp:lastModifiedBy>de-Jesus-Oliveira Victor-Adriel</cp:lastModifiedBy>
  <cp:revision>34</cp:revision>
  <dcterms:created xsi:type="dcterms:W3CDTF">2022-09-19T11:21:57Z</dcterms:created>
  <dcterms:modified xsi:type="dcterms:W3CDTF">2025-11-07T17:41:16Z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