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91E695-B05F-417A-85B3-0A7AE89AB754}" v="13" dt="2025-11-07T18:10:09.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74" d="100"/>
          <a:sy n="74" d="100"/>
        </p:scale>
        <p:origin x="3174"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8:08:59.163" v="34" actId="20577"/>
      <pc:docMkLst>
        <pc:docMk/>
      </pc:docMkLst>
      <pc:sldChg chg="addSp delSp modSp mod">
        <pc:chgData name="de-Jesus-Oliveira Victor-Adriel" userId="a708fc36-3c1b-42ab-b5e9-2e1fa3c6605e" providerId="ADAL" clId="{39AA12F0-CB51-4D67-A3A6-7C3EC2C345CA}" dt="2025-11-07T17:54:51.700" v="17"/>
        <pc:sldMkLst>
          <pc:docMk/>
          <pc:sldMk cId="4264380333" sldId="267"/>
        </pc:sldMkLst>
        <pc:spChg chg="mod">
          <ac:chgData name="de-Jesus-Oliveira Victor-Adriel" userId="a708fc36-3c1b-42ab-b5e9-2e1fa3c6605e" providerId="ADAL" clId="{39AA12F0-CB51-4D67-A3A6-7C3EC2C345CA}" dt="2025-11-07T17:53:28.768" v="13"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50:49.702" v="2" actId="478"/>
          <ac:spMkLst>
            <pc:docMk/>
            <pc:sldMk cId="4264380333" sldId="267"/>
            <ac:spMk id="3" creationId="{E8304AF5-3DCF-DCDF-0309-96D7F25F7A37}"/>
          </ac:spMkLst>
        </pc:spChg>
        <pc:spChg chg="add mod">
          <ac:chgData name="de-Jesus-Oliveira Victor-Adriel" userId="a708fc36-3c1b-42ab-b5e9-2e1fa3c6605e" providerId="ADAL" clId="{39AA12F0-CB51-4D67-A3A6-7C3EC2C345CA}" dt="2025-11-07T17:54:12.850" v="14"/>
          <ac:spMkLst>
            <pc:docMk/>
            <pc:sldMk cId="4264380333" sldId="267"/>
            <ac:spMk id="7" creationId="{59E27370-EA7C-D644-FBF2-3F652996A4B7}"/>
          </ac:spMkLst>
        </pc:spChg>
        <pc:spChg chg="add mod">
          <ac:chgData name="de-Jesus-Oliveira Victor-Adriel" userId="a708fc36-3c1b-42ab-b5e9-2e1fa3c6605e" providerId="ADAL" clId="{39AA12F0-CB51-4D67-A3A6-7C3EC2C345CA}" dt="2025-11-07T17:54:51.700" v="17"/>
          <ac:spMkLst>
            <pc:docMk/>
            <pc:sldMk cId="4264380333" sldId="267"/>
            <ac:spMk id="11" creationId="{E3158A96-5B89-0A82-07DD-F443775E3DAB}"/>
          </ac:spMkLst>
        </pc:spChg>
        <pc:grpChg chg="add mod">
          <ac:chgData name="de-Jesus-Oliveira Victor-Adriel" userId="a708fc36-3c1b-42ab-b5e9-2e1fa3c6605e" providerId="ADAL" clId="{39AA12F0-CB51-4D67-A3A6-7C3EC2C345CA}" dt="2025-11-07T17:54:12.850" v="14"/>
          <ac:grpSpMkLst>
            <pc:docMk/>
            <pc:sldMk cId="4264380333" sldId="267"/>
            <ac:grpSpMk id="8" creationId="{A52D1141-82D6-761A-E9D6-9DCE53944806}"/>
          </ac:grpSpMkLst>
        </pc:grpChg>
        <pc:grpChg chg="add mod">
          <ac:chgData name="de-Jesus-Oliveira Victor-Adriel" userId="a708fc36-3c1b-42ab-b5e9-2e1fa3c6605e" providerId="ADAL" clId="{39AA12F0-CB51-4D67-A3A6-7C3EC2C345CA}" dt="2025-11-07T17:54:12.850" v="14"/>
          <ac:grpSpMkLst>
            <pc:docMk/>
            <pc:sldMk cId="4264380333" sldId="267"/>
            <ac:grpSpMk id="12" creationId="{8F31AAED-A453-7149-3104-8E0D6FFA3B14}"/>
          </ac:grpSpMkLst>
        </pc:grpChg>
        <pc:picChg chg="del">
          <ac:chgData name="de-Jesus-Oliveira Victor-Adriel" userId="a708fc36-3c1b-42ab-b5e9-2e1fa3c6605e" providerId="ADAL" clId="{39AA12F0-CB51-4D67-A3A6-7C3EC2C345CA}" dt="2025-11-07T17:50:48.361"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50:48.870" v="1" actId="478"/>
          <ac:picMkLst>
            <pc:docMk/>
            <pc:sldMk cId="4264380333" sldId="267"/>
            <ac:picMk id="5" creationId="{D20419B1-EEF6-9474-0B8C-DF24A90F2A05}"/>
          </ac:picMkLst>
        </pc:picChg>
        <pc:picChg chg="add mod">
          <ac:chgData name="de-Jesus-Oliveira Victor-Adriel" userId="a708fc36-3c1b-42ab-b5e9-2e1fa3c6605e" providerId="ADAL" clId="{39AA12F0-CB51-4D67-A3A6-7C3EC2C345CA}" dt="2025-11-07T17:54:12.850" v="14"/>
          <ac:picMkLst>
            <pc:docMk/>
            <pc:sldMk cId="4264380333" sldId="267"/>
            <ac:picMk id="6" creationId="{21EBF7FC-D799-D9EB-0103-7D8D37272E0C}"/>
          </ac:picMkLst>
        </pc:picChg>
        <pc:picChg chg="mod">
          <ac:chgData name="de-Jesus-Oliveira Victor-Adriel" userId="a708fc36-3c1b-42ab-b5e9-2e1fa3c6605e" providerId="ADAL" clId="{39AA12F0-CB51-4D67-A3A6-7C3EC2C345CA}" dt="2025-11-07T17:54:12.850" v="14"/>
          <ac:picMkLst>
            <pc:docMk/>
            <pc:sldMk cId="4264380333" sldId="267"/>
            <ac:picMk id="9" creationId="{454DA55E-41A1-FADB-759B-E3CF2A04BC7D}"/>
          </ac:picMkLst>
        </pc:picChg>
        <pc:picChg chg="mod">
          <ac:chgData name="de-Jesus-Oliveira Victor-Adriel" userId="a708fc36-3c1b-42ab-b5e9-2e1fa3c6605e" providerId="ADAL" clId="{39AA12F0-CB51-4D67-A3A6-7C3EC2C345CA}" dt="2025-11-07T17:54:12.850" v="14"/>
          <ac:picMkLst>
            <pc:docMk/>
            <pc:sldMk cId="4264380333" sldId="267"/>
            <ac:picMk id="10" creationId="{4EF48750-4600-383A-2ABC-1E0E3C6D75C6}"/>
          </ac:picMkLst>
        </pc:picChg>
        <pc:picChg chg="mod">
          <ac:chgData name="de-Jesus-Oliveira Victor-Adriel" userId="a708fc36-3c1b-42ab-b5e9-2e1fa3c6605e" providerId="ADAL" clId="{39AA12F0-CB51-4D67-A3A6-7C3EC2C345CA}" dt="2025-11-07T17:54:12.850" v="14"/>
          <ac:picMkLst>
            <pc:docMk/>
            <pc:sldMk cId="4264380333" sldId="267"/>
            <ac:picMk id="13" creationId="{2E4CA0AA-BED4-7500-BA26-6540B24CCBBF}"/>
          </ac:picMkLst>
        </pc:picChg>
        <pc:picChg chg="mod">
          <ac:chgData name="de-Jesus-Oliveira Victor-Adriel" userId="a708fc36-3c1b-42ab-b5e9-2e1fa3c6605e" providerId="ADAL" clId="{39AA12F0-CB51-4D67-A3A6-7C3EC2C345CA}" dt="2025-11-07T17:54:12.850" v="14"/>
          <ac:picMkLst>
            <pc:docMk/>
            <pc:sldMk cId="4264380333" sldId="267"/>
            <ac:picMk id="14" creationId="{EF17056C-1492-B9E9-5EF6-6D4D2B5BE2AA}"/>
          </ac:picMkLst>
        </pc:picChg>
        <pc:picChg chg="mod">
          <ac:chgData name="de-Jesus-Oliveira Victor-Adriel" userId="a708fc36-3c1b-42ab-b5e9-2e1fa3c6605e" providerId="ADAL" clId="{39AA12F0-CB51-4D67-A3A6-7C3EC2C345CA}" dt="2025-11-07T17:54:12.850" v="14"/>
          <ac:picMkLst>
            <pc:docMk/>
            <pc:sldMk cId="4264380333" sldId="267"/>
            <ac:picMk id="15" creationId="{5E5DF5B1-2C2F-C181-BCDB-D97B1933F635}"/>
          </ac:picMkLst>
        </pc:picChg>
      </pc:sldChg>
      <pc:sldChg chg="addSp modSp mod">
        <pc:chgData name="de-Jesus-Oliveira Victor-Adriel" userId="a708fc36-3c1b-42ab-b5e9-2e1fa3c6605e" providerId="ADAL" clId="{39AA12F0-CB51-4D67-A3A6-7C3EC2C345CA}" dt="2025-11-07T18:08:59.163" v="34" actId="20577"/>
        <pc:sldMkLst>
          <pc:docMk/>
          <pc:sldMk cId="171183961" sldId="268"/>
        </pc:sldMkLst>
        <pc:spChg chg="mod">
          <ac:chgData name="de-Jesus-Oliveira Victor-Adriel" userId="a708fc36-3c1b-42ab-b5e9-2e1fa3c6605e" providerId="ADAL" clId="{39AA12F0-CB51-4D67-A3A6-7C3EC2C345CA}" dt="2025-11-07T18:08:59.163" v="34" actId="20577"/>
          <ac:spMkLst>
            <pc:docMk/>
            <pc:sldMk cId="171183961" sldId="268"/>
            <ac:spMk id="3" creationId="{6F30592E-2B59-53F6-00A7-302C7D36EEC3}"/>
          </ac:spMkLst>
        </pc:spChg>
        <pc:picChg chg="add mod ord">
          <ac:chgData name="de-Jesus-Oliveira Victor-Adriel" userId="a708fc36-3c1b-42ab-b5e9-2e1fa3c6605e" providerId="ADAL" clId="{39AA12F0-CB51-4D67-A3A6-7C3EC2C345CA}" dt="2025-11-07T18:01:56.753" v="19" actId="167"/>
          <ac:picMkLst>
            <pc:docMk/>
            <pc:sldMk cId="171183961" sldId="268"/>
            <ac:picMk id="4" creationId="{335D977D-23B8-A383-687E-EDCD87F48798}"/>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3" Type="http://schemas.openxmlformats.org/officeDocument/2006/relationships/image" Target="../media/image14.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8" Type="http://schemas.openxmlformats.org/officeDocument/2006/relationships/image" Target="../media/image120.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Tipos</a:t>
            </a:r>
            <a:r>
              <a:rPr lang="de-AT" sz="4800" dirty="0">
                <a:latin typeface="Pangolin" panose="00000500000000000000"/>
              </a:rPr>
              <a:t> de </a:t>
            </a:r>
            <a:r>
              <a:rPr lang="de-AT" sz="4800" dirty="0" err="1">
                <a:latin typeface="Pangolin" panose="00000500000000000000"/>
              </a:rPr>
              <a:t>Dados</a:t>
            </a:r>
            <a:r>
              <a:rPr lang="de-AT" sz="4800" dirty="0">
                <a:latin typeface="Pangolin" panose="00000500000000000000"/>
              </a:rPr>
              <a:t> Primitivos</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pt-BR" sz="1100" dirty="0">
                <a:latin typeface="Segoe UI" panose="020B0502040204020203" pitchFamily="34" charset="0"/>
                <a:cs typeface="Segoe UI" panose="020B0502040204020203" pitchFamily="34" charset="0"/>
              </a:rPr>
              <a:t>Este quadrinho foi criado como parte do projeto de pesquisa Comixplain, financiado pela Universidade de Ciências Aplicadas de St. Pölten (USTP) por meio do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Equipe: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 </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Ilustrações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21EBF7FC-D799-D9EB-0103-7D8D37272E0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59E27370-EA7C-D644-FBF2-3F652996A4B7}"/>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A52D1141-82D6-761A-E9D6-9DCE53944806}"/>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454DA55E-41A1-FADB-759B-E3CF2A04B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4EF48750-4600-383A-2ABC-1E0E3C6D75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E3158A96-5B89-0A82-07DD-F443775E3DAB}"/>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Tipos de Dados Primitivos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8F31AAED-A453-7149-3104-8E0D6FFA3B14}"/>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2E4CA0AA-BED4-7500-BA26-6540B24CCBBF}"/>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EF17056C-1492-B9E9-5EF6-6D4D2B5BE2AA}"/>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5E5DF5B1-2C2F-C181-BCDB-D97B1933F635}"/>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4FCEB005-E3D6-2D42-08C8-52ED256FC26E}"/>
              </a:ext>
            </a:extLst>
          </p:cNvPr>
          <p:cNvSpPr txBox="1"/>
          <p:nvPr/>
        </p:nvSpPr>
        <p:spPr>
          <a:xfrm>
            <a:off x="114552" y="221488"/>
            <a:ext cx="2055144" cy="246221"/>
          </a:xfrm>
          <a:prstGeom prst="rect">
            <a:avLst/>
          </a:prstGeom>
          <a:noFill/>
        </p:spPr>
        <p:txBody>
          <a:bodyPr wrap="square" rtlCol="0">
            <a:spAutoFit/>
          </a:bodyPr>
          <a:lstStyle/>
          <a:p>
            <a:r>
              <a:rPr lang="pt-BR" sz="1000" dirty="0">
                <a:latin typeface="Pangolin" panose="00000500000000000000" pitchFamily="2" charset="0"/>
              </a:rPr>
              <a:t>Tipos</a:t>
            </a:r>
            <a:r>
              <a:rPr lang="de-DE" sz="1000" dirty="0">
                <a:latin typeface="Pangolin" panose="00000500000000000000" pitchFamily="2" charset="0"/>
              </a:rPr>
              <a:t> de </a:t>
            </a:r>
            <a:r>
              <a:rPr lang="de-DE" sz="1000" dirty="0" err="1">
                <a:latin typeface="Pangolin" panose="00000500000000000000" pitchFamily="2" charset="0"/>
              </a:rPr>
              <a:t>Dados</a:t>
            </a:r>
            <a:r>
              <a:rPr lang="de-DE" sz="1000" dirty="0">
                <a:latin typeface="Pangolin" panose="00000500000000000000" pitchFamily="2" charset="0"/>
              </a:rPr>
              <a:t> Primitivos</a:t>
            </a: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662236" y="3694093"/>
            <a:ext cx="1479550"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pt-BR" sz="1000" dirty="0">
                <a:latin typeface="Pangolin" panose="00000500000000000000" pitchFamily="2" charset="0"/>
                <a:ea typeface="+mn-ea"/>
                <a:cs typeface="+mn-cs"/>
              </a:rPr>
              <a:t>Ah, você deve ser o novo contratado de quem o nosso gerente estava falando!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631029" y="3672520"/>
            <a:ext cx="1979041" cy="861774"/>
          </a:xfrm>
          <a:prstGeom prst="rect">
            <a:avLst/>
          </a:prstGeom>
          <a:noFill/>
        </p:spPr>
        <p:txBody>
          <a:bodyPr wrap="square">
            <a:spAutoFit/>
          </a:bodyPr>
          <a:lstStyle/>
          <a:p>
            <a:pPr algn="ctr"/>
            <a:r>
              <a:rPr lang="pt-BR" sz="1000" dirty="0">
                <a:latin typeface="Pangolin" panose="00000500000000000000" pitchFamily="2" charset="0"/>
              </a:rPr>
              <a:t>O que você quer dizer com </a:t>
            </a:r>
            <a:br>
              <a:rPr lang="pt-BR" sz="1000" dirty="0">
                <a:latin typeface="Pangolin" panose="00000500000000000000" pitchFamily="2" charset="0"/>
              </a:rPr>
            </a:br>
            <a:r>
              <a:rPr lang="pt-BR" sz="1000" dirty="0">
                <a:latin typeface="Pangolin" panose="00000500000000000000" pitchFamily="2" charset="0"/>
              </a:rPr>
              <a:t>“não sou eu”? Claro que é você! Aqui está o teu avental. Venha comigo e eu te mostrarei como as coisas funcionam por aqui.</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79292"/>
            <a:ext cx="1640607" cy="553998"/>
          </a:xfrm>
          <a:prstGeom prst="rect">
            <a:avLst/>
          </a:prstGeom>
          <a:noFill/>
        </p:spPr>
        <p:txBody>
          <a:bodyPr wrap="square">
            <a:spAutoFit/>
          </a:bodyPr>
          <a:lstStyle/>
          <a:p>
            <a:pPr algn="ctr"/>
            <a:r>
              <a:rPr lang="pt-BR" sz="1000" dirty="0">
                <a:latin typeface="Pangolin" panose="00000500000000000000" pitchFamily="2" charset="0"/>
              </a:rPr>
              <a:t>Seu trabalho é executar ordens do programa, uh, quero dizer, da cozinha...</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725062" y="6879292"/>
            <a:ext cx="1353898" cy="400110"/>
          </a:xfrm>
          <a:prstGeom prst="rect">
            <a:avLst/>
          </a:prstGeom>
          <a:noFill/>
        </p:spPr>
        <p:txBody>
          <a:bodyPr wrap="square">
            <a:spAutoFit/>
          </a:bodyPr>
          <a:lstStyle/>
          <a:p>
            <a:pPr algn="ctr"/>
            <a:r>
              <a:rPr lang="pt-BR" sz="1000" dirty="0">
                <a:latin typeface="Pangolin" panose="00000500000000000000" pitchFamily="2" charset="0"/>
              </a:rPr>
              <a:t>E colocar valores 
... digo, café...</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83465" y="6938684"/>
            <a:ext cx="1928370" cy="400110"/>
          </a:xfrm>
          <a:prstGeom prst="rect">
            <a:avLst/>
          </a:prstGeom>
          <a:noFill/>
        </p:spPr>
        <p:txBody>
          <a:bodyPr wrap="square">
            <a:spAutoFit/>
          </a:bodyPr>
          <a:lstStyle/>
          <a:p>
            <a:pPr algn="ctr"/>
            <a:r>
              <a:rPr lang="de-DE" sz="1000" dirty="0" err="1">
                <a:latin typeface="Pangolin" panose="00000500000000000000" pitchFamily="2" charset="0"/>
              </a:rPr>
              <a:t>Em</a:t>
            </a:r>
            <a:r>
              <a:rPr lang="de-DE" sz="1000" dirty="0">
                <a:latin typeface="Pangolin" panose="00000500000000000000" pitchFamily="2" charset="0"/>
              </a:rPr>
              <a:t> </a:t>
            </a:r>
            <a:r>
              <a:rPr lang="de-DE" sz="1000" dirty="0" err="1">
                <a:latin typeface="Pangolin" panose="00000500000000000000" pitchFamily="2" charset="0"/>
              </a:rPr>
              <a:t>recipientes</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70028DA2-D2CF-38AF-6647-7770C2CD75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5482D67-4FED-ACED-407A-0B7DB8D13B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205388B-9A79-5166-83DD-69EE218F3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a:extLst>
              <a:ext uri="{FF2B5EF4-FFF2-40B4-BE49-F238E27FC236}">
                <a16:creationId xmlns:a16="http://schemas.microsoft.com/office/drawing/2014/main" id="{D4D6E1C4-43F6-5476-866A-3EA9F73AB72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1B50083-CD29-E7C1-7EC8-EC40E56DCD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30524235-F8D8-2216-B9A5-7E72274B6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4" name="Grafik 31">
            <a:extLst>
              <a:ext uri="{FF2B5EF4-FFF2-40B4-BE49-F238E27FC236}">
                <a16:creationId xmlns:a16="http://schemas.microsoft.com/office/drawing/2014/main" id="{32112460-2EE0-278A-FD96-1E64F2F2C014}"/>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+ 32 767</a:t>
            </a: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02BD2F2F-E5C9-CF29-DB1F-A56A5605DE9A}"/>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Tipos</a:t>
            </a:r>
            <a:r>
              <a:rPr lang="de-DE" sz="1000" dirty="0">
                <a:latin typeface="Pangolin" panose="00000500000000000000" pitchFamily="2" charset="0"/>
              </a:rPr>
              <a:t> de </a:t>
            </a:r>
            <a:r>
              <a:rPr lang="de-DE" sz="1000" dirty="0" err="1">
                <a:latin typeface="Pangolin" panose="00000500000000000000" pitchFamily="2" charset="0"/>
              </a:rPr>
              <a:t>Dados</a:t>
            </a:r>
            <a:r>
              <a:rPr lang="de-DE" sz="1000" dirty="0">
                <a:latin typeface="Pangolin" panose="00000500000000000000" pitchFamily="2" charset="0"/>
              </a:rPr>
              <a:t> Primitivos</a:t>
            </a: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419607" y="597995"/>
            <a:ext cx="1657825"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pt-BR" sz="1000" dirty="0">
                <a:latin typeface="Pangolin" panose="00000500000000000000" pitchFamily="2" charset="0"/>
                <a:ea typeface="+mn-ea"/>
                <a:cs typeface="+mn-cs"/>
              </a:rPr>
              <a:t>Aqui estão os nossos diferentes recipientes que usamos. Não se preocupe com os valores exatos dos intervalos.</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20637" y="3876453"/>
            <a:ext cx="2012950" cy="707886"/>
          </a:xfrm>
          <a:prstGeom prst="rect">
            <a:avLst/>
          </a:prstGeom>
          <a:noFill/>
        </p:spPr>
        <p:txBody>
          <a:bodyPr wrap="square">
            <a:spAutoFit/>
          </a:bodyPr>
          <a:lstStyle/>
          <a:p>
            <a:pPr algn="ctr"/>
            <a:r>
              <a:rPr lang="pt-BR" sz="1000" dirty="0">
                <a:latin typeface="Pangolin" panose="00000500000000000000" pitchFamily="2" charset="0"/>
              </a:rPr>
              <a:t>Às vezes, você terá que despejar o conteúdo de certos recipientes em outros.
</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912771" y="4076508"/>
            <a:ext cx="1280465" cy="246221"/>
          </a:xfrm>
          <a:prstGeom prst="rect">
            <a:avLst/>
          </a:prstGeom>
          <a:noFill/>
        </p:spPr>
        <p:txBody>
          <a:bodyPr wrap="square">
            <a:spAutoFit/>
          </a:bodyPr>
          <a:lstStyle/>
          <a:p>
            <a:pPr algn="ctr"/>
            <a:r>
              <a:rPr lang="de-DE" sz="1000" dirty="0" err="1">
                <a:latin typeface="Pangolin" panose="00000500000000000000" pitchFamily="2" charset="0"/>
              </a:rPr>
              <a:t>Fácil</a:t>
            </a:r>
            <a:r>
              <a:rPr lang="de-DE" sz="1000" dirty="0">
                <a:latin typeface="Pangolin" panose="00000500000000000000" pitchFamily="2" charset="0"/>
              </a:rPr>
              <a:t>, </a:t>
            </a:r>
            <a:r>
              <a:rPr lang="de-DE" sz="1000" dirty="0" err="1">
                <a:latin typeface="Pangolin" panose="00000500000000000000" pitchFamily="2" charset="0"/>
              </a:rPr>
              <a:t>não</a:t>
            </a:r>
            <a:r>
              <a:rPr lang="de-DE" sz="1000" dirty="0">
                <a:latin typeface="Pangolin" panose="00000500000000000000" pitchFamily="2" charset="0"/>
              </a:rPr>
              <a:t> é?</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63411" y="3958242"/>
            <a:ext cx="1925683" cy="400110"/>
          </a:xfrm>
          <a:prstGeom prst="rect">
            <a:avLst/>
          </a:prstGeom>
          <a:noFill/>
        </p:spPr>
        <p:txBody>
          <a:bodyPr wrap="square">
            <a:spAutoFit/>
          </a:bodyPr>
          <a:lstStyle/>
          <a:p>
            <a:pPr algn="ctr"/>
            <a:r>
              <a:rPr lang="pt-BR" sz="1000" dirty="0">
                <a:latin typeface="Pangolin" panose="00000500000000000000" pitchFamily="2" charset="0"/>
              </a:rPr>
              <a:t>Mas esteja atento a uma coisa.
</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251117" y="6874487"/>
            <a:ext cx="2001066" cy="707886"/>
          </a:xfrm>
          <a:prstGeom prst="rect">
            <a:avLst/>
          </a:prstGeom>
          <a:noFill/>
        </p:spPr>
        <p:txBody>
          <a:bodyPr wrap="square">
            <a:spAutoFit/>
          </a:bodyPr>
          <a:lstStyle/>
          <a:p>
            <a:pPr algn="ctr"/>
            <a:r>
              <a:rPr lang="pt-BR" sz="1000" dirty="0">
                <a:latin typeface="Pangolin" panose="00000500000000000000" pitchFamily="2" charset="0"/>
              </a:rPr>
              <a:t>Na verdade, você não está esvaziando os recipientes originais, mas copiando o conteúdo em um novo recipiente.</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30032" y="6943985"/>
            <a:ext cx="2001066" cy="553998"/>
          </a:xfrm>
          <a:prstGeom prst="rect">
            <a:avLst/>
          </a:prstGeom>
          <a:noFill/>
        </p:spPr>
        <p:txBody>
          <a:bodyPr wrap="square">
            <a:spAutoFit/>
          </a:bodyPr>
          <a:lstStyle/>
          <a:p>
            <a:pPr algn="ctr"/>
            <a:r>
              <a:rPr lang="pt-BR" sz="1000" dirty="0">
                <a:latin typeface="Pangolin" panose="00000500000000000000" pitchFamily="2" charset="0"/>
              </a:rPr>
              <a:t>Além disso, você sempre pode copiar o conteúdo de um recipiente menor para um maior.</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97378" y="6851865"/>
            <a:ext cx="2001066" cy="707886"/>
          </a:xfrm>
          <a:prstGeom prst="rect">
            <a:avLst/>
          </a:prstGeom>
          <a:noFill/>
        </p:spPr>
        <p:txBody>
          <a:bodyPr wrap="square">
            <a:spAutoFit/>
          </a:bodyPr>
          <a:lstStyle/>
          <a:p>
            <a:pPr algn="ctr"/>
            <a:r>
              <a:rPr lang="pt-BR" sz="1000" dirty="0">
                <a:latin typeface="Pangolin" panose="00000500000000000000" pitchFamily="2" charset="0"/>
              </a:rPr>
              <a:t>Mas o que acontece quando despejamos um </a:t>
            </a:r>
            <a:br>
              <a:rPr lang="pt-BR" sz="1000" dirty="0">
                <a:latin typeface="Pangolin" panose="00000500000000000000" pitchFamily="2" charset="0"/>
              </a:rPr>
            </a:br>
            <a:r>
              <a:rPr lang="pt-BR" sz="1000" dirty="0">
                <a:latin typeface="Pangolin" panose="00000500000000000000" pitchFamily="2" charset="0"/>
              </a:rPr>
              <a:t>FLOAT em um SHORT?
</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3A37D8E3-3838-7A0F-F2BA-7ABF0C71C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2828EF2-9B41-AB18-0B85-4E89659AC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16ED60CA-3109-1CF4-B27E-B43C57C4A8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B1CE6B8F-5E75-EFDC-B820-019B9D4FB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4376A3E-D165-FFBF-CC04-67F079FB9B0E}"/>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Tipos</a:t>
            </a:r>
            <a:r>
              <a:rPr lang="de-DE" sz="1000" dirty="0">
                <a:latin typeface="Pangolin" panose="00000500000000000000" pitchFamily="2" charset="0"/>
              </a:rPr>
              <a:t> de </a:t>
            </a:r>
            <a:r>
              <a:rPr lang="de-DE" sz="1000" dirty="0" err="1">
                <a:latin typeface="Pangolin" panose="00000500000000000000" pitchFamily="2" charset="0"/>
              </a:rPr>
              <a:t>Dados</a:t>
            </a:r>
            <a:r>
              <a:rPr lang="de-DE" sz="1000" dirty="0">
                <a:latin typeface="Pangolin" panose="00000500000000000000" pitchFamily="2" charset="0"/>
              </a:rPr>
              <a:t> Primitivos</a:t>
            </a: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206375" y="861704"/>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dirty="0" err="1">
                <a:latin typeface="Pangolin" panose="00000500000000000000" pitchFamily="2" charset="0"/>
                <a:ea typeface="+mn-ea"/>
                <a:cs typeface="+mn-cs"/>
              </a:rPr>
              <a:t>Apenas</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uma</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parte</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vai</a:t>
            </a:r>
            <a:r>
              <a:rPr lang="de-DE" sz="1000" dirty="0">
                <a:latin typeface="Pangolin" panose="00000500000000000000" pitchFamily="2" charset="0"/>
                <a:ea typeface="+mn-ea"/>
                <a:cs typeface="+mn-cs"/>
              </a:rPr>
              <a:t> </a:t>
            </a:r>
            <a:r>
              <a:rPr lang="de-DE" sz="1000" dirty="0" err="1">
                <a:latin typeface="Pangolin" panose="00000500000000000000" pitchFamily="2" charset="0"/>
                <a:ea typeface="+mn-ea"/>
                <a:cs typeface="+mn-cs"/>
              </a:rPr>
              <a:t>caber</a:t>
            </a:r>
            <a:r>
              <a:rPr lang="de-DE" sz="1000" dirty="0">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94002" y="807395"/>
            <a:ext cx="1664942" cy="400110"/>
          </a:xfrm>
          <a:prstGeom prst="rect">
            <a:avLst/>
          </a:prstGeom>
          <a:noFill/>
        </p:spPr>
        <p:txBody>
          <a:bodyPr wrap="square">
            <a:spAutoFit/>
          </a:bodyPr>
          <a:lstStyle/>
          <a:p>
            <a:pPr algn="ctr"/>
            <a:r>
              <a:rPr lang="pt-BR" sz="1000" dirty="0">
                <a:latin typeface="Pangolin" panose="00000500000000000000" pitchFamily="2" charset="0"/>
              </a:rPr>
              <a:t>E o resto vai deixar uma bagunça enorme no balcão.</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91866" y="790724"/>
            <a:ext cx="2051050" cy="707886"/>
          </a:xfrm>
          <a:prstGeom prst="rect">
            <a:avLst/>
          </a:prstGeom>
          <a:noFill/>
        </p:spPr>
        <p:txBody>
          <a:bodyPr wrap="square">
            <a:spAutoFit/>
          </a:bodyPr>
          <a:lstStyle/>
          <a:p>
            <a:pPr algn="ctr"/>
            <a:r>
              <a:rPr lang="pt-BR" sz="1000" dirty="0">
                <a:latin typeface="Pangolin" panose="00000500000000000000" pitchFamily="2" charset="0"/>
              </a:rPr>
              <a:t>E o quanto isso é ruim dependerá do gerente com quem você está trabalhando
</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89990" y="3928385"/>
            <a:ext cx="1893035" cy="553998"/>
          </a:xfrm>
          <a:prstGeom prst="rect">
            <a:avLst/>
          </a:prstGeom>
          <a:noFill/>
        </p:spPr>
        <p:txBody>
          <a:bodyPr wrap="square">
            <a:spAutoFit/>
          </a:bodyPr>
          <a:lstStyle/>
          <a:p>
            <a:pPr algn="ctr"/>
            <a:r>
              <a:rPr lang="pt-BR" sz="1000" dirty="0">
                <a:latin typeface="Pangolin" panose="00000500000000000000" pitchFamily="2" charset="0"/>
              </a:rPr>
              <a:t>Tá vendo aquele cara ali? </a:t>
            </a:r>
            <a:br>
              <a:rPr lang="pt-BR" sz="1000" dirty="0">
                <a:latin typeface="Pangolin" panose="00000500000000000000" pitchFamily="2" charset="0"/>
              </a:rPr>
            </a:br>
            <a:r>
              <a:rPr lang="pt-BR" sz="1000" dirty="0">
                <a:latin typeface="Pangolin" panose="00000500000000000000" pitchFamily="2" charset="0"/>
              </a:rPr>
              <a:t>Ele não vai se incomodar muito e vai limpar para você.</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529711" y="3927250"/>
            <a:ext cx="1793524" cy="553998"/>
          </a:xfrm>
          <a:prstGeom prst="rect">
            <a:avLst/>
          </a:prstGeom>
          <a:noFill/>
        </p:spPr>
        <p:txBody>
          <a:bodyPr wrap="square">
            <a:spAutoFit/>
          </a:bodyPr>
          <a:lstStyle/>
          <a:p>
            <a:pPr algn="ctr"/>
            <a:r>
              <a:rPr lang="pt-BR" sz="1000" dirty="0">
                <a:latin typeface="Pangolin" panose="00000500000000000000" pitchFamily="2" charset="0"/>
              </a:rPr>
              <a:t>Mas NUNCA faça isso sob a vigilância daquele ali. </a:t>
            </a:r>
            <a:br>
              <a:rPr lang="pt-BR" sz="1000" dirty="0">
                <a:latin typeface="Pangolin" panose="00000500000000000000" pitchFamily="2" charset="0"/>
              </a:rPr>
            </a:br>
            <a:r>
              <a:rPr lang="pt-BR" sz="1000" dirty="0">
                <a:latin typeface="Pangolin" panose="00000500000000000000" pitchFamily="2" charset="0"/>
              </a:rPr>
              <a:t>Ele não vai limpar sozinho!</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882085"/>
            <a:ext cx="2001066" cy="553998"/>
          </a:xfrm>
          <a:prstGeom prst="rect">
            <a:avLst/>
          </a:prstGeom>
          <a:noFill/>
        </p:spPr>
        <p:txBody>
          <a:bodyPr wrap="square">
            <a:spAutoFit/>
          </a:bodyPr>
          <a:lstStyle/>
          <a:p>
            <a:pPr algn="ctr"/>
            <a:r>
              <a:rPr lang="pt-BR" sz="1000" dirty="0">
                <a:latin typeface="Pangolin" panose="00000500000000000000" pitchFamily="2" charset="0"/>
              </a:rPr>
              <a:t>Então, dependendo do que você esteja trabalhando, tente evitar esse tipo de coisa.</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82316" y="6842494"/>
            <a:ext cx="1708381" cy="600164"/>
          </a:xfrm>
          <a:prstGeom prst="rect">
            <a:avLst/>
          </a:prstGeom>
          <a:noFill/>
        </p:spPr>
        <p:txBody>
          <a:bodyPr wrap="square">
            <a:spAutoFit/>
          </a:bodyPr>
          <a:lstStyle/>
          <a:p>
            <a:pPr algn="ctr"/>
            <a:r>
              <a:rPr lang="pt-BR" sz="1100" dirty="0">
                <a:latin typeface="Pangolin" panose="00000500000000000000" pitchFamily="2" charset="0"/>
              </a:rPr>
              <a:t>Você pode se perguntar por que não colocamos tudo em DOUBLEs.</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433366" y="6912989"/>
            <a:ext cx="1598682" cy="769441"/>
          </a:xfrm>
          <a:prstGeom prst="rect">
            <a:avLst/>
          </a:prstGeom>
          <a:noFill/>
        </p:spPr>
        <p:txBody>
          <a:bodyPr wrap="square">
            <a:spAutoFit/>
          </a:bodyPr>
          <a:lstStyle/>
          <a:p>
            <a:r>
              <a:rPr lang="pt-BR" sz="1100" dirty="0">
                <a:latin typeface="Pangolin" panose="00000500000000000000" pitchFamily="2" charset="0"/>
              </a:rPr>
              <a:t>... Mas desse jeito não sobraria muito espaço nas mesas...
</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422295" y="8947095"/>
            <a:ext cx="1528022" cy="600164"/>
          </a:xfrm>
          <a:prstGeom prst="rect">
            <a:avLst/>
          </a:prstGeom>
          <a:noFill/>
        </p:spPr>
        <p:txBody>
          <a:bodyPr wrap="square">
            <a:spAutoFit/>
          </a:bodyPr>
          <a:lstStyle/>
          <a:p>
            <a:pPr algn="ctr"/>
            <a:r>
              <a:rPr lang="pt-BR" sz="1100" dirty="0">
                <a:latin typeface="Pangolin" panose="00000500000000000000" pitchFamily="2" charset="0"/>
              </a:rPr>
              <a:t>Então, por favor, escolha os tamanhos apropriados.</a:t>
            </a:r>
            <a:endParaRPr lang="de-AT" sz="11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C459F574-0429-28BD-4745-6B7E810DF460}"/>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Tipos</a:t>
            </a:r>
            <a:r>
              <a:rPr lang="de-DE" sz="1000" dirty="0">
                <a:latin typeface="Pangolin" panose="00000500000000000000" pitchFamily="2" charset="0"/>
              </a:rPr>
              <a:t> de </a:t>
            </a:r>
            <a:r>
              <a:rPr lang="de-DE" sz="1000" dirty="0" err="1">
                <a:latin typeface="Pangolin" panose="00000500000000000000" pitchFamily="2" charset="0"/>
              </a:rPr>
              <a:t>Dados</a:t>
            </a:r>
            <a:r>
              <a:rPr lang="de-DE" sz="1000" dirty="0">
                <a:latin typeface="Pangolin" panose="00000500000000000000" pitchFamily="2" charset="0"/>
              </a:rPr>
              <a:t> Primitivos</a:t>
            </a: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443163" y="635178"/>
            <a:ext cx="1604579"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pt-BR" sz="1000" dirty="0">
                <a:latin typeface="Pangolin" panose="00000500000000000000" pitchFamily="2" charset="0"/>
                <a:ea typeface="+mn-ea"/>
                <a:cs typeface="+mn-cs"/>
              </a:rPr>
              <a:t>Isso é tudo o que você precisa saber para começar, então aproveite seu primeiro dia de trab...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dirty="0" err="1">
                <a:latin typeface="Pangolin" panose="00000500000000000000" pitchFamily="2" charset="0"/>
              </a:rPr>
              <a:t>Olá</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81334" y="749480"/>
            <a:ext cx="1724906" cy="707886"/>
          </a:xfrm>
          <a:prstGeom prst="rect">
            <a:avLst/>
          </a:prstGeom>
          <a:noFill/>
        </p:spPr>
        <p:txBody>
          <a:bodyPr wrap="square">
            <a:spAutoFit/>
          </a:bodyPr>
          <a:lstStyle/>
          <a:p>
            <a:pPr algn="ctr"/>
            <a:r>
              <a:rPr lang="pt-BR" sz="1000" dirty="0">
                <a:latin typeface="Pangolin" panose="00000500000000000000" pitchFamily="2" charset="0"/>
              </a:rPr>
              <a:t>Sou o novo contratado e meu primeiro turno começa hoje. Disseram-me para te procurar.</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662611" y="600074"/>
            <a:ext cx="1886779" cy="852156"/>
          </a:xfrm>
          <a:prstGeom prst="rect">
            <a:avLst/>
          </a:prstGeom>
          <a:noFill/>
        </p:spPr>
        <p:txBody>
          <a:bodyPr wrap="square">
            <a:spAutoFit/>
          </a:bodyPr>
          <a:lstStyle/>
          <a:p>
            <a:pPr algn="ctr">
              <a:lnSpc>
                <a:spcPts val="1500"/>
              </a:lnSpc>
            </a:pPr>
            <a:r>
              <a:rPr lang="pt-BR" sz="1000" dirty="0">
                <a:latin typeface="Pangolin" panose="00000500000000000000" pitchFamily="2" charset="0"/>
              </a:rPr>
              <a:t>Sabe de uma coisa? Estou bem ocupado agora. Que tal você aí explicar a ele como as coisas funcionam por aqui!</a:t>
            </a:r>
            <a:endParaRPr lang="de-AT" sz="1000" dirty="0">
              <a:solidFill>
                <a:schemeClr val="tx1"/>
              </a:solidFill>
              <a:latin typeface="Pangolin" panose="00000500000000000000" pitchFamily="2" charset="0"/>
            </a:endParaRPr>
          </a:p>
        </p:txBody>
      </p:sp>
      <p:sp>
        <p:nvSpPr>
          <p:cNvPr id="3" name="Rechteck 2">
            <a:extLst>
              <a:ext uri="{FF2B5EF4-FFF2-40B4-BE49-F238E27FC236}">
                <a16:creationId xmlns:a16="http://schemas.microsoft.com/office/drawing/2014/main" id="{0401E7B8-9D30-8BAB-6BEE-4A08168956A7}"/>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pt-BR" sz="1000" dirty="0">
                <a:solidFill>
                  <a:schemeClr val="tx1"/>
                </a:solidFill>
                <a:latin typeface="Pangolin" panose="00000500000000000000" pitchFamily="2" charset="0"/>
              </a:rPr>
              <a:t>Como você explicaria o conceito de tipos de dados primitivos para o novo funcionário? Use este espaço para fazer anotações e desenhos.</a:t>
            </a:r>
            <a:endParaRPr lang="de-AT" sz="1000" dirty="0">
              <a:solidFill>
                <a:schemeClr val="tx1"/>
              </a:solidFill>
              <a:latin typeface="Pangolin" panose="00000500000000000000" pitchFamily="2" charset="0"/>
            </a:endParaRPr>
          </a:p>
        </p:txBody>
      </p:sp>
      <p:pic>
        <p:nvPicPr>
          <p:cNvPr id="4" name="Grafik 4">
            <a:extLst>
              <a:ext uri="{FF2B5EF4-FFF2-40B4-BE49-F238E27FC236}">
                <a16:creationId xmlns:a16="http://schemas.microsoft.com/office/drawing/2014/main" id="{4021AF3A-92BD-6CEC-22B1-85694E6751A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0" name="Rechteck 1">
            <a:extLst>
              <a:ext uri="{FF2B5EF4-FFF2-40B4-BE49-F238E27FC236}">
                <a16:creationId xmlns:a16="http://schemas.microsoft.com/office/drawing/2014/main" id="{63AC5048-DB0F-A4E2-8701-B75660BF482A}"/>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5D977D-23B8-A383-687E-EDCD87F48798}"/>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6F30592E-2B59-53F6-00A7-302C7D36EEC3}"/>
              </a:ext>
            </a:extLst>
          </p:cNvPr>
          <p:cNvSpPr txBox="1">
            <a:spLocks noGrp="1"/>
          </p:cNvSpPr>
          <p:nvPr>
            <p:ph type="title" idx="4294967295"/>
          </p:nvPr>
        </p:nvSpPr>
        <p:spPr>
          <a:xfrm>
            <a:off x="599280" y="6991767"/>
            <a:ext cx="5183333"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pt-BR" sz="1100" b="1" dirty="0">
                <a:solidFill>
                  <a:srgbClr val="333333"/>
                </a:solidFill>
                <a:latin typeface="Segoe UI" panose="020B0502040204020203" pitchFamily="34" charset="0"/>
                <a:ea typeface="+mn-ea"/>
                <a:cs typeface="Segoe UI" panose="020B0502040204020203" pitchFamily="34" charset="0"/>
              </a:rPr>
              <a:t>Como citar este documento:</a:t>
            </a:r>
            <a:br>
              <a:rPr lang="pt-BR" sz="1100" b="1" dirty="0">
                <a:solidFill>
                  <a:srgbClr val="333333"/>
                </a:solidFill>
                <a:latin typeface="Segoe UI" panose="020B0502040204020203" pitchFamily="34" charset="0"/>
                <a:ea typeface="+mn-ea"/>
                <a:cs typeface="Segoe UI" panose="020B0502040204020203" pitchFamily="34" charset="0"/>
              </a:rPr>
            </a:br>
            <a:br>
              <a:rPr lang="pt-BR" sz="1100" dirty="0">
                <a:solidFill>
                  <a:srgbClr val="333333"/>
                </a:solidFill>
                <a:latin typeface="Segoe UI" panose="020B0502040204020203" pitchFamily="34" charset="0"/>
                <a:ea typeface="+mn-ea"/>
                <a:cs typeface="Segoe UI" panose="020B0502040204020203" pitchFamily="34" charset="0"/>
              </a:rPr>
            </a:br>
            <a:r>
              <a:rPr lang="de-DE" sz="1100" i="1" dirty="0">
                <a:latin typeface="Segoe UI" panose="020B0502040204020203" pitchFamily="34" charset="0"/>
                <a:cs typeface="Segoe UI" panose="020B0502040204020203" pitchFamily="34" charset="0"/>
              </a:rPr>
              <a:t>Boucher, M., Boucher, A., Wu, H.-Y., &amp; Stoiber, C., &amp; De-Jesus-Oliveira, V.-A. (2025). Tipos de Dados Primitivos. University of Applied Sciences St. Pölten (USTP). https://www.comixplain.cc</a:t>
            </a:r>
            <a:br>
              <a:rPr lang="pt-BR" sz="1100" dirty="0">
                <a:solidFill>
                  <a:srgbClr val="333333"/>
                </a:solidFill>
                <a:latin typeface="Segoe UI" panose="020B0502040204020203" pitchFamily="34" charset="0"/>
                <a:ea typeface="+mn-ea"/>
                <a:cs typeface="Segoe UI" panose="020B0502040204020203" pitchFamily="34" charset="0"/>
              </a:rPr>
            </a:br>
            <a:br>
              <a:rPr lang="pt-BR" sz="1100" b="1" dirty="0">
                <a:solidFill>
                  <a:srgbClr val="333333"/>
                </a:solidFill>
                <a:latin typeface="Segoe UI" panose="020B0502040204020203" pitchFamily="34" charset="0"/>
                <a:ea typeface="+mn-ea"/>
                <a:cs typeface="Segoe UI" panose="020B0502040204020203" pitchFamily="34" charset="0"/>
              </a:rPr>
            </a:br>
            <a:r>
              <a:rPr lang="pt-BR" sz="1100" b="1" dirty="0">
                <a:solidFill>
                  <a:srgbClr val="333333"/>
                </a:solidFill>
                <a:latin typeface="Segoe UI" panose="020B0502040204020203" pitchFamily="34" charset="0"/>
                <a:ea typeface="+mn-ea"/>
                <a:cs typeface="Segoe UI" panose="020B0502040204020203" pitchFamily="34" charset="0"/>
              </a:rPr>
              <a:t>Este quadrinho foi adaptado de: </a:t>
            </a:r>
            <a:br>
              <a:rPr lang="pt-BR" sz="1100" dirty="0">
                <a:solidFill>
                  <a:srgbClr val="333333"/>
                </a:solidFill>
                <a:latin typeface="Segoe UI" panose="020B0502040204020203" pitchFamily="34" charset="0"/>
                <a:ea typeface="+mn-ea"/>
                <a:cs typeface="Segoe UI" panose="020B0502040204020203" pitchFamily="34" charset="0"/>
              </a:rPr>
            </a:br>
            <a:br>
              <a:rPr lang="pt-BR" sz="1100" dirty="0">
                <a:solidFill>
                  <a:srgbClr val="333333"/>
                </a:solidFill>
                <a:latin typeface="Segoe UI" panose="020B0502040204020203" pitchFamily="34" charset="0"/>
                <a:ea typeface="+mn-ea"/>
                <a:cs typeface="Segoe UI" panose="020B0502040204020203" pitchFamily="34" charset="0"/>
              </a:rPr>
            </a:br>
            <a:r>
              <a:rPr lang="de-DE" sz="1100" dirty="0">
                <a:solidFill>
                  <a:srgbClr val="333333"/>
                </a:solidFill>
                <a:latin typeface="Segoe UI" panose="020B0502040204020203" pitchFamily="34" charset="0"/>
                <a:ea typeface="+mn-ea"/>
                <a:cs typeface="Segoe UI" panose="020B0502040204020203" pitchFamily="34" charset="0"/>
              </a:rPr>
              <a:t>Tipos de Dados Primitivos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0CC610EE-81A3-5D5F-9727-2A84359DA48F}"/>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Fontes:</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D30F4E53-D90C-45BF-BFC0-CC3A3CACD5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3.xml><?xml version="1.0" encoding="utf-8"?>
<ds:datastoreItem xmlns:ds="http://schemas.openxmlformats.org/officeDocument/2006/customXml" ds:itemID="{84372B3F-CE2E-42EC-9979-028DA50166FC}">
  <ds:schemaRefs>
    <ds:schemaRef ds:uri="http://schemas.openxmlformats.org/package/2006/metadata/core-properties"/>
    <ds:schemaRef ds:uri="http://schemas.microsoft.com/office/2006/metadata/properties"/>
    <ds:schemaRef ds:uri="http://www.w3.org/XML/1998/namespace"/>
    <ds:schemaRef ds:uri="http://purl.org/dc/dcmitype/"/>
    <ds:schemaRef ds:uri="http://purl.org/dc/elements/1.1/"/>
    <ds:schemaRef ds:uri="da1b7603-f8b8-47c9-9682-dc6aa8e9acd7"/>
    <ds:schemaRef ds:uri="94bcf745-830c-42f4-885c-a1d7342e6e36"/>
    <ds:schemaRef ds:uri="http://schemas.microsoft.com/office/2006/documentManagement/typ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20</TotalTime>
  <Words>758</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Pangolin</vt:lpstr>
      <vt:lpstr>Arial</vt:lpstr>
      <vt:lpstr>Segoe UI</vt:lpstr>
      <vt:lpstr>Calibri Light</vt:lpstr>
      <vt:lpstr>Calibri</vt:lpstr>
      <vt:lpstr>Office</vt:lpstr>
      <vt:lpstr>Tipos de Dados Primitivos</vt:lpstr>
      <vt:lpstr>PowerPoint Presentation</vt:lpstr>
      <vt:lpstr>Ah, você deve ser o novo contratado de quem o nosso gerente estava falando!
</vt:lpstr>
      <vt:lpstr>Aqui estão os nossos diferentes recipientes que usamos. Não se preocupe com os valores exatos dos intervalos.</vt:lpstr>
      <vt:lpstr>Apenas uma parte vai caber.</vt:lpstr>
      <vt:lpstr>Isso é tudo o que você precisa saber para começar, então aproveite seu primeiro dia de trab...
</vt:lpstr>
      <vt:lpstr>Como citar este documento:  Boucher, M., Boucher, A., Wu, H.-Y., &amp; Stoiber, C., &amp; De-Jesus-Oliveira, V.-A. (2025). Tipos de Dados Primitivos. University of Applied Sciences St. Pölten (USTP). https://www.comixplain.cc  Este quadrinho foi adaptado de:   Tipos de Dados Primitivos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Dados Primitivos</dc:title>
  <dc:creator>Boucher Magdalena</dc:creator>
  <cp:lastModifiedBy>de-Jesus-Oliveira Victor-Adriel</cp:lastModifiedBy>
  <cp:revision>28</cp:revision>
  <dcterms:created xsi:type="dcterms:W3CDTF">2022-09-19T11:21:57Z</dcterms:created>
  <dcterms:modified xsi:type="dcterms:W3CDTF">2025-11-07T18:10:16Z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