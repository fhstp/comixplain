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86" r:id="rId11"/>
    <p:sldId id="268" r:id="rId12"/>
  </p:sldIdLst>
  <p:sldSz cx="6858000" cy="9906000" type="A4"/>
  <p:notesSz cx="6858000" cy="9144000"/>
  <p:embeddedFontLs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60EC56-F4F5-4B9D-88D7-CDCF5F268C3D}" v="14" dt="2025-11-07T18:11:11.1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5.fntdata"/><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font" Target="fonts/font3.fntdata"/><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addSld delSld modSld">
      <pc:chgData name="de-Jesus-Oliveira Victor-Adriel" userId="a708fc36-3c1b-42ab-b5e9-2e1fa3c6605e" providerId="ADAL" clId="{39AA12F0-CB51-4D67-A3A6-7C3EC2C345CA}" dt="2025-11-07T18:11:03.605" v="44" actId="14100"/>
      <pc:docMkLst>
        <pc:docMk/>
      </pc:docMkLst>
      <pc:sldChg chg="addSp delSp modSp mod">
        <pc:chgData name="de-Jesus-Oliveira Victor-Adriel" userId="a708fc36-3c1b-42ab-b5e9-2e1fa3c6605e" providerId="ADAL" clId="{39AA12F0-CB51-4D67-A3A6-7C3EC2C345CA}" dt="2025-11-07T17:56:04.035" v="23" actId="20577"/>
        <pc:sldMkLst>
          <pc:docMk/>
          <pc:sldMk cId="4264380333" sldId="267"/>
        </pc:sldMkLst>
        <pc:spChg chg="mod">
          <ac:chgData name="de-Jesus-Oliveira Victor-Adriel" userId="a708fc36-3c1b-42ab-b5e9-2e1fa3c6605e" providerId="ADAL" clId="{39AA12F0-CB51-4D67-A3A6-7C3EC2C345CA}" dt="2025-11-07T17:51:26.693" v="14"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01.639"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1:36.091" v="15"/>
          <ac:spMkLst>
            <pc:docMk/>
            <pc:sldMk cId="4264380333" sldId="267"/>
            <ac:spMk id="7" creationId="{2E83E9FC-E499-1930-D33C-97C7B738D815}"/>
          </ac:spMkLst>
        </pc:spChg>
        <pc:spChg chg="add mod">
          <ac:chgData name="de-Jesus-Oliveira Victor-Adriel" userId="a708fc36-3c1b-42ab-b5e9-2e1fa3c6605e" providerId="ADAL" clId="{39AA12F0-CB51-4D67-A3A6-7C3EC2C345CA}" dt="2025-11-07T17:56:04.035" v="23" actId="20577"/>
          <ac:spMkLst>
            <pc:docMk/>
            <pc:sldMk cId="4264380333" sldId="267"/>
            <ac:spMk id="11" creationId="{FBF6FDDD-621A-C0E9-B008-FB7474A2299E}"/>
          </ac:spMkLst>
        </pc:spChg>
        <pc:grpChg chg="add mod">
          <ac:chgData name="de-Jesus-Oliveira Victor-Adriel" userId="a708fc36-3c1b-42ab-b5e9-2e1fa3c6605e" providerId="ADAL" clId="{39AA12F0-CB51-4D67-A3A6-7C3EC2C345CA}" dt="2025-11-07T17:51:36.091" v="15"/>
          <ac:grpSpMkLst>
            <pc:docMk/>
            <pc:sldMk cId="4264380333" sldId="267"/>
            <ac:grpSpMk id="8" creationId="{A33650C4-C1AF-A3D1-8C18-2C200715B3A7}"/>
          </ac:grpSpMkLst>
        </pc:grpChg>
        <pc:grpChg chg="add mod">
          <ac:chgData name="de-Jesus-Oliveira Victor-Adriel" userId="a708fc36-3c1b-42ab-b5e9-2e1fa3c6605e" providerId="ADAL" clId="{39AA12F0-CB51-4D67-A3A6-7C3EC2C345CA}" dt="2025-11-07T17:51:36.091" v="15"/>
          <ac:grpSpMkLst>
            <pc:docMk/>
            <pc:sldMk cId="4264380333" sldId="267"/>
            <ac:grpSpMk id="12" creationId="{C6E2FE12-FB3C-C595-B3BA-D03B24273622}"/>
          </ac:grpSpMkLst>
        </pc:grpChg>
        <pc:picChg chg="del">
          <ac:chgData name="de-Jesus-Oliveira Victor-Adriel" userId="a708fc36-3c1b-42ab-b5e9-2e1fa3c6605e" providerId="ADAL" clId="{39AA12F0-CB51-4D67-A3A6-7C3EC2C345CA}" dt="2025-11-07T17:49:59.793"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00.412"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1:36.091" v="15"/>
          <ac:picMkLst>
            <pc:docMk/>
            <pc:sldMk cId="4264380333" sldId="267"/>
            <ac:picMk id="6" creationId="{B54F2A74-32F2-D512-B6FB-BCAA97E7F8B6}"/>
          </ac:picMkLst>
        </pc:picChg>
        <pc:picChg chg="mod">
          <ac:chgData name="de-Jesus-Oliveira Victor-Adriel" userId="a708fc36-3c1b-42ab-b5e9-2e1fa3c6605e" providerId="ADAL" clId="{39AA12F0-CB51-4D67-A3A6-7C3EC2C345CA}" dt="2025-11-07T17:51:36.091" v="15"/>
          <ac:picMkLst>
            <pc:docMk/>
            <pc:sldMk cId="4264380333" sldId="267"/>
            <ac:picMk id="9" creationId="{BB16477D-A818-BDCB-B036-6AFB82A578E8}"/>
          </ac:picMkLst>
        </pc:picChg>
        <pc:picChg chg="mod">
          <ac:chgData name="de-Jesus-Oliveira Victor-Adriel" userId="a708fc36-3c1b-42ab-b5e9-2e1fa3c6605e" providerId="ADAL" clId="{39AA12F0-CB51-4D67-A3A6-7C3EC2C345CA}" dt="2025-11-07T17:51:36.091" v="15"/>
          <ac:picMkLst>
            <pc:docMk/>
            <pc:sldMk cId="4264380333" sldId="267"/>
            <ac:picMk id="10" creationId="{3B227997-E8E4-BAB6-F01D-FA08FAA0509A}"/>
          </ac:picMkLst>
        </pc:picChg>
        <pc:picChg chg="mod">
          <ac:chgData name="de-Jesus-Oliveira Victor-Adriel" userId="a708fc36-3c1b-42ab-b5e9-2e1fa3c6605e" providerId="ADAL" clId="{39AA12F0-CB51-4D67-A3A6-7C3EC2C345CA}" dt="2025-11-07T17:51:36.091" v="15"/>
          <ac:picMkLst>
            <pc:docMk/>
            <pc:sldMk cId="4264380333" sldId="267"/>
            <ac:picMk id="13" creationId="{CDB72F5E-11CC-B294-1DF3-4B4A9B969A16}"/>
          </ac:picMkLst>
        </pc:picChg>
        <pc:picChg chg="mod">
          <ac:chgData name="de-Jesus-Oliveira Victor-Adriel" userId="a708fc36-3c1b-42ab-b5e9-2e1fa3c6605e" providerId="ADAL" clId="{39AA12F0-CB51-4D67-A3A6-7C3EC2C345CA}" dt="2025-11-07T17:51:36.091" v="15"/>
          <ac:picMkLst>
            <pc:docMk/>
            <pc:sldMk cId="4264380333" sldId="267"/>
            <ac:picMk id="14" creationId="{CA252F6F-C0BF-0AF0-AB8B-E3E1A9EB8FEC}"/>
          </ac:picMkLst>
        </pc:picChg>
        <pc:picChg chg="mod">
          <ac:chgData name="de-Jesus-Oliveira Victor-Adriel" userId="a708fc36-3c1b-42ab-b5e9-2e1fa3c6605e" providerId="ADAL" clId="{39AA12F0-CB51-4D67-A3A6-7C3EC2C345CA}" dt="2025-11-07T17:51:36.091" v="15"/>
          <ac:picMkLst>
            <pc:docMk/>
            <pc:sldMk cId="4264380333" sldId="267"/>
            <ac:picMk id="15" creationId="{913C1B5A-20D0-ADB6-8363-D2CD540E41DF}"/>
          </ac:picMkLst>
        </pc:picChg>
      </pc:sldChg>
      <pc:sldChg chg="addSp modSp mod">
        <pc:chgData name="de-Jesus-Oliveira Victor-Adriel" userId="a708fc36-3c1b-42ab-b5e9-2e1fa3c6605e" providerId="ADAL" clId="{39AA12F0-CB51-4D67-A3A6-7C3EC2C345CA}" dt="2025-11-07T18:06:39.807" v="40"/>
        <pc:sldMkLst>
          <pc:docMk/>
          <pc:sldMk cId="171183961" sldId="268"/>
        </pc:sldMkLst>
        <pc:spChg chg="mod">
          <ac:chgData name="de-Jesus-Oliveira Victor-Adriel" userId="a708fc36-3c1b-42ab-b5e9-2e1fa3c6605e" providerId="ADAL" clId="{39AA12F0-CB51-4D67-A3A6-7C3EC2C345CA}" dt="2025-11-07T18:06:39.807" v="40"/>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25.791" v="30" actId="167"/>
          <ac:picMkLst>
            <pc:docMk/>
            <pc:sldMk cId="171183961" sldId="268"/>
            <ac:picMk id="4" creationId="{29990C19-6EC2-B88C-1A2A-55EA9D63707D}"/>
          </ac:picMkLst>
        </pc:picChg>
      </pc:sldChg>
      <pc:sldChg chg="del">
        <pc:chgData name="de-Jesus-Oliveira Victor-Adriel" userId="a708fc36-3c1b-42ab-b5e9-2e1fa3c6605e" providerId="ADAL" clId="{39AA12F0-CB51-4D67-A3A6-7C3EC2C345CA}" dt="2025-11-07T17:59:05.277" v="25" actId="47"/>
        <pc:sldMkLst>
          <pc:docMk/>
          <pc:sldMk cId="3240356758" sldId="282"/>
        </pc:sldMkLst>
      </pc:sldChg>
      <pc:sldChg chg="modSp mod">
        <pc:chgData name="de-Jesus-Oliveira Victor-Adriel" userId="a708fc36-3c1b-42ab-b5e9-2e1fa3c6605e" providerId="ADAL" clId="{39AA12F0-CB51-4D67-A3A6-7C3EC2C345CA}" dt="2025-11-07T18:11:03.605" v="44" actId="14100"/>
        <pc:sldMkLst>
          <pc:docMk/>
          <pc:sldMk cId="313680254" sldId="285"/>
        </pc:sldMkLst>
        <pc:spChg chg="mod">
          <ac:chgData name="de-Jesus-Oliveira Victor-Adriel" userId="a708fc36-3c1b-42ab-b5e9-2e1fa3c6605e" providerId="ADAL" clId="{39AA12F0-CB51-4D67-A3A6-7C3EC2C345CA}" dt="2025-11-07T18:11:03.605" v="44" actId="14100"/>
          <ac:spMkLst>
            <pc:docMk/>
            <pc:sldMk cId="313680254" sldId="285"/>
            <ac:spMk id="4" creationId="{82B15DD6-0713-4687-9E23-12B35F8AE7CE}"/>
          </ac:spMkLst>
        </pc:spChg>
      </pc:sldChg>
      <pc:sldChg chg="add setBg">
        <pc:chgData name="de-Jesus-Oliveira Victor-Adriel" userId="a708fc36-3c1b-42ab-b5e9-2e1fa3c6605e" providerId="ADAL" clId="{39AA12F0-CB51-4D67-A3A6-7C3EC2C345CA}" dt="2025-11-07T17:59:24.176" v="27"/>
        <pc:sldMkLst>
          <pc:docMk/>
          <pc:sldMk cId="387239377" sldId="286"/>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3" Type="http://schemas.openxmlformats.org/officeDocument/2006/relationships/image" Target="../media/image14.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8" Type="http://schemas.openxmlformats.org/officeDocument/2006/relationships/image" Target="../media/image120.pn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2.png"/><Relationship Id="rId7" Type="http://schemas.openxmlformats.org/officeDocument/2006/relationships/image" Target="../media/image35.png"/><Relationship Id="rId12" Type="http://schemas.openxmlformats.org/officeDocument/2006/relationships/image" Target="../media/image40.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15.png"/><Relationship Id="rId9" Type="http://schemas.openxmlformats.org/officeDocument/2006/relationships/image" Target="../media/image37.png"/></Relationships>
</file>

<file path=ppt/slides/_rels/slide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1.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783724" y="1030450"/>
            <a:ext cx="3290552"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Primitive Data Types</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6" name="Picture 5">
            <a:extLst>
              <a:ext uri="{FF2B5EF4-FFF2-40B4-BE49-F238E27FC236}">
                <a16:creationId xmlns:a16="http://schemas.microsoft.com/office/drawing/2014/main" id="{B54F2A74-32F2-D512-B6FB-BCAA97E7F8B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E83E9FC-E499-1930-D33C-97C7B738D81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33650C4-C1AF-A3D1-8C18-2C200715B3A7}"/>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BB16477D-A818-BDCB-B036-6AFB82A578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3B227997-E8E4-BAB6-F01D-FA08FAA050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FBF6FDDD-621A-C0E9-B008-FB7474A2299E}"/>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Primitive Data Types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C6E2FE12-FB3C-C595-B3BA-D03B24273622}"/>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DB72F5E-11CC-B294-1DF3-4B4A9B969A16}"/>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CA252F6F-C0BF-0AF0-AB8B-E3E1A9EB8FE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13C1B5A-20D0-ADB6-8363-D2CD540E41DF}"/>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7" name="Textfeld 16">
            <a:extLst>
              <a:ext uri="{FF2B5EF4-FFF2-40B4-BE49-F238E27FC236}">
                <a16:creationId xmlns:a16="http://schemas.microsoft.com/office/drawing/2014/main" id="{06E55F0D-1374-442B-8C82-48FCEA4796A4}"/>
              </a:ext>
              <a:ext uri="{C183D7F6-B498-43B3-948B-1728B52AA6E4}">
                <adec:decorative xmlns:adec="http://schemas.microsoft.com/office/drawing/2017/decorative" val="1"/>
              </a:ext>
            </a:extLst>
          </p:cNvPr>
          <p:cNvSpPr txBox="1"/>
          <p:nvPr/>
        </p:nvSpPr>
        <p:spPr>
          <a:xfrm>
            <a:off x="4586008" y="-3033155"/>
            <a:ext cx="1997074"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over</a:t>
            </a:r>
            <a:r>
              <a:rPr lang="de-DE" sz="1000" dirty="0">
                <a:solidFill>
                  <a:schemeClr val="tx1"/>
                </a:solidFill>
                <a:latin typeface="Pangolin" panose="00000500000000000000" pitchFamily="2" charset="0"/>
              </a:rPr>
              <a:t> lunch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down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road</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747433"/>
            <a:ext cx="1479550"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Oh, you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must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new</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hire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manager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was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talking</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718240"/>
            <a:ext cx="1997074"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do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err="1">
                <a:latin typeface="Pangolin" panose="00000500000000000000" pitchFamily="2" charset="0"/>
              </a:rPr>
              <a:t>‘re</a:t>
            </a:r>
            <a:r>
              <a:rPr lang="de-DE" sz="1000" dirty="0">
                <a:latin typeface="Pangolin" panose="00000500000000000000" pitchFamily="2" charset="0"/>
              </a:rPr>
              <a:t> not? </a:t>
            </a:r>
          </a:p>
          <a:p>
            <a:pPr algn="ct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course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Here‘s</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apron</a:t>
            </a:r>
            <a:r>
              <a:rPr lang="de-DE" sz="1000" dirty="0">
                <a:latin typeface="Pangolin" panose="00000500000000000000" pitchFamily="2" charset="0"/>
              </a:rPr>
              <a:t>. Come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me</a:t>
            </a:r>
            <a:r>
              <a:rPr lang="de-DE" sz="1000" dirty="0">
                <a:latin typeface="Pangolin" panose="00000500000000000000" pitchFamily="2" charset="0"/>
              </a:rPr>
              <a:t> and I will </a:t>
            </a:r>
            <a:r>
              <a:rPr lang="de-DE" sz="1000" dirty="0" err="1">
                <a:latin typeface="Pangolin" panose="00000500000000000000" pitchFamily="2" charset="0"/>
              </a:rPr>
              <a:t>show</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ropes</a:t>
            </a:r>
            <a:r>
              <a:rPr lang="de-DE" sz="1000" dirty="0">
                <a:latin typeface="Pangolin" panose="00000500000000000000" pitchFamily="2" charset="0"/>
              </a:rPr>
              <a:t> </a:t>
            </a:r>
            <a:r>
              <a:rPr lang="de-DE" sz="1000" dirty="0" err="1">
                <a:latin typeface="Pangolin" panose="00000500000000000000" pitchFamily="2" charset="0"/>
              </a:rPr>
              <a:t>quickly</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job</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execute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program</a:t>
            </a:r>
            <a:r>
              <a:rPr lang="de-DE" sz="1000" dirty="0">
                <a:solidFill>
                  <a:schemeClr val="tx1"/>
                </a:solidFill>
                <a:latin typeface="Pangolin" panose="00000500000000000000" pitchFamily="2" charset="0"/>
              </a:rPr>
              <a:t>, uh, I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kitchen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t>
            </a:r>
          </a:p>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uhm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coffee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Into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containers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753A2E96-FB3D-594E-E43C-1B453B1382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0DE89D2A-5AE6-3B2B-3CB7-32A2CDB2C1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341A185F-9638-C501-B5FF-285DF69C00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FFCA4149-096A-64A9-A45E-DCCD768008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279231B6-5B5E-0C14-0A21-C5588C0DC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02DD9901-2911-7CFA-728A-A049DB3CED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EC08D403-211F-AF3B-5A42-2EA7AE771C5B}"/>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+ 32 767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355844" y="662534"/>
            <a:ext cx="185427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Here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different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containers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that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use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Don‘t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worry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exact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number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ranges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76453"/>
            <a:ext cx="2012950" cy="400110"/>
          </a:xfrm>
          <a:prstGeom prst="rect">
            <a:avLst/>
          </a:prstGeom>
          <a:noFill/>
        </p:spPr>
        <p:txBody>
          <a:bodyPr wrap="square">
            <a:spAutoFit/>
          </a:bodyPr>
          <a:lstStyle/>
          <a:p>
            <a:pPr algn="ctr"/>
            <a:r>
              <a:rPr lang="de-DE" sz="1000" dirty="0" err="1">
                <a:latin typeface="Pangolin" panose="00000500000000000000" pitchFamily="2" charset="0"/>
              </a:rPr>
              <a:t>Sometimes</a:t>
            </a:r>
            <a:r>
              <a:rPr lang="de-DE" sz="1000" dirty="0">
                <a:latin typeface="Pangolin" panose="00000500000000000000" pitchFamily="2" charset="0"/>
              </a:rPr>
              <a:t> </a:t>
            </a:r>
            <a:r>
              <a:rPr lang="de-DE" sz="1000" dirty="0" err="1">
                <a:latin typeface="Pangolin" panose="00000500000000000000" pitchFamily="2" charset="0"/>
              </a:rPr>
              <a:t>you‘ll</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contents</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glasses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t>
            </a:r>
            <a:r>
              <a:rPr lang="de-DE" sz="1000" dirty="0" err="1">
                <a:latin typeface="Pangolin" panose="00000500000000000000" pitchFamily="2" charset="0"/>
              </a:rPr>
              <a:t>others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dirty="0">
                <a:latin typeface="Pangolin" panose="00000500000000000000" pitchFamily="2" charset="0"/>
              </a:rPr>
              <a:t>Easy </a:t>
            </a:r>
            <a:r>
              <a:rPr lang="de-DE" sz="1000" dirty="0" err="1">
                <a:latin typeface="Pangolin" panose="00000500000000000000" pitchFamily="2" charset="0"/>
              </a:rPr>
              <a:t>isn‘t</a:t>
            </a:r>
            <a:r>
              <a:rPr lang="de-DE" sz="1000" dirty="0">
                <a:latin typeface="Pangolin" panose="00000500000000000000" pitchFamily="2" charset="0"/>
              </a:rPr>
              <a:t> </a:t>
            </a:r>
            <a:r>
              <a:rPr lang="de-DE" sz="1000" dirty="0" err="1">
                <a:latin typeface="Pangolin" panose="00000500000000000000" pitchFamily="2" charset="0"/>
              </a:rPr>
              <a:t>it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246221"/>
          </a:xfrm>
          <a:prstGeom prst="rect">
            <a:avLst/>
          </a:prstGeom>
          <a:noFill/>
        </p:spPr>
        <p:txBody>
          <a:bodyPr wrap="square">
            <a:spAutoFit/>
          </a:bodyPr>
          <a:lstStyle/>
          <a:p>
            <a:pPr algn="ctr"/>
            <a:r>
              <a:rPr lang="de-DE" sz="1000" dirty="0">
                <a:latin typeface="Pangolin" panose="00000500000000000000" pitchFamily="2" charset="0"/>
              </a:rPr>
              <a:t>Just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mindful</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thing</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20637" y="6946152"/>
            <a:ext cx="2001066" cy="553998"/>
          </a:xfrm>
          <a:prstGeom prst="rect">
            <a:avLst/>
          </a:prstGeom>
          <a:noFill/>
        </p:spPr>
        <p:txBody>
          <a:bodyPr wrap="square">
            <a:spAutoFit/>
          </a:bodyPr>
          <a:lstStyle/>
          <a:p>
            <a:pPr algn="ctr"/>
            <a:r>
              <a:rPr lang="de-DE" sz="1000" dirty="0" err="1">
                <a:latin typeface="Pangolin" panose="00000500000000000000" pitchFamily="2" charset="0"/>
              </a:rPr>
              <a:t>You‘re</a:t>
            </a:r>
            <a:r>
              <a:rPr lang="de-DE" sz="1000" dirty="0">
                <a:latin typeface="Pangolin" panose="00000500000000000000" pitchFamily="2" charset="0"/>
              </a:rPr>
              <a:t> </a:t>
            </a:r>
            <a:r>
              <a:rPr lang="de-DE" sz="1000" dirty="0" err="1">
                <a:latin typeface="Pangolin" panose="00000500000000000000" pitchFamily="2" charset="0"/>
              </a:rPr>
              <a:t>actually</a:t>
            </a:r>
            <a:r>
              <a:rPr lang="de-DE" sz="1000" dirty="0">
                <a:latin typeface="Pangolin" panose="00000500000000000000" pitchFamily="2" charset="0"/>
              </a:rPr>
              <a:t> not </a:t>
            </a:r>
            <a:r>
              <a:rPr lang="de-DE" sz="1000" dirty="0" err="1">
                <a:latin typeface="Pangolin" panose="00000500000000000000" pitchFamily="2" charset="0"/>
              </a:rPr>
              <a:t>emptying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original </a:t>
            </a:r>
            <a:r>
              <a:rPr lang="de-DE" sz="1000" dirty="0" err="1">
                <a:latin typeface="Pangolin" panose="00000500000000000000" pitchFamily="2" charset="0"/>
              </a:rPr>
              <a:t>glass</a:t>
            </a:r>
            <a:r>
              <a:rPr lang="de-DE" sz="1000" dirty="0">
                <a:latin typeface="Pangolin" panose="00000500000000000000" pitchFamily="2" charset="0"/>
              </a:rPr>
              <a:t> but </a:t>
            </a:r>
            <a:r>
              <a:rPr lang="de-DE" sz="1000" dirty="0" err="1">
                <a:latin typeface="Pangolin" panose="00000500000000000000" pitchFamily="2" charset="0"/>
              </a:rPr>
              <a:t>copying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new</a:t>
            </a:r>
            <a:r>
              <a:rPr lang="de-DE" sz="1000" dirty="0">
                <a:latin typeface="Pangolin" panose="00000500000000000000" pitchFamily="2" charset="0"/>
              </a:rPr>
              <a:t> </a:t>
            </a:r>
            <a:r>
              <a:rPr lang="de-DE" sz="1000" dirty="0" err="1">
                <a:latin typeface="Pangolin" panose="00000500000000000000" pitchFamily="2" charset="0"/>
              </a:rPr>
              <a:t>cup</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2825"/>
            <a:ext cx="2001066" cy="553998"/>
          </a:xfrm>
          <a:prstGeom prst="rect">
            <a:avLst/>
          </a:prstGeom>
          <a:noFill/>
        </p:spPr>
        <p:txBody>
          <a:bodyPr wrap="square">
            <a:spAutoFit/>
          </a:bodyPr>
          <a:lstStyle/>
          <a:p>
            <a:pPr algn="ctr"/>
            <a:r>
              <a:rPr lang="de-DE" sz="1000" dirty="0">
                <a:latin typeface="Pangolin" panose="00000500000000000000" pitchFamily="2" charset="0"/>
              </a:rPr>
              <a:t>Also,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always</a:t>
            </a:r>
            <a:r>
              <a:rPr lang="de-DE" sz="1000" dirty="0">
                <a:latin typeface="Pangolin" panose="00000500000000000000" pitchFamily="2" charset="0"/>
              </a:rPr>
              <a:t> </a:t>
            </a:r>
            <a:r>
              <a:rPr lang="de-DE" sz="1000" dirty="0" err="1">
                <a:latin typeface="Pangolin" panose="00000500000000000000" pitchFamily="2" charset="0"/>
              </a:rPr>
              <a:t>copy</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 </a:t>
            </a:r>
            <a:r>
              <a:rPr lang="de-DE" sz="1000" dirty="0" err="1">
                <a:latin typeface="Pangolin" panose="00000500000000000000" pitchFamily="2" charset="0"/>
              </a:rPr>
              <a:t>smaller</a:t>
            </a:r>
            <a:r>
              <a:rPr lang="de-DE" sz="1000" dirty="0">
                <a:latin typeface="Pangolin" panose="00000500000000000000" pitchFamily="2" charset="0"/>
              </a:rPr>
              <a:t> </a:t>
            </a:r>
            <a:r>
              <a:rPr lang="de-DE" sz="1000" dirty="0" err="1">
                <a:latin typeface="Pangolin" panose="00000500000000000000" pitchFamily="2" charset="0"/>
              </a:rPr>
              <a:t>glass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larger </a:t>
            </a:r>
            <a:r>
              <a:rPr lang="de-DE" sz="1000" dirty="0" err="1">
                <a:latin typeface="Pangolin" panose="00000500000000000000" pitchFamily="2" charset="0"/>
              </a:rPr>
              <a:t>one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7378" y="7025490"/>
            <a:ext cx="2001066" cy="400110"/>
          </a:xfrm>
          <a:prstGeom prst="rect">
            <a:avLst/>
          </a:prstGeom>
          <a:noFill/>
        </p:spPr>
        <p:txBody>
          <a:bodyPr wrap="square">
            <a:spAutoFit/>
          </a:bodyPr>
          <a:lstStyle/>
          <a:p>
            <a:pPr algn="ctr"/>
            <a:r>
              <a:rPr lang="de-DE" sz="1000" dirty="0">
                <a:latin typeface="Pangolin" panose="00000500000000000000" pitchFamily="2" charset="0"/>
              </a:rPr>
              <a:t>But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happens</a:t>
            </a:r>
            <a:r>
              <a:rPr lang="de-DE" sz="1000" dirty="0">
                <a:latin typeface="Pangolin" panose="00000500000000000000" pitchFamily="2" charset="0"/>
              </a:rPr>
              <a:t> </a:t>
            </a:r>
            <a:r>
              <a:rPr lang="de-DE" sz="1000" dirty="0" err="1">
                <a:latin typeface="Pangolin" panose="00000500000000000000" pitchFamily="2" charset="0"/>
              </a:rPr>
              <a:t>when</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 </a:t>
            </a:r>
            <a:r>
              <a:rPr lang="de-DE" sz="1000" dirty="0" err="1">
                <a:latin typeface="Pangolin" panose="00000500000000000000" pitchFamily="2" charset="0"/>
              </a:rPr>
              <a:t>float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short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B4B5F40C-88AA-0AD0-C897-4688168D43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6B3840DB-51DF-3751-0381-BB4053551A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CD11470B-2BE9-04AB-10C6-7962DA3E30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62DFA8EF-2B1C-E1EF-A544-81117E643D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t="36570"/>
          <a:stretch/>
        </p:blipFill>
        <p:spPr>
          <a:xfrm>
            <a:off x="0" y="3622675"/>
            <a:ext cx="6858000" cy="6283017"/>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919579"/>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Only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part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will fit.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30545"/>
            <a:ext cx="1664942" cy="400110"/>
          </a:xfrm>
          <a:prstGeom prst="rect">
            <a:avLst/>
          </a:prstGeom>
          <a:noFill/>
        </p:spPr>
        <p:txBody>
          <a:bodyPr wrap="square">
            <a:spAutoFit/>
          </a:bodyPr>
          <a:lstStyle/>
          <a:p>
            <a:pPr algn="ctr"/>
            <a:r>
              <a:rPr lang="de-DE" sz="1000" dirty="0">
                <a:latin typeface="Pangolin" panose="00000500000000000000" pitchFamily="2" charset="0"/>
              </a:rPr>
              <a:t>And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rest</a:t>
            </a:r>
            <a:r>
              <a:rPr lang="de-DE" sz="1000" dirty="0">
                <a:latin typeface="Pangolin" panose="00000500000000000000" pitchFamily="2" charset="0"/>
              </a:rPr>
              <a:t> will </a:t>
            </a:r>
            <a:r>
              <a:rPr lang="de-DE" sz="1000" dirty="0" err="1">
                <a:latin typeface="Pangolin" panose="00000500000000000000" pitchFamily="2" charset="0"/>
              </a:rPr>
              <a:t>leave</a:t>
            </a:r>
            <a:r>
              <a:rPr lang="de-DE" sz="1000" dirty="0">
                <a:latin typeface="Pangolin" panose="00000500000000000000" pitchFamily="2" charset="0"/>
              </a:rPr>
              <a:t> a </a:t>
            </a:r>
            <a:r>
              <a:rPr lang="de-DE" sz="1000" dirty="0" err="1">
                <a:latin typeface="Pangolin" panose="00000500000000000000" pitchFamily="2" charset="0"/>
              </a:rPr>
              <a:t>huge</a:t>
            </a:r>
            <a:r>
              <a:rPr lang="de-DE" sz="1000" dirty="0">
                <a:latin typeface="Pangolin" panose="00000500000000000000" pitchFamily="2" charset="0"/>
              </a:rPr>
              <a:t> </a:t>
            </a:r>
            <a:r>
              <a:rPr lang="de-DE" sz="1000" dirty="0" err="1">
                <a:latin typeface="Pangolin" panose="00000500000000000000" pitchFamily="2" charset="0"/>
              </a:rPr>
              <a:t>mess</a:t>
            </a:r>
            <a:r>
              <a:rPr lang="de-DE" sz="1000" dirty="0">
                <a:latin typeface="Pangolin" panose="00000500000000000000" pitchFamily="2" charset="0"/>
              </a:rPr>
              <a:t> on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counter</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871749"/>
            <a:ext cx="2051050" cy="400110"/>
          </a:xfrm>
          <a:prstGeom prst="rect">
            <a:avLst/>
          </a:prstGeom>
          <a:noFill/>
        </p:spPr>
        <p:txBody>
          <a:bodyPr wrap="square">
            <a:spAutoFit/>
          </a:bodyPr>
          <a:lstStyle/>
          <a:p>
            <a:pPr algn="ctr"/>
            <a:r>
              <a:rPr lang="en-US" sz="1000" dirty="0">
                <a:latin typeface="Pangolin" panose="00000500000000000000" pitchFamily="2" charset="0"/>
              </a:rPr>
              <a:t>And whether that’s bad depends on the manager you’re working with,</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en-US" sz="1000" dirty="0">
                <a:latin typeface="Pangolin" panose="00000500000000000000" pitchFamily="2" charset="0"/>
              </a:rPr>
              <a:t>See this person here? She won’t be bothered much and will clean it up for you.</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29711" y="3996700"/>
            <a:ext cx="1793524" cy="400110"/>
          </a:xfrm>
          <a:prstGeom prst="rect">
            <a:avLst/>
          </a:prstGeom>
          <a:noFill/>
        </p:spPr>
        <p:txBody>
          <a:bodyPr wrap="square">
            <a:spAutoFit/>
          </a:bodyPr>
          <a:lstStyle/>
          <a:p>
            <a:pPr algn="ctr"/>
            <a:r>
              <a:rPr lang="en-US" sz="1000" dirty="0">
                <a:latin typeface="Pangolin" panose="00000500000000000000" pitchFamily="2" charset="0"/>
              </a:rPr>
              <a:t>But NEVER do this under his watch. He will throw a fit!</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928385"/>
            <a:ext cx="2001066" cy="400110"/>
          </a:xfrm>
          <a:prstGeom prst="rect">
            <a:avLst/>
          </a:prstGeom>
          <a:noFill/>
        </p:spPr>
        <p:txBody>
          <a:bodyPr wrap="square">
            <a:spAutoFit/>
          </a:bodyPr>
          <a:lstStyle/>
          <a:p>
            <a:pPr algn="ctr"/>
            <a:r>
              <a:rPr lang="de-DE" sz="1000" dirty="0">
                <a:latin typeface="Pangolin" panose="00000500000000000000" pitchFamily="2" charset="0"/>
              </a:rPr>
              <a:t>So </a:t>
            </a:r>
            <a:r>
              <a:rPr lang="de-DE" sz="1000" dirty="0" err="1">
                <a:latin typeface="Pangolin" panose="00000500000000000000" pitchFamily="2" charset="0"/>
              </a:rPr>
              <a:t>depending</a:t>
            </a:r>
            <a:r>
              <a:rPr lang="de-DE" sz="1000" dirty="0">
                <a:latin typeface="Pangolin" panose="00000500000000000000" pitchFamily="2" charset="0"/>
              </a:rPr>
              <a:t> on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working</a:t>
            </a:r>
            <a:r>
              <a:rPr lang="de-DE" sz="1000" dirty="0">
                <a:latin typeface="Pangolin" panose="00000500000000000000" pitchFamily="2" charset="0"/>
              </a:rPr>
              <a:t> on, </a:t>
            </a:r>
            <a:r>
              <a:rPr lang="de-DE" sz="1000" dirty="0" err="1">
                <a:latin typeface="Pangolin" panose="00000500000000000000" pitchFamily="2" charset="0"/>
              </a:rPr>
              <a:t>try</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avoid</a:t>
            </a:r>
            <a:r>
              <a:rPr lang="de-DE" sz="1000" dirty="0">
                <a:latin typeface="Pangolin" panose="00000500000000000000" pitchFamily="2" charset="0"/>
              </a:rPr>
              <a:t> it.</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82316" y="6842494"/>
            <a:ext cx="1708381" cy="600164"/>
          </a:xfrm>
          <a:prstGeom prst="rect">
            <a:avLst/>
          </a:prstGeom>
          <a:noFill/>
        </p:spPr>
        <p:txBody>
          <a:bodyPr wrap="square">
            <a:spAutoFit/>
          </a:bodyPr>
          <a:lstStyle/>
          <a:p>
            <a:r>
              <a:rPr lang="en-US" sz="1100" dirty="0">
                <a:solidFill>
                  <a:schemeClr val="tx1"/>
                </a:solidFill>
                <a:latin typeface="Pangolin" panose="00000500000000000000" pitchFamily="2" charset="0"/>
              </a:rPr>
              <a:t>You may ask yourself wh</a:t>
            </a:r>
            <a:r>
              <a:rPr lang="en-US" sz="1100" dirty="0">
                <a:latin typeface="Pangolin" panose="00000500000000000000" pitchFamily="2" charset="0"/>
              </a:rPr>
              <a:t>y don’t we just put everything into doubles.</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33366" y="6912989"/>
            <a:ext cx="1598682" cy="600164"/>
          </a:xfrm>
          <a:prstGeom prst="rect">
            <a:avLst/>
          </a:prstGeom>
          <a:noFill/>
        </p:spPr>
        <p:txBody>
          <a:bodyPr wrap="square">
            <a:spAutoFit/>
          </a:bodyPr>
          <a:lstStyle/>
          <a:p>
            <a:r>
              <a:rPr lang="en-US" sz="1100" dirty="0">
                <a:solidFill>
                  <a:schemeClr val="tx1"/>
                </a:solidFill>
                <a:latin typeface="Pangolin" panose="00000500000000000000" pitchFamily="2" charset="0"/>
              </a:rPr>
              <a:t>…but there wouldn’t be much space left on the tables…</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572365" y="9000435"/>
            <a:ext cx="1278892" cy="430887"/>
          </a:xfrm>
          <a:prstGeom prst="rect">
            <a:avLst/>
          </a:prstGeom>
          <a:noFill/>
        </p:spPr>
        <p:txBody>
          <a:bodyPr wrap="square">
            <a:spAutoFit/>
          </a:bodyPr>
          <a:lstStyle/>
          <a:p>
            <a:r>
              <a:rPr lang="en-US" sz="1100" dirty="0">
                <a:solidFill>
                  <a:schemeClr val="tx1"/>
                </a:solidFill>
                <a:latin typeface="Pangolin" panose="00000500000000000000" pitchFamily="2" charset="0"/>
              </a:rPr>
              <a:t>So please choose appropriate sizes.</a:t>
            </a:r>
            <a:endParaRPr lang="de-AT" sz="11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b="67833"/>
          <a:stretch/>
        </p:blipFill>
        <p:spPr>
          <a:xfrm>
            <a:off x="0" y="308"/>
            <a:ext cx="6858000" cy="3186238"/>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443163" y="726618"/>
            <a:ext cx="1604579"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This is all you need to know to get started,  so enjoy your first da-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dirty="0">
                <a:solidFill>
                  <a:schemeClr val="tx1"/>
                </a:solidFill>
                <a:latin typeface="Pangolin" panose="00000500000000000000" pitchFamily="2" charset="0"/>
              </a:rPr>
              <a:t>Hello!</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1334" y="787580"/>
            <a:ext cx="1821638" cy="553998"/>
          </a:xfrm>
          <a:prstGeom prst="rect">
            <a:avLst/>
          </a:prstGeom>
          <a:noFill/>
        </p:spPr>
        <p:txBody>
          <a:bodyPr wrap="square">
            <a:spAutoFit/>
          </a:bodyPr>
          <a:lstStyle/>
          <a:p>
            <a:pPr algn="ctr"/>
            <a:r>
              <a:rPr lang="en-US" sz="1000" dirty="0">
                <a:latin typeface="Pangolin" panose="00000500000000000000" pitchFamily="2" charset="0"/>
              </a:rPr>
              <a:t>I’m the new hire and my first shift should start today. I was told to come to you.</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742488" y="713739"/>
            <a:ext cx="1729123" cy="659796"/>
          </a:xfrm>
          <a:prstGeom prst="rect">
            <a:avLst/>
          </a:prstGeom>
          <a:noFill/>
        </p:spPr>
        <p:txBody>
          <a:bodyPr wrap="square">
            <a:spAutoFit/>
          </a:bodyPr>
          <a:lstStyle/>
          <a:p>
            <a:pPr algn="ctr">
              <a:lnSpc>
                <a:spcPts val="1500"/>
              </a:lnSpc>
            </a:pPr>
            <a:r>
              <a:rPr lang="en-US" sz="1000" dirty="0">
                <a:latin typeface="Pangolin" panose="00000500000000000000" pitchFamily="2" charset="0"/>
              </a:rPr>
              <a:t>You know what? I’m quite busy, how about you explain them what to do!</a:t>
            </a:r>
            <a:endParaRPr lang="de-AT" sz="1000" dirty="0">
              <a:solidFill>
                <a:schemeClr val="tx1"/>
              </a:solidFill>
              <a:latin typeface="Pangolin" panose="00000500000000000000" pitchFamily="2" charset="0"/>
            </a:endParaRPr>
          </a:p>
        </p:txBody>
      </p:sp>
      <p:sp>
        <p:nvSpPr>
          <p:cNvPr id="12" name="Rechteck 2">
            <a:extLst>
              <a:ext uri="{FF2B5EF4-FFF2-40B4-BE49-F238E27FC236}">
                <a16:creationId xmlns:a16="http://schemas.microsoft.com/office/drawing/2014/main" id="{087991FA-73FB-6CDE-8F92-4948647DE704}"/>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How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you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concept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primitive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types</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employee</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Use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space</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make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drawings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pic>
        <p:nvPicPr>
          <p:cNvPr id="13" name="Grafik 4">
            <a:extLst>
              <a:ext uri="{FF2B5EF4-FFF2-40B4-BE49-F238E27FC236}">
                <a16:creationId xmlns:a16="http://schemas.microsoft.com/office/drawing/2014/main" id="{10F2B2FA-C82D-6FEC-2D7E-5134381D3777}"/>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4" name="Rechteck 1">
            <a:extLst>
              <a:ext uri="{FF2B5EF4-FFF2-40B4-BE49-F238E27FC236}">
                <a16:creationId xmlns:a16="http://schemas.microsoft.com/office/drawing/2014/main" id="{CD026B19-8F30-75E5-8AE2-1FFE09BC4A40}"/>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76FD234E-A2A0-3C84-D038-1C475B3E64E0}"/>
              </a:ext>
            </a:extLst>
          </p:cNvPr>
          <p:cNvGrpSpPr/>
          <p:nvPr/>
        </p:nvGrpSpPr>
        <p:grpSpPr>
          <a:xfrm>
            <a:off x="455545" y="834411"/>
            <a:ext cx="3991534" cy="1935723"/>
            <a:chOff x="476251" y="4070465"/>
            <a:chExt cx="3991534" cy="1935723"/>
          </a:xfrm>
        </p:grpSpPr>
        <p:grpSp>
          <p:nvGrpSpPr>
            <p:cNvPr id="39" name="Group 38">
              <a:extLst>
                <a:ext uri="{FF2B5EF4-FFF2-40B4-BE49-F238E27FC236}">
                  <a16:creationId xmlns:a16="http://schemas.microsoft.com/office/drawing/2014/main" id="{AA49ADDA-88DA-FA29-FCD8-DC570293266F}"/>
                </a:ext>
              </a:extLst>
            </p:cNvPr>
            <p:cNvGrpSpPr/>
            <p:nvPr/>
          </p:nvGrpSpPr>
          <p:grpSpPr>
            <a:xfrm>
              <a:off x="476251" y="4584286"/>
              <a:ext cx="3991534" cy="1421902"/>
              <a:chOff x="471488" y="4593812"/>
              <a:chExt cx="3991534" cy="1421902"/>
            </a:xfrm>
          </p:grpSpPr>
          <p:pic>
            <p:nvPicPr>
              <p:cNvPr id="35" name="Grafik 12">
                <a:extLst>
                  <a:ext uri="{FF2B5EF4-FFF2-40B4-BE49-F238E27FC236}">
                    <a16:creationId xmlns:a16="http://schemas.microsoft.com/office/drawing/2014/main" id="{C5DC6928-5AFE-6363-6589-AB588CE9A2F7}"/>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18718" t="16053" r="4468" b="64395"/>
              <a:stretch/>
            </p:blipFill>
            <p:spPr>
              <a:xfrm>
                <a:off x="595392" y="4593812"/>
                <a:ext cx="3867630" cy="1421902"/>
              </a:xfrm>
              <a:prstGeom prst="rect">
                <a:avLst/>
              </a:prstGeom>
            </p:spPr>
          </p:pic>
          <p:sp>
            <p:nvSpPr>
              <p:cNvPr id="38" name="Freeform: Shape 37">
                <a:extLst>
                  <a:ext uri="{FF2B5EF4-FFF2-40B4-BE49-F238E27FC236}">
                    <a16:creationId xmlns:a16="http://schemas.microsoft.com/office/drawing/2014/main" id="{F72B423D-B3C2-6BBC-5B78-998EF334792E}"/>
                  </a:ext>
                </a:extLst>
              </p:cNvPr>
              <p:cNvSpPr/>
              <p:nvPr/>
            </p:nvSpPr>
            <p:spPr>
              <a:xfrm>
                <a:off x="471488" y="5214938"/>
                <a:ext cx="420809" cy="647856"/>
              </a:xfrm>
              <a:custGeom>
                <a:avLst/>
                <a:gdLst>
                  <a:gd name="connsiteX0" fmla="*/ 100012 w 420809"/>
                  <a:gd name="connsiteY0" fmla="*/ 585787 h 647856"/>
                  <a:gd name="connsiteX1" fmla="*/ 128587 w 420809"/>
                  <a:gd name="connsiteY1" fmla="*/ 495300 h 647856"/>
                  <a:gd name="connsiteX2" fmla="*/ 161925 w 420809"/>
                  <a:gd name="connsiteY2" fmla="*/ 461962 h 647856"/>
                  <a:gd name="connsiteX3" fmla="*/ 171450 w 420809"/>
                  <a:gd name="connsiteY3" fmla="*/ 438150 h 647856"/>
                  <a:gd name="connsiteX4" fmla="*/ 228600 w 420809"/>
                  <a:gd name="connsiteY4" fmla="*/ 414337 h 647856"/>
                  <a:gd name="connsiteX5" fmla="*/ 304800 w 420809"/>
                  <a:gd name="connsiteY5" fmla="*/ 404812 h 647856"/>
                  <a:gd name="connsiteX6" fmla="*/ 357187 w 420809"/>
                  <a:gd name="connsiteY6" fmla="*/ 381000 h 647856"/>
                  <a:gd name="connsiteX7" fmla="*/ 395287 w 420809"/>
                  <a:gd name="connsiteY7" fmla="*/ 352425 h 647856"/>
                  <a:gd name="connsiteX8" fmla="*/ 409575 w 420809"/>
                  <a:gd name="connsiteY8" fmla="*/ 328612 h 647856"/>
                  <a:gd name="connsiteX9" fmla="*/ 419100 w 420809"/>
                  <a:gd name="connsiteY9" fmla="*/ 138112 h 647856"/>
                  <a:gd name="connsiteX10" fmla="*/ 381000 w 420809"/>
                  <a:gd name="connsiteY10" fmla="*/ 23812 h 647856"/>
                  <a:gd name="connsiteX11" fmla="*/ 266700 w 420809"/>
                  <a:gd name="connsiteY11" fmla="*/ 0 h 647856"/>
                  <a:gd name="connsiteX12" fmla="*/ 214312 w 420809"/>
                  <a:gd name="connsiteY12" fmla="*/ 4762 h 647856"/>
                  <a:gd name="connsiteX13" fmla="*/ 133350 w 420809"/>
                  <a:gd name="connsiteY13" fmla="*/ 28575 h 647856"/>
                  <a:gd name="connsiteX14" fmla="*/ 90487 w 420809"/>
                  <a:gd name="connsiteY14" fmla="*/ 38100 h 647856"/>
                  <a:gd name="connsiteX15" fmla="*/ 66675 w 420809"/>
                  <a:gd name="connsiteY15" fmla="*/ 57150 h 647856"/>
                  <a:gd name="connsiteX16" fmla="*/ 61912 w 420809"/>
                  <a:gd name="connsiteY16" fmla="*/ 80962 h 647856"/>
                  <a:gd name="connsiteX17" fmla="*/ 42862 w 420809"/>
                  <a:gd name="connsiteY17" fmla="*/ 128587 h 647856"/>
                  <a:gd name="connsiteX18" fmla="*/ 33337 w 420809"/>
                  <a:gd name="connsiteY18" fmla="*/ 157162 h 647856"/>
                  <a:gd name="connsiteX19" fmla="*/ 19050 w 420809"/>
                  <a:gd name="connsiteY19" fmla="*/ 195262 h 647856"/>
                  <a:gd name="connsiteX20" fmla="*/ 0 w 420809"/>
                  <a:gd name="connsiteY20" fmla="*/ 261937 h 647856"/>
                  <a:gd name="connsiteX21" fmla="*/ 4762 w 420809"/>
                  <a:gd name="connsiteY21" fmla="*/ 633412 h 647856"/>
                  <a:gd name="connsiteX22" fmla="*/ 14287 w 420809"/>
                  <a:gd name="connsiteY22" fmla="*/ 647700 h 647856"/>
                  <a:gd name="connsiteX23" fmla="*/ 61912 w 420809"/>
                  <a:gd name="connsiteY23" fmla="*/ 638175 h 647856"/>
                  <a:gd name="connsiteX24" fmla="*/ 95250 w 420809"/>
                  <a:gd name="connsiteY24" fmla="*/ 609600 h 647856"/>
                  <a:gd name="connsiteX25" fmla="*/ 104775 w 420809"/>
                  <a:gd name="connsiteY25" fmla="*/ 585787 h 647856"/>
                  <a:gd name="connsiteX26" fmla="*/ 100012 w 420809"/>
                  <a:gd name="connsiteY26" fmla="*/ 585787 h 64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20809" h="647856">
                    <a:moveTo>
                      <a:pt x="100012" y="585787"/>
                    </a:moveTo>
                    <a:cubicBezTo>
                      <a:pt x="103981" y="570706"/>
                      <a:pt x="106104" y="522280"/>
                      <a:pt x="128587" y="495300"/>
                    </a:cubicBezTo>
                    <a:cubicBezTo>
                      <a:pt x="138648" y="483227"/>
                      <a:pt x="161925" y="461962"/>
                      <a:pt x="161925" y="461962"/>
                    </a:cubicBezTo>
                    <a:cubicBezTo>
                      <a:pt x="165100" y="454025"/>
                      <a:pt x="166919" y="445399"/>
                      <a:pt x="171450" y="438150"/>
                    </a:cubicBezTo>
                    <a:cubicBezTo>
                      <a:pt x="184839" y="416727"/>
                      <a:pt x="203603" y="418336"/>
                      <a:pt x="228600" y="414337"/>
                    </a:cubicBezTo>
                    <a:cubicBezTo>
                      <a:pt x="253876" y="410293"/>
                      <a:pt x="304800" y="404812"/>
                      <a:pt x="304800" y="404812"/>
                    </a:cubicBezTo>
                    <a:cubicBezTo>
                      <a:pt x="329734" y="396501"/>
                      <a:pt x="322582" y="399633"/>
                      <a:pt x="357187" y="381000"/>
                    </a:cubicBezTo>
                    <a:cubicBezTo>
                      <a:pt x="372477" y="372767"/>
                      <a:pt x="384857" y="366331"/>
                      <a:pt x="395287" y="352425"/>
                    </a:cubicBezTo>
                    <a:cubicBezTo>
                      <a:pt x="400841" y="345020"/>
                      <a:pt x="404812" y="336550"/>
                      <a:pt x="409575" y="328612"/>
                    </a:cubicBezTo>
                    <a:cubicBezTo>
                      <a:pt x="419768" y="257257"/>
                      <a:pt x="423245" y="241749"/>
                      <a:pt x="419100" y="138112"/>
                    </a:cubicBezTo>
                    <a:cubicBezTo>
                      <a:pt x="418080" y="112615"/>
                      <a:pt x="412946" y="45109"/>
                      <a:pt x="381000" y="23812"/>
                    </a:cubicBezTo>
                    <a:cubicBezTo>
                      <a:pt x="360263" y="9987"/>
                      <a:pt x="284232" y="2505"/>
                      <a:pt x="266700" y="0"/>
                    </a:cubicBezTo>
                    <a:cubicBezTo>
                      <a:pt x="249237" y="1587"/>
                      <a:pt x="231457" y="1088"/>
                      <a:pt x="214312" y="4762"/>
                    </a:cubicBezTo>
                    <a:cubicBezTo>
                      <a:pt x="186806" y="10656"/>
                      <a:pt x="160513" y="21262"/>
                      <a:pt x="133350" y="28575"/>
                    </a:cubicBezTo>
                    <a:cubicBezTo>
                      <a:pt x="119217" y="32380"/>
                      <a:pt x="104775" y="34925"/>
                      <a:pt x="90487" y="38100"/>
                    </a:cubicBezTo>
                    <a:cubicBezTo>
                      <a:pt x="82550" y="44450"/>
                      <a:pt x="72313" y="48692"/>
                      <a:pt x="66675" y="57150"/>
                    </a:cubicBezTo>
                    <a:cubicBezTo>
                      <a:pt x="62185" y="63885"/>
                      <a:pt x="64472" y="73283"/>
                      <a:pt x="61912" y="80962"/>
                    </a:cubicBezTo>
                    <a:cubicBezTo>
                      <a:pt x="56505" y="97182"/>
                      <a:pt x="48269" y="112367"/>
                      <a:pt x="42862" y="128587"/>
                    </a:cubicBezTo>
                    <a:cubicBezTo>
                      <a:pt x="39687" y="138112"/>
                      <a:pt x="36714" y="147707"/>
                      <a:pt x="33337" y="157162"/>
                    </a:cubicBezTo>
                    <a:cubicBezTo>
                      <a:pt x="28775" y="169935"/>
                      <a:pt x="23162" y="182337"/>
                      <a:pt x="19050" y="195262"/>
                    </a:cubicBezTo>
                    <a:cubicBezTo>
                      <a:pt x="12042" y="217288"/>
                      <a:pt x="6350" y="239712"/>
                      <a:pt x="0" y="261937"/>
                    </a:cubicBezTo>
                    <a:cubicBezTo>
                      <a:pt x="1587" y="385762"/>
                      <a:pt x="179" y="509662"/>
                      <a:pt x="4762" y="633412"/>
                    </a:cubicBezTo>
                    <a:cubicBezTo>
                      <a:pt x="4974" y="639132"/>
                      <a:pt x="8583" y="647225"/>
                      <a:pt x="14287" y="647700"/>
                    </a:cubicBezTo>
                    <a:cubicBezTo>
                      <a:pt x="30420" y="649045"/>
                      <a:pt x="46037" y="641350"/>
                      <a:pt x="61912" y="638175"/>
                    </a:cubicBezTo>
                    <a:cubicBezTo>
                      <a:pt x="73025" y="628650"/>
                      <a:pt x="85982" y="620928"/>
                      <a:pt x="95250" y="609600"/>
                    </a:cubicBezTo>
                    <a:cubicBezTo>
                      <a:pt x="100664" y="602983"/>
                      <a:pt x="101407" y="593645"/>
                      <a:pt x="104775" y="585787"/>
                    </a:cubicBezTo>
                    <a:cubicBezTo>
                      <a:pt x="106173" y="582524"/>
                      <a:pt x="96043" y="600868"/>
                      <a:pt x="100012" y="585787"/>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40" name="Textfeld 38">
              <a:extLst>
                <a:ext uri="{FF2B5EF4-FFF2-40B4-BE49-F238E27FC236}">
                  <a16:creationId xmlns:a16="http://schemas.microsoft.com/office/drawing/2014/main" id="{9F4E5CC5-A528-93D1-085F-5DE4840A3973}"/>
                </a:ext>
                <a:ext uri="{C183D7F6-B498-43B3-948B-1728B52AA6E4}">
                  <adec:decorative xmlns:adec="http://schemas.microsoft.com/office/drawing/2017/decorative" val="1"/>
                </a:ext>
              </a:extLst>
            </p:cNvPr>
            <p:cNvSpPr txBox="1"/>
            <p:nvPr/>
          </p:nvSpPr>
          <p:spPr>
            <a:xfrm>
              <a:off x="715228" y="5149832"/>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1" name="Textfeld 39">
              <a:extLst>
                <a:ext uri="{FF2B5EF4-FFF2-40B4-BE49-F238E27FC236}">
                  <a16:creationId xmlns:a16="http://schemas.microsoft.com/office/drawing/2014/main" id="{6E91409D-4B32-1E3C-0578-0406E0192CE5}"/>
                </a:ext>
                <a:ext uri="{C183D7F6-B498-43B3-948B-1728B52AA6E4}">
                  <adec:decorative xmlns:adec="http://schemas.microsoft.com/office/drawing/2017/decorative" val="1"/>
                </a:ext>
              </a:extLst>
            </p:cNvPr>
            <p:cNvSpPr txBox="1"/>
            <p:nvPr/>
          </p:nvSpPr>
          <p:spPr>
            <a:xfrm>
              <a:off x="1152378" y="5049873"/>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+ 32767</a:t>
              </a:r>
            </a:p>
          </p:txBody>
        </p:sp>
        <p:sp>
          <p:nvSpPr>
            <p:cNvPr id="42" name="Textfeld 40">
              <a:extLst>
                <a:ext uri="{FF2B5EF4-FFF2-40B4-BE49-F238E27FC236}">
                  <a16:creationId xmlns:a16="http://schemas.microsoft.com/office/drawing/2014/main" id="{DB87E8B8-484D-041D-51EF-E28AEEBAA643}"/>
                </a:ext>
                <a:ext uri="{C183D7F6-B498-43B3-948B-1728B52AA6E4}">
                  <adec:decorative xmlns:adec="http://schemas.microsoft.com/office/drawing/2017/decorative" val="1"/>
                </a:ext>
              </a:extLst>
            </p:cNvPr>
            <p:cNvSpPr txBox="1"/>
            <p:nvPr/>
          </p:nvSpPr>
          <p:spPr>
            <a:xfrm>
              <a:off x="1633691" y="4818964"/>
              <a:ext cx="794580" cy="553998"/>
            </a:xfrm>
            <a:prstGeom prst="rect">
              <a:avLst/>
            </a:prstGeom>
            <a:noFill/>
          </p:spPr>
          <p:txBody>
            <a:bodyPr wrap="square">
              <a:spAutoFit/>
            </a:bodyPr>
            <a:lstStyle/>
            <a:p>
              <a:pPr algn="ctr"/>
              <a:r>
                <a:rPr lang="de-DE" sz="1000" dirty="0">
                  <a:latin typeface="Pangolin" panose="00000500000000000000" pitchFamily="2" charset="0"/>
                </a:rPr>
                <a:t>- 2 x10^9</a:t>
              </a:r>
            </a:p>
            <a:p>
              <a:pPr algn="ctr"/>
              <a:r>
                <a:rPr lang="de-DE" sz="1000" dirty="0">
                  <a:latin typeface="Pangolin" panose="00000500000000000000" pitchFamily="2" charset="0"/>
                </a:rPr>
                <a:t>+ 2 x10^9</a:t>
              </a:r>
            </a:p>
            <a:p>
              <a:pPr algn="ctr"/>
              <a:endParaRPr lang="de-DE" sz="1000" dirty="0">
                <a:latin typeface="Pangolin" panose="00000500000000000000" pitchFamily="2" charset="0"/>
              </a:endParaRPr>
            </a:p>
          </p:txBody>
        </p:sp>
        <p:sp>
          <p:nvSpPr>
            <p:cNvPr id="43" name="Textfeld 41">
              <a:extLst>
                <a:ext uri="{FF2B5EF4-FFF2-40B4-BE49-F238E27FC236}">
                  <a16:creationId xmlns:a16="http://schemas.microsoft.com/office/drawing/2014/main" id="{5F7EBEE7-E2D4-1777-E928-C9FD04C3EFB6}"/>
                </a:ext>
                <a:ext uri="{C183D7F6-B498-43B3-948B-1728B52AA6E4}">
                  <adec:decorative xmlns:adec="http://schemas.microsoft.com/office/drawing/2017/decorative" val="1"/>
                </a:ext>
              </a:extLst>
            </p:cNvPr>
            <p:cNvSpPr txBox="1"/>
            <p:nvPr/>
          </p:nvSpPr>
          <p:spPr>
            <a:xfrm>
              <a:off x="2207311" y="4538197"/>
              <a:ext cx="794580" cy="400110"/>
            </a:xfrm>
            <a:prstGeom prst="rect">
              <a:avLst/>
            </a:prstGeom>
            <a:noFill/>
          </p:spPr>
          <p:txBody>
            <a:bodyPr wrap="square">
              <a:spAutoFit/>
            </a:bodyPr>
            <a:lstStyle/>
            <a:p>
              <a:pPr algn="ctr"/>
              <a:r>
                <a:rPr lang="de-DE" sz="1000" dirty="0">
                  <a:latin typeface="Pangolin" panose="00000500000000000000" pitchFamily="2" charset="0"/>
                </a:rPr>
                <a:t>- 9 x10^18</a:t>
              </a:r>
            </a:p>
            <a:p>
              <a:pPr algn="ctr"/>
              <a:r>
                <a:rPr lang="de-DE" sz="1000" dirty="0">
                  <a:latin typeface="Pangolin" panose="00000500000000000000" pitchFamily="2" charset="0"/>
                </a:rPr>
                <a:t>+ 9 x10^18</a:t>
              </a:r>
            </a:p>
          </p:txBody>
        </p:sp>
        <p:sp>
          <p:nvSpPr>
            <p:cNvPr id="44" name="Textfeld 42">
              <a:extLst>
                <a:ext uri="{FF2B5EF4-FFF2-40B4-BE49-F238E27FC236}">
                  <a16:creationId xmlns:a16="http://schemas.microsoft.com/office/drawing/2014/main" id="{FA79DCF1-1F17-90CC-5BA4-B9516CE59732}"/>
                </a:ext>
                <a:ext uri="{C183D7F6-B498-43B3-948B-1728B52AA6E4}">
                  <adec:decorative xmlns:adec="http://schemas.microsoft.com/office/drawing/2017/decorative" val="1"/>
                </a:ext>
              </a:extLst>
            </p:cNvPr>
            <p:cNvSpPr txBox="1"/>
            <p:nvPr/>
          </p:nvSpPr>
          <p:spPr>
            <a:xfrm>
              <a:off x="2749013" y="4290468"/>
              <a:ext cx="933987" cy="400110"/>
            </a:xfrm>
            <a:prstGeom prst="rect">
              <a:avLst/>
            </a:prstGeom>
            <a:noFill/>
          </p:spPr>
          <p:txBody>
            <a:bodyPr wrap="square">
              <a:spAutoFit/>
            </a:bodyPr>
            <a:lstStyle/>
            <a:p>
              <a:pPr algn="ctr"/>
              <a:r>
                <a:rPr lang="de-DE" sz="1000" dirty="0">
                  <a:latin typeface="Pangolin" panose="00000500000000000000" pitchFamily="2" charset="0"/>
                </a:rPr>
                <a:t>- 3.40e38</a:t>
              </a:r>
            </a:p>
            <a:p>
              <a:pPr algn="ctr"/>
              <a:r>
                <a:rPr lang="de-DE" sz="1000" dirty="0">
                  <a:latin typeface="Pangolin" panose="00000500000000000000" pitchFamily="2" charset="0"/>
                </a:rPr>
                <a:t>+ 3.40e38</a:t>
              </a:r>
            </a:p>
          </p:txBody>
        </p:sp>
        <p:sp>
          <p:nvSpPr>
            <p:cNvPr id="45" name="Textfeld 43">
              <a:extLst>
                <a:ext uri="{FF2B5EF4-FFF2-40B4-BE49-F238E27FC236}">
                  <a16:creationId xmlns:a16="http://schemas.microsoft.com/office/drawing/2014/main" id="{FEF164DB-F8A9-F0F6-721A-3D1B1DCF19D4}"/>
                </a:ext>
                <a:ext uri="{C183D7F6-B498-43B3-948B-1728B52AA6E4}">
                  <adec:decorative xmlns:adec="http://schemas.microsoft.com/office/drawing/2017/decorative" val="1"/>
                </a:ext>
              </a:extLst>
            </p:cNvPr>
            <p:cNvSpPr txBox="1"/>
            <p:nvPr/>
          </p:nvSpPr>
          <p:spPr>
            <a:xfrm>
              <a:off x="3458368" y="4070465"/>
              <a:ext cx="933987" cy="400110"/>
            </a:xfrm>
            <a:prstGeom prst="rect">
              <a:avLst/>
            </a:prstGeom>
            <a:noFill/>
          </p:spPr>
          <p:txBody>
            <a:bodyPr wrap="square">
              <a:spAutoFit/>
            </a:bodyPr>
            <a:lstStyle/>
            <a:p>
              <a:pPr algn="ctr"/>
              <a:r>
                <a:rPr lang="de-DE" sz="1000" dirty="0">
                  <a:latin typeface="Pangolin" panose="00000500000000000000" pitchFamily="2" charset="0"/>
                </a:rPr>
                <a:t>- 1.80e308</a:t>
              </a:r>
            </a:p>
            <a:p>
              <a:pPr algn="ctr"/>
              <a:r>
                <a:rPr lang="de-DE" sz="1000" dirty="0">
                  <a:latin typeface="Pangolin" panose="00000500000000000000" pitchFamily="2" charset="0"/>
                </a:rPr>
                <a:t>+ 1.80e308</a:t>
              </a:r>
            </a:p>
          </p:txBody>
        </p:sp>
        <p:sp>
          <p:nvSpPr>
            <p:cNvPr id="46" name="Textfeld 44">
              <a:extLst>
                <a:ext uri="{FF2B5EF4-FFF2-40B4-BE49-F238E27FC236}">
                  <a16:creationId xmlns:a16="http://schemas.microsoft.com/office/drawing/2014/main" id="{9F814A4D-C20D-50CF-9E25-7C946B82382B}"/>
                </a:ext>
                <a:ext uri="{C183D7F6-B498-43B3-948B-1728B52AA6E4}">
                  <adec:decorative xmlns:adec="http://schemas.microsoft.com/office/drawing/2017/decorative" val="1"/>
                </a:ext>
              </a:extLst>
            </p:cNvPr>
            <p:cNvSpPr txBox="1"/>
            <p:nvPr/>
          </p:nvSpPr>
          <p:spPr>
            <a:xfrm>
              <a:off x="732610" y="5700757"/>
              <a:ext cx="579564" cy="246221"/>
            </a:xfrm>
            <a:prstGeom prst="rect">
              <a:avLst/>
            </a:prstGeom>
            <a:noFill/>
          </p:spPr>
          <p:txBody>
            <a:bodyPr wrap="square">
              <a:spAutoFit/>
            </a:bodyPr>
            <a:lstStyle/>
            <a:p>
              <a:pPr algn="ctr"/>
              <a:r>
                <a:rPr lang="de-DE" sz="1000" dirty="0" err="1">
                  <a:latin typeface="Pangolin" panose="00000500000000000000" pitchFamily="2" charset="0"/>
                </a:rPr>
                <a:t>sbyte</a:t>
              </a:r>
              <a:endParaRPr lang="de-AT" sz="1000" dirty="0">
                <a:solidFill>
                  <a:schemeClr val="tx1"/>
                </a:solidFill>
                <a:latin typeface="Pangolin" panose="00000500000000000000" pitchFamily="2" charset="0"/>
              </a:endParaRPr>
            </a:p>
          </p:txBody>
        </p:sp>
        <p:sp>
          <p:nvSpPr>
            <p:cNvPr id="47" name="Textfeld 45">
              <a:extLst>
                <a:ext uri="{FF2B5EF4-FFF2-40B4-BE49-F238E27FC236}">
                  <a16:creationId xmlns:a16="http://schemas.microsoft.com/office/drawing/2014/main" id="{A99AB91E-F487-7F29-5BE5-11B73E1E7C6D}"/>
                </a:ext>
                <a:ext uri="{C183D7F6-B498-43B3-948B-1728B52AA6E4}">
                  <adec:decorative xmlns:adec="http://schemas.microsoft.com/office/drawing/2017/decorative" val="1"/>
                </a:ext>
              </a:extLst>
            </p:cNvPr>
            <p:cNvSpPr txBox="1"/>
            <p:nvPr/>
          </p:nvSpPr>
          <p:spPr>
            <a:xfrm>
              <a:off x="1236270" y="5683700"/>
              <a:ext cx="579564" cy="246221"/>
            </a:xfrm>
            <a:prstGeom prst="rect">
              <a:avLst/>
            </a:prstGeom>
            <a:noFill/>
          </p:spPr>
          <p:txBody>
            <a:bodyPr wrap="square">
              <a:spAutoFit/>
            </a:bodyPr>
            <a:lstStyle/>
            <a:p>
              <a:pPr algn="ctr"/>
              <a:r>
                <a:rPr lang="de-DE" sz="1000" dirty="0" err="1">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8" name="Textfeld 46">
              <a:extLst>
                <a:ext uri="{FF2B5EF4-FFF2-40B4-BE49-F238E27FC236}">
                  <a16:creationId xmlns:a16="http://schemas.microsoft.com/office/drawing/2014/main" id="{0BD39620-2162-C6BD-85B5-2A6ABD1CFF35}"/>
                </a:ext>
                <a:ext uri="{C183D7F6-B498-43B3-948B-1728B52AA6E4}">
                  <adec:decorative xmlns:adec="http://schemas.microsoft.com/office/drawing/2017/decorative" val="1"/>
                </a:ext>
              </a:extLst>
            </p:cNvPr>
            <p:cNvSpPr txBox="1"/>
            <p:nvPr/>
          </p:nvSpPr>
          <p:spPr>
            <a:xfrm>
              <a:off x="1752813" y="5691321"/>
              <a:ext cx="579564"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9" name="Textfeld 47">
              <a:extLst>
                <a:ext uri="{FF2B5EF4-FFF2-40B4-BE49-F238E27FC236}">
                  <a16:creationId xmlns:a16="http://schemas.microsoft.com/office/drawing/2014/main" id="{62145D81-CD2D-2523-E446-EE54936ADB16}"/>
                </a:ext>
                <a:ext uri="{C183D7F6-B498-43B3-948B-1728B52AA6E4}">
                  <adec:decorative xmlns:adec="http://schemas.microsoft.com/office/drawing/2017/decorative" val="1"/>
                </a:ext>
              </a:extLst>
            </p:cNvPr>
            <p:cNvSpPr txBox="1"/>
            <p:nvPr/>
          </p:nvSpPr>
          <p:spPr>
            <a:xfrm>
              <a:off x="2314819" y="568292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50" name="Textfeld 48">
              <a:extLst>
                <a:ext uri="{FF2B5EF4-FFF2-40B4-BE49-F238E27FC236}">
                  <a16:creationId xmlns:a16="http://schemas.microsoft.com/office/drawing/2014/main" id="{1304DFA3-F4A2-47A8-4EFD-72A02CE3880A}"/>
                </a:ext>
                <a:ext uri="{C183D7F6-B498-43B3-948B-1728B52AA6E4}">
                  <adec:decorative xmlns:adec="http://schemas.microsoft.com/office/drawing/2017/decorative" val="1"/>
                </a:ext>
              </a:extLst>
            </p:cNvPr>
            <p:cNvSpPr txBox="1"/>
            <p:nvPr/>
          </p:nvSpPr>
          <p:spPr>
            <a:xfrm>
              <a:off x="2867112" y="567489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1" name="Textfeld 49">
              <a:extLst>
                <a:ext uri="{FF2B5EF4-FFF2-40B4-BE49-F238E27FC236}">
                  <a16:creationId xmlns:a16="http://schemas.microsoft.com/office/drawing/2014/main" id="{F2437AE8-0321-E13F-B89B-5D8A0FBEE5A6}"/>
                </a:ext>
                <a:ext uri="{C183D7F6-B498-43B3-948B-1728B52AA6E4}">
                  <adec:decorative xmlns:adec="http://schemas.microsoft.com/office/drawing/2017/decorative" val="1"/>
                </a:ext>
              </a:extLst>
            </p:cNvPr>
            <p:cNvSpPr txBox="1"/>
            <p:nvPr/>
          </p:nvSpPr>
          <p:spPr>
            <a:xfrm>
              <a:off x="3526085" y="5675302"/>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grpSp>
      <p:pic>
        <p:nvPicPr>
          <p:cNvPr id="54" name="Picture 6">
            <a:extLst>
              <a:ext uri="{FF2B5EF4-FFF2-40B4-BE49-F238E27FC236}">
                <a16:creationId xmlns:a16="http://schemas.microsoft.com/office/drawing/2014/main" id="{E536BA91-A9B8-F4FC-3962-6B3042770E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27371" y="910587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6">
            <a:extLst>
              <a:ext uri="{FF2B5EF4-FFF2-40B4-BE49-F238E27FC236}">
                <a16:creationId xmlns:a16="http://schemas.microsoft.com/office/drawing/2014/main" id="{78CD46DF-C6F9-EF5D-5D56-83713B255A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19752" y="2728271"/>
            <a:ext cx="4241269" cy="510523"/>
          </a:xfrm>
          <a:prstGeom prst="rect">
            <a:avLst/>
          </a:prstGeom>
          <a:noFill/>
          <a:extLst>
            <a:ext uri="{909E8E84-426E-40DD-AFC4-6F175D3DCCD1}">
              <a14:hiddenFill xmlns:a14="http://schemas.microsoft.com/office/drawing/2010/main">
                <a:solidFill>
                  <a:srgbClr val="FFFFFF"/>
                </a:solidFill>
              </a14:hiddenFill>
            </a:ext>
          </a:extLst>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30" name="Picture 6">
            <a:extLst>
              <a:ext uri="{FF2B5EF4-FFF2-40B4-BE49-F238E27FC236}">
                <a16:creationId xmlns:a16="http://schemas.microsoft.com/office/drawing/2014/main" id="{361D9650-CD80-3E7F-4B49-CF1107D205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40012" y="599183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3EFEDDF7-D484-E1D5-6A3E-304A1D92E9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770822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8EC0386-16E6-0A09-566C-3BECF3D4E8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4575848"/>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348C5CE8-E851-4916-0149-DD8D380C34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400227"/>
            <a:ext cx="2063330" cy="472369"/>
          </a:xfrm>
          <a:prstGeom prst="rect">
            <a:avLst/>
          </a:prstGeom>
          <a:noFill/>
          <a:extLst>
            <a:ext uri="{909E8E84-426E-40DD-AFC4-6F175D3DCCD1}">
              <a14:hiddenFill xmlns:a14="http://schemas.microsoft.com/office/drawing/2010/main">
                <a:solidFill>
                  <a:srgbClr val="FFFFFF"/>
                </a:solidFill>
              </a14:hiddenFill>
            </a:ext>
          </a:extLst>
        </p:spPr>
      </p:pic>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3468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de-DE" sz="1000" dirty="0">
                <a:latin typeface="Pangolin" panose="00000500000000000000" pitchFamily="2" charset="0"/>
              </a:rPr>
              <a:t>Primitive Data Types</a:t>
            </a: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C# (C-Sharp)</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4" y="734897"/>
            <a:ext cx="2044169" cy="707886"/>
          </a:xfrm>
          <a:prstGeom prst="rect">
            <a:avLst/>
          </a:prstGeom>
          <a:noFill/>
        </p:spPr>
        <p:txBody>
          <a:bodyPr wrap="square">
            <a:spAutoFit/>
          </a:bodyPr>
          <a:lstStyle/>
          <a:p>
            <a:pPr algn="ctr"/>
            <a:r>
              <a:rPr lang="en-US" sz="1000" dirty="0">
                <a:highlight>
                  <a:srgbClr val="C0C0C0"/>
                </a:highlight>
                <a:latin typeface="Pangolin" panose="00000500000000000000" pitchFamily="2" charset="0"/>
              </a:rPr>
              <a:t>Primitive types</a:t>
            </a:r>
            <a:r>
              <a:rPr lang="en-US" sz="1000" dirty="0">
                <a:latin typeface="Pangolin" panose="00000500000000000000" pitchFamily="2" charset="0"/>
              </a:rPr>
              <a:t> are predefined by the programming language itself. Here are the equivalent types and their ranges for other languages.</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err="1">
                <a:solidFill>
                  <a:schemeClr val="tx1"/>
                </a:solidFill>
                <a:latin typeface="Pangolin" panose="00000500000000000000" pitchFamily="2" charset="0"/>
              </a:rPr>
              <a:t>Javascript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Python</a:t>
            </a:r>
            <a:endParaRPr lang="de-AT" sz="1400" b="1"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4957"/>
            <a:ext cx="2044169" cy="1015663"/>
          </a:xfrm>
          <a:prstGeom prst="rect">
            <a:avLst/>
          </a:prstGeom>
          <a:noFill/>
        </p:spPr>
        <p:txBody>
          <a:bodyPr wrap="square">
            <a:spAutoFit/>
          </a:bodyPr>
          <a:lstStyle/>
          <a:p>
            <a:pPr algn="ctr"/>
            <a:r>
              <a:rPr lang="en-US" sz="1000" dirty="0">
                <a:latin typeface="Pangolin" panose="00000500000000000000" pitchFamily="2" charset="0"/>
              </a:rPr>
              <a:t>While many languages share similar primitive types such as integers, </a:t>
            </a:r>
            <a:r>
              <a:rPr lang="en-US" sz="1000" dirty="0" err="1">
                <a:latin typeface="Pangolin" panose="00000500000000000000" pitchFamily="2" charset="0"/>
              </a:rPr>
              <a:t>boolean</a:t>
            </a:r>
            <a:r>
              <a:rPr lang="en-US" sz="1000" dirty="0">
                <a:latin typeface="Pangolin" panose="00000500000000000000" pitchFamily="2" charset="0"/>
              </a:rPr>
              <a:t> values, and characters, the specific names, ranges, and behaviors of these types can </a:t>
            </a:r>
            <a:r>
              <a:rPr lang="en-US" sz="1000" dirty="0">
                <a:highlight>
                  <a:srgbClr val="C0C0C0"/>
                </a:highlight>
                <a:latin typeface="Pangolin" panose="00000500000000000000" pitchFamily="2" charset="0"/>
              </a:rPr>
              <a:t>vary between languages</a:t>
            </a:r>
            <a:r>
              <a:rPr lang="en-US" sz="1000" dirty="0">
                <a:latin typeface="Pangolin" panose="00000500000000000000" pitchFamily="2" charset="0"/>
              </a:rPr>
              <a:t>. </a:t>
            </a:r>
            <a:endParaRPr lang="de-AT" sz="1000" dirty="0">
              <a:solidFill>
                <a:schemeClr val="tx1"/>
              </a:solidFill>
              <a:latin typeface="Pangolin" panose="00000500000000000000" pitchFamily="2" charset="0"/>
            </a:endParaRPr>
          </a:p>
        </p:txBody>
      </p:sp>
      <p:pic>
        <p:nvPicPr>
          <p:cNvPr id="24" name="Picture 23">
            <a:extLst>
              <a:ext uri="{FF2B5EF4-FFF2-40B4-BE49-F238E27FC236}">
                <a16:creationId xmlns:a16="http://schemas.microsoft.com/office/drawing/2014/main" id="{15A7691F-32E3-0D7D-968E-0553D2DA04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81001" y="8118158"/>
            <a:ext cx="1212313" cy="1554480"/>
          </a:xfrm>
          <a:prstGeom prst="rect">
            <a:avLst/>
          </a:prstGeom>
        </p:spPr>
      </p:pic>
      <p:pic>
        <p:nvPicPr>
          <p:cNvPr id="30" name="Picture 29">
            <a:extLst>
              <a:ext uri="{FF2B5EF4-FFF2-40B4-BE49-F238E27FC236}">
                <a16:creationId xmlns:a16="http://schemas.microsoft.com/office/drawing/2014/main" id="{87CD613C-1BEE-155D-ABFE-C478D3109C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4893968" y="1929289"/>
            <a:ext cx="1135704" cy="1554480"/>
          </a:xfrm>
          <a:prstGeom prst="rect">
            <a:avLst/>
          </a:prstGeom>
        </p:spPr>
      </p:pic>
      <p:sp>
        <p:nvSpPr>
          <p:cNvPr id="9" name="Textfeld 11">
            <a:extLst>
              <a:ext uri="{FF2B5EF4-FFF2-40B4-BE49-F238E27FC236}">
                <a16:creationId xmlns:a16="http://schemas.microsoft.com/office/drawing/2014/main" id="{5A6E3F4E-84A8-A3D2-0DE4-68DB17EAC17F}"/>
              </a:ext>
            </a:extLst>
          </p:cNvPr>
          <p:cNvSpPr txBox="1"/>
          <p:nvPr/>
        </p:nvSpPr>
        <p:spPr>
          <a:xfrm>
            <a:off x="4581524" y="3740029"/>
            <a:ext cx="2044170" cy="1015663"/>
          </a:xfrm>
          <a:prstGeom prst="rect">
            <a:avLst/>
          </a:prstGeom>
          <a:noFill/>
        </p:spPr>
        <p:txBody>
          <a:bodyPr wrap="square">
            <a:spAutoFit/>
          </a:bodyPr>
          <a:lstStyle/>
          <a:p>
            <a:pPr algn="ctr"/>
            <a:r>
              <a:rPr lang="en-US" sz="1000" dirty="0">
                <a:latin typeface="Pangolin" panose="00000500000000000000" pitchFamily="2" charset="0"/>
              </a:rPr>
              <a:t>Be aware that primitive types provide the programmer with essential data types for </a:t>
            </a:r>
            <a:r>
              <a:rPr lang="en-US" sz="1000" dirty="0">
                <a:highlight>
                  <a:srgbClr val="C0C0C0"/>
                </a:highlight>
                <a:latin typeface="Pangolin" panose="00000500000000000000" pitchFamily="2" charset="0"/>
              </a:rPr>
              <a:t>storing and manipulating data</a:t>
            </a:r>
            <a:r>
              <a:rPr lang="en-US" sz="1000" dirty="0">
                <a:latin typeface="Pangolin" panose="00000500000000000000" pitchFamily="2" charset="0"/>
              </a:rPr>
              <a:t> efficiently, often optimized for performance and memory usage.</a:t>
            </a:r>
            <a:endParaRPr lang="de-AT" sz="1000" dirty="0">
              <a:solidFill>
                <a:schemeClr val="tx1"/>
              </a:solidFill>
              <a:latin typeface="Pangolin" panose="00000500000000000000" pitchFamily="2" charset="0"/>
            </a:endParaRPr>
          </a:p>
        </p:txBody>
      </p:sp>
      <p:pic>
        <p:nvPicPr>
          <p:cNvPr id="1026" name="Picture 2">
            <a:extLst>
              <a:ext uri="{FF2B5EF4-FFF2-40B4-BE49-F238E27FC236}">
                <a16:creationId xmlns:a16="http://schemas.microsoft.com/office/drawing/2014/main" id="{5D3B7C01-3045-6D1D-285D-9238E2DE2E9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89764" y="5020763"/>
            <a:ext cx="827685" cy="155448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AD64F54-AEFA-E616-A295-7DEC2FA8F8F2}"/>
              </a:ext>
            </a:extLst>
          </p:cNvPr>
          <p:cNvSpPr txBox="1"/>
          <p:nvPr/>
        </p:nvSpPr>
        <p:spPr>
          <a:xfrm>
            <a:off x="867784" y="4187237"/>
            <a:ext cx="3555137" cy="1477328"/>
          </a:xfrm>
          <a:prstGeom prst="rect">
            <a:avLst/>
          </a:prstGeom>
          <a:noFill/>
        </p:spPr>
        <p:txBody>
          <a:bodyPr wrap="square" rtlCol="0">
            <a:spAutoFit/>
          </a:bodyPr>
          <a:lstStyle/>
          <a:p>
            <a:r>
              <a:rPr lang="en-US" sz="1000" b="1" dirty="0">
                <a:latin typeface="Pangolin" panose="00000500000000000000" pitchFamily="2" charset="0"/>
              </a:rPr>
              <a:t>Number</a:t>
            </a:r>
            <a:r>
              <a:rPr lang="en-US" sz="1000" dirty="0">
                <a:latin typeface="Pangolin" panose="00000500000000000000" pitchFamily="2" charset="0"/>
              </a:rPr>
              <a:t>: Represents all numeric values*</a:t>
            </a:r>
          </a:p>
          <a:p>
            <a:endParaRPr lang="en-US" sz="1000" dirty="0">
              <a:latin typeface="Pangolin" panose="00000500000000000000" pitchFamily="2" charset="0"/>
            </a:endParaRPr>
          </a:p>
          <a:p>
            <a:r>
              <a:rPr lang="en-US" sz="1000" b="1" dirty="0">
                <a:latin typeface="Pangolin" panose="00000500000000000000" pitchFamily="2" charset="0"/>
              </a:rPr>
              <a:t>Boolean</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String</a:t>
            </a:r>
            <a:r>
              <a:rPr lang="en-US" sz="1000" dirty="0">
                <a:latin typeface="Pangolin" panose="00000500000000000000" pitchFamily="2" charset="0"/>
              </a:rPr>
              <a:t>: Represents a sequence of characters</a:t>
            </a:r>
          </a:p>
          <a:p>
            <a:endParaRPr lang="en-US" sz="1000" dirty="0">
              <a:latin typeface="Pangolin" panose="00000500000000000000" pitchFamily="2" charset="0"/>
            </a:endParaRPr>
          </a:p>
          <a:p>
            <a:r>
              <a:rPr lang="en-US" sz="1000" b="1" dirty="0">
                <a:latin typeface="Pangolin" panose="00000500000000000000" pitchFamily="2" charset="0"/>
              </a:rPr>
              <a:t>Undefined</a:t>
            </a:r>
            <a:r>
              <a:rPr lang="en-US" sz="1000" dirty="0">
                <a:latin typeface="Pangolin" panose="00000500000000000000" pitchFamily="2" charset="0"/>
              </a:rPr>
              <a:t>: Represents an uninitialized or undefined value</a:t>
            </a:r>
          </a:p>
          <a:p>
            <a:endParaRPr lang="en-US" sz="1000" dirty="0">
              <a:latin typeface="Pangolin" panose="00000500000000000000" pitchFamily="2" charset="0"/>
            </a:endParaRPr>
          </a:p>
          <a:p>
            <a:r>
              <a:rPr lang="en-US" sz="1000" b="1" dirty="0">
                <a:latin typeface="Pangolin" panose="00000500000000000000" pitchFamily="2" charset="0"/>
              </a:rPr>
              <a:t>Null</a:t>
            </a:r>
            <a:r>
              <a:rPr lang="en-US" sz="1000" dirty="0">
                <a:latin typeface="Pangolin" panose="00000500000000000000" pitchFamily="2" charset="0"/>
              </a:rPr>
              <a:t>: Represents an intentional absence of any object value</a:t>
            </a:r>
            <a:endParaRPr lang="es-419" sz="1000" dirty="0">
              <a:latin typeface="Pangolin" panose="00000500000000000000" pitchFamily="2" charset="0"/>
            </a:endParaRPr>
          </a:p>
        </p:txBody>
      </p:sp>
      <p:sp>
        <p:nvSpPr>
          <p:cNvPr id="21" name="TextBox 20">
            <a:extLst>
              <a:ext uri="{FF2B5EF4-FFF2-40B4-BE49-F238E27FC236}">
                <a16:creationId xmlns:a16="http://schemas.microsoft.com/office/drawing/2014/main" id="{849BA101-214A-87EB-B061-C52CCF5E22B0}"/>
              </a:ext>
            </a:extLst>
          </p:cNvPr>
          <p:cNvSpPr txBox="1"/>
          <p:nvPr/>
        </p:nvSpPr>
        <p:spPr>
          <a:xfrm>
            <a:off x="496656" y="6102244"/>
            <a:ext cx="3744286" cy="400110"/>
          </a:xfrm>
          <a:prstGeom prst="rect">
            <a:avLst/>
          </a:prstGeom>
          <a:noFill/>
        </p:spPr>
        <p:txBody>
          <a:bodyPr wrap="square" rtlCol="0">
            <a:spAutoFit/>
          </a:bodyPr>
          <a:lstStyle/>
          <a:p>
            <a:pPr algn="ctr"/>
            <a:r>
              <a:rPr lang="en-US" sz="1000" dirty="0">
                <a:latin typeface="Pangolin" panose="00000500000000000000" pitchFamily="2" charset="0"/>
              </a:rPr>
              <a:t>*The type “number” includes integers and floating-point numbers.  </a:t>
            </a:r>
            <a:br>
              <a:rPr lang="en-US" sz="1000" dirty="0">
                <a:latin typeface="Pangolin" panose="00000500000000000000" pitchFamily="2" charset="0"/>
              </a:rPr>
            </a:br>
            <a:r>
              <a:rPr lang="en-US" sz="1000" dirty="0">
                <a:latin typeface="Pangolin" panose="00000500000000000000" pitchFamily="2" charset="0"/>
              </a:rPr>
              <a:t>JavaScript doesn't have specific types like byte, short, or long.</a:t>
            </a:r>
            <a:endParaRPr lang="es-419" sz="1000" dirty="0">
              <a:latin typeface="Pangolin" panose="00000500000000000000" pitchFamily="2" charset="0"/>
            </a:endParaRPr>
          </a:p>
        </p:txBody>
      </p:sp>
      <p:pic>
        <p:nvPicPr>
          <p:cNvPr id="1032" name="Picture 8">
            <a:extLst>
              <a:ext uri="{FF2B5EF4-FFF2-40B4-BE49-F238E27FC236}">
                <a16:creationId xmlns:a16="http://schemas.microsoft.com/office/drawing/2014/main" id="{345B88E8-7363-B4E9-F791-5023A70C3B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12010" y="4496088"/>
            <a:ext cx="247824" cy="22717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A group of people with speech bubbles&#10;&#10;Description automatically generated">
            <a:extLst>
              <a:ext uri="{FF2B5EF4-FFF2-40B4-BE49-F238E27FC236}">
                <a16:creationId xmlns:a16="http://schemas.microsoft.com/office/drawing/2014/main" id="{70148CC0-F701-BC6C-D6F6-A022AF56C8D3}"/>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432445" y="4211040"/>
            <a:ext cx="124621" cy="207168"/>
          </a:xfrm>
          <a:prstGeom prst="rect">
            <a:avLst/>
          </a:prstGeom>
        </p:spPr>
      </p:pic>
      <p:pic>
        <p:nvPicPr>
          <p:cNvPr id="1036" name="Picture 12">
            <a:extLst>
              <a:ext uri="{FF2B5EF4-FFF2-40B4-BE49-F238E27FC236}">
                <a16:creationId xmlns:a16="http://schemas.microsoft.com/office/drawing/2014/main" id="{6EF0F467-C98B-BAFC-BD52-81DA4B9ABD4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24424" y="5423162"/>
            <a:ext cx="406302" cy="16748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B8A3657D-B936-5D97-B845-7AAB5CEDEDA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03098" y="5138789"/>
            <a:ext cx="88205" cy="173960"/>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Group 31">
            <a:extLst>
              <a:ext uri="{FF2B5EF4-FFF2-40B4-BE49-F238E27FC236}">
                <a16:creationId xmlns:a16="http://schemas.microsoft.com/office/drawing/2014/main" id="{9AC58AAF-CE4B-F82D-489C-730385D0DA2B}"/>
              </a:ext>
            </a:extLst>
          </p:cNvPr>
          <p:cNvGrpSpPr/>
          <p:nvPr/>
        </p:nvGrpSpPr>
        <p:grpSpPr>
          <a:xfrm>
            <a:off x="523028" y="4789353"/>
            <a:ext cx="227162" cy="252604"/>
            <a:chOff x="515322" y="1736048"/>
            <a:chExt cx="227162" cy="252604"/>
          </a:xfrm>
        </p:grpSpPr>
        <p:pic>
          <p:nvPicPr>
            <p:cNvPr id="1034" name="Picture 10">
              <a:extLst>
                <a:ext uri="{FF2B5EF4-FFF2-40B4-BE49-F238E27FC236}">
                  <a16:creationId xmlns:a16="http://schemas.microsoft.com/office/drawing/2014/main" id="{ECCE0AF3-877F-4905-9669-9056CF90DA8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31" name="Freeform: Shape 30">
              <a:extLst>
                <a:ext uri="{FF2B5EF4-FFF2-40B4-BE49-F238E27FC236}">
                  <a16:creationId xmlns:a16="http://schemas.microsoft.com/office/drawing/2014/main" id="{A8107EB9-8D17-0F76-A8C3-130F394640FE}"/>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34" name="TextBox 33">
            <a:extLst>
              <a:ext uri="{FF2B5EF4-FFF2-40B4-BE49-F238E27FC236}">
                <a16:creationId xmlns:a16="http://schemas.microsoft.com/office/drawing/2014/main" id="{1FD7134B-311E-D163-5A45-E6583E0DA3A0}"/>
              </a:ext>
            </a:extLst>
          </p:cNvPr>
          <p:cNvSpPr txBox="1"/>
          <p:nvPr/>
        </p:nvSpPr>
        <p:spPr>
          <a:xfrm>
            <a:off x="468244" y="2879326"/>
            <a:ext cx="3705941" cy="553998"/>
          </a:xfrm>
          <a:prstGeom prst="rect">
            <a:avLst/>
          </a:prstGeom>
          <a:noFill/>
        </p:spPr>
        <p:txBody>
          <a:bodyPr wrap="square" rtlCol="0">
            <a:spAutoFit/>
          </a:bodyPr>
          <a:lstStyle/>
          <a:p>
            <a:pPr algn="ctr"/>
            <a:r>
              <a:rPr lang="en-US" sz="1000" dirty="0">
                <a:latin typeface="Pangolin" panose="00000500000000000000" pitchFamily="2" charset="0"/>
              </a:rPr>
              <a:t>C# also includes:</a:t>
            </a:r>
          </a:p>
          <a:p>
            <a:pPr algn="ctr"/>
            <a:r>
              <a:rPr lang="en-US" sz="1000" b="1" dirty="0">
                <a:latin typeface="Pangolin" panose="00000500000000000000" pitchFamily="2" charset="0"/>
              </a:rPr>
              <a:t>bool</a:t>
            </a:r>
            <a:r>
              <a:rPr lang="en-US" sz="1000" dirty="0">
                <a:latin typeface="Pangolin" panose="00000500000000000000" pitchFamily="2" charset="0"/>
              </a:rPr>
              <a:t>: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pPr algn="ctr"/>
            <a:r>
              <a:rPr lang="en-US" sz="1000" b="1" dirty="0">
                <a:latin typeface="Pangolin" panose="00000500000000000000" pitchFamily="2" charset="0"/>
              </a:rPr>
              <a:t>char</a:t>
            </a:r>
            <a:r>
              <a:rPr lang="en-US" sz="1000" dirty="0">
                <a:latin typeface="Pangolin" panose="00000500000000000000" pitchFamily="2" charset="0"/>
              </a:rPr>
              <a:t>: a Unicode character (U+0000 to U+FFFF).</a:t>
            </a:r>
            <a:endParaRPr lang="es-419" sz="1000" dirty="0">
              <a:latin typeface="Pangolin" panose="00000500000000000000" pitchFamily="2" charset="0"/>
            </a:endParaRPr>
          </a:p>
        </p:txBody>
      </p:sp>
      <p:sp>
        <p:nvSpPr>
          <p:cNvPr id="53" name="TextBox 52">
            <a:extLst>
              <a:ext uri="{FF2B5EF4-FFF2-40B4-BE49-F238E27FC236}">
                <a16:creationId xmlns:a16="http://schemas.microsoft.com/office/drawing/2014/main" id="{5C0D5335-D946-3DC8-1AED-3CBAA060E763}"/>
              </a:ext>
            </a:extLst>
          </p:cNvPr>
          <p:cNvSpPr txBox="1"/>
          <p:nvPr/>
        </p:nvSpPr>
        <p:spPr>
          <a:xfrm>
            <a:off x="876354" y="7152374"/>
            <a:ext cx="3555137" cy="1631216"/>
          </a:xfrm>
          <a:prstGeom prst="rect">
            <a:avLst/>
          </a:prstGeom>
          <a:noFill/>
        </p:spPr>
        <p:txBody>
          <a:bodyPr wrap="square" rtlCol="0">
            <a:spAutoFit/>
          </a:bodyPr>
          <a:lstStyle/>
          <a:p>
            <a:r>
              <a:rPr lang="en-US" sz="1000" b="1" dirty="0">
                <a:latin typeface="Pangolin" panose="00000500000000000000" pitchFamily="2" charset="0"/>
              </a:rPr>
              <a:t>int</a:t>
            </a:r>
            <a:r>
              <a:rPr lang="en-US" sz="1000" dirty="0">
                <a:latin typeface="Pangolin" panose="00000500000000000000" pitchFamily="2" charset="0"/>
              </a:rPr>
              <a:t>: Represents arbitrary precision signed integers.</a:t>
            </a:r>
          </a:p>
          <a:p>
            <a:endParaRPr lang="en-US" sz="1000" dirty="0">
              <a:latin typeface="Pangolin" panose="00000500000000000000" pitchFamily="2" charset="0"/>
            </a:endParaRPr>
          </a:p>
          <a:p>
            <a:r>
              <a:rPr lang="en-US" sz="1000" b="1" dirty="0">
                <a:latin typeface="Pangolin" panose="00000500000000000000" pitchFamily="2" charset="0"/>
              </a:rPr>
              <a:t>float</a:t>
            </a:r>
            <a:r>
              <a:rPr lang="en-US" sz="1000" dirty="0">
                <a:latin typeface="Pangolin" panose="00000500000000000000" pitchFamily="2" charset="0"/>
              </a:rPr>
              <a:t>: Represents floating-point numbers*</a:t>
            </a:r>
          </a:p>
          <a:p>
            <a:endParaRPr lang="en-US" sz="1000" dirty="0">
              <a:latin typeface="Pangolin" panose="00000500000000000000" pitchFamily="2" charset="0"/>
            </a:endParaRPr>
          </a:p>
          <a:p>
            <a:r>
              <a:rPr lang="en-US" sz="1000" b="1" dirty="0">
                <a:latin typeface="Pangolin" panose="00000500000000000000" pitchFamily="2" charset="0"/>
              </a:rPr>
              <a:t>bool</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a:t>
            </a:r>
            <a:r>
              <a:rPr lang="en-US" sz="1000" dirty="0">
                <a:latin typeface="Pangolin" panose="00000500000000000000" pitchFamily="2" charset="0"/>
              </a:rPr>
              <a:t>: Represents a sequence of Unicode characters.</a:t>
            </a:r>
          </a:p>
          <a:p>
            <a:endParaRPr lang="en-US" sz="1000" dirty="0">
              <a:latin typeface="Pangolin" panose="00000500000000000000" pitchFamily="2" charset="0"/>
            </a:endParaRPr>
          </a:p>
          <a:p>
            <a:r>
              <a:rPr lang="en-US" sz="1000" b="1" dirty="0" err="1">
                <a:latin typeface="Pangolin" panose="00000500000000000000" pitchFamily="2" charset="0"/>
              </a:rPr>
              <a:t>NoneType</a:t>
            </a:r>
            <a:r>
              <a:rPr lang="en-US" sz="1000" dirty="0">
                <a:latin typeface="Pangolin" panose="00000500000000000000" pitchFamily="2" charset="0"/>
              </a:rPr>
              <a:t>: Represents the absence of a value, often used as a placeholder or default return value.</a:t>
            </a:r>
            <a:endParaRPr lang="es-419" sz="1000" dirty="0">
              <a:latin typeface="Pangolin" panose="00000500000000000000" pitchFamily="2" charset="0"/>
            </a:endParaRPr>
          </a:p>
        </p:txBody>
      </p:sp>
      <p:sp>
        <p:nvSpPr>
          <p:cNvPr id="55" name="TextBox 54">
            <a:extLst>
              <a:ext uri="{FF2B5EF4-FFF2-40B4-BE49-F238E27FC236}">
                <a16:creationId xmlns:a16="http://schemas.microsoft.com/office/drawing/2014/main" id="{AD7F9951-46D9-CBF8-AAA9-B6FC9FCFF1F5}"/>
              </a:ext>
            </a:extLst>
          </p:cNvPr>
          <p:cNvSpPr txBox="1"/>
          <p:nvPr/>
        </p:nvSpPr>
        <p:spPr>
          <a:xfrm>
            <a:off x="729253" y="9270896"/>
            <a:ext cx="3289683" cy="246221"/>
          </a:xfrm>
          <a:prstGeom prst="rect">
            <a:avLst/>
          </a:prstGeom>
          <a:noFill/>
        </p:spPr>
        <p:txBody>
          <a:bodyPr wrap="none" rtlCol="0">
            <a:spAutoFit/>
          </a:bodyPr>
          <a:lstStyle/>
          <a:p>
            <a:r>
              <a:rPr lang="en-US" sz="1000" dirty="0">
                <a:latin typeface="Pangolin" panose="00000500000000000000" pitchFamily="2" charset="0"/>
              </a:rPr>
              <a:t>*The range of float is approximately 1.7e-308 to 1.7e+308</a:t>
            </a:r>
          </a:p>
        </p:txBody>
      </p:sp>
      <p:pic>
        <p:nvPicPr>
          <p:cNvPr id="56" name="Picture 12">
            <a:extLst>
              <a:ext uri="{FF2B5EF4-FFF2-40B4-BE49-F238E27FC236}">
                <a16:creationId xmlns:a16="http://schemas.microsoft.com/office/drawing/2014/main" id="{7CC48DEB-F589-A6BE-424D-AE2AF5C8D33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31173" y="8418650"/>
            <a:ext cx="406302" cy="167483"/>
          </a:xfrm>
          <a:prstGeom prst="rect">
            <a:avLst/>
          </a:prstGeom>
          <a:noFill/>
          <a:extLst>
            <a:ext uri="{909E8E84-426E-40DD-AFC4-6F175D3DCCD1}">
              <a14:hiddenFill xmlns:a14="http://schemas.microsoft.com/office/drawing/2010/main">
                <a:solidFill>
                  <a:srgbClr val="FFFFFF"/>
                </a:solidFill>
              </a14:hiddenFill>
            </a:ext>
          </a:extLst>
        </p:spPr>
      </p:pic>
      <p:grpSp>
        <p:nvGrpSpPr>
          <p:cNvPr id="57" name="Group 56">
            <a:extLst>
              <a:ext uri="{FF2B5EF4-FFF2-40B4-BE49-F238E27FC236}">
                <a16:creationId xmlns:a16="http://schemas.microsoft.com/office/drawing/2014/main" id="{2B10A185-9124-2972-124A-1752D65AD5F1}"/>
              </a:ext>
            </a:extLst>
          </p:cNvPr>
          <p:cNvGrpSpPr/>
          <p:nvPr/>
        </p:nvGrpSpPr>
        <p:grpSpPr>
          <a:xfrm>
            <a:off x="561102" y="8077529"/>
            <a:ext cx="227162" cy="252604"/>
            <a:chOff x="515322" y="1736048"/>
            <a:chExt cx="227162" cy="252604"/>
          </a:xfrm>
        </p:grpSpPr>
        <p:pic>
          <p:nvPicPr>
            <p:cNvPr id="58" name="Picture 10">
              <a:extLst>
                <a:ext uri="{FF2B5EF4-FFF2-40B4-BE49-F238E27FC236}">
                  <a16:creationId xmlns:a16="http://schemas.microsoft.com/office/drawing/2014/main" id="{EDFDB97A-34DA-4A3F-2C3B-8D30D66E59B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59" name="Freeform: Shape 58">
              <a:extLst>
                <a:ext uri="{FF2B5EF4-FFF2-40B4-BE49-F238E27FC236}">
                  <a16:creationId xmlns:a16="http://schemas.microsoft.com/office/drawing/2014/main" id="{2E2EE3D5-F253-38FF-AC67-D60FC508CD92}"/>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60" name="Picture 8">
            <a:extLst>
              <a:ext uri="{FF2B5EF4-FFF2-40B4-BE49-F238E27FC236}">
                <a16:creationId xmlns:a16="http://schemas.microsoft.com/office/drawing/2014/main" id="{1EFF938D-92A1-57CA-35EC-E8B4CD88898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0771" y="7763926"/>
            <a:ext cx="247824" cy="227172"/>
          </a:xfrm>
          <a:prstGeom prst="rect">
            <a:avLst/>
          </a:prstGeom>
          <a:noFill/>
          <a:extLst>
            <a:ext uri="{909E8E84-426E-40DD-AFC4-6F175D3DCCD1}">
              <a14:hiddenFill xmlns:a14="http://schemas.microsoft.com/office/drawing/2010/main">
                <a:solidFill>
                  <a:srgbClr val="FFFFFF"/>
                </a:solidFill>
              </a14:hiddenFill>
            </a:ext>
          </a:extLst>
        </p:spPr>
      </p:pic>
      <p:grpSp>
        <p:nvGrpSpPr>
          <p:cNvPr id="62" name="Group 61">
            <a:extLst>
              <a:ext uri="{FF2B5EF4-FFF2-40B4-BE49-F238E27FC236}">
                <a16:creationId xmlns:a16="http://schemas.microsoft.com/office/drawing/2014/main" id="{49FC647B-8463-C0A9-3144-EDD6524D6E65}"/>
              </a:ext>
            </a:extLst>
          </p:cNvPr>
          <p:cNvGrpSpPr/>
          <p:nvPr/>
        </p:nvGrpSpPr>
        <p:grpSpPr>
          <a:xfrm>
            <a:off x="596660" y="4213400"/>
            <a:ext cx="281395" cy="199073"/>
            <a:chOff x="631761" y="4209934"/>
            <a:chExt cx="281395" cy="199073"/>
          </a:xfrm>
        </p:grpSpPr>
        <p:pic>
          <p:nvPicPr>
            <p:cNvPr id="23" name="Picture 22" descr="A group of people with speech bubbles&#10;&#10;Description automatically generated">
              <a:extLst>
                <a:ext uri="{FF2B5EF4-FFF2-40B4-BE49-F238E27FC236}">
                  <a16:creationId xmlns:a16="http://schemas.microsoft.com/office/drawing/2014/main" id="{4FF7ADB9-CCCA-7547-E944-907C1D4B0CA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25" name="Picture 24" descr="A group of people with speech bubbles&#10;&#10;Description automatically generated">
              <a:extLst>
                <a:ext uri="{FF2B5EF4-FFF2-40B4-BE49-F238E27FC236}">
                  <a16:creationId xmlns:a16="http://schemas.microsoft.com/office/drawing/2014/main" id="{7AAB2752-551F-4CDE-9A11-6CB4CDE76145}"/>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61" name="Oval 60">
              <a:extLst>
                <a:ext uri="{FF2B5EF4-FFF2-40B4-BE49-F238E27FC236}">
                  <a16:creationId xmlns:a16="http://schemas.microsoft.com/office/drawing/2014/main" id="{EE3D4F63-93C9-6D73-5565-77030FD3C1E0}"/>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63" name="Group 62">
            <a:extLst>
              <a:ext uri="{FF2B5EF4-FFF2-40B4-BE49-F238E27FC236}">
                <a16:creationId xmlns:a16="http://schemas.microsoft.com/office/drawing/2014/main" id="{42D12A17-49F8-2D1C-3467-B00EF33E18FF}"/>
              </a:ext>
            </a:extLst>
          </p:cNvPr>
          <p:cNvGrpSpPr/>
          <p:nvPr/>
        </p:nvGrpSpPr>
        <p:grpSpPr>
          <a:xfrm>
            <a:off x="531877" y="7471314"/>
            <a:ext cx="281395" cy="199073"/>
            <a:chOff x="631761" y="4209934"/>
            <a:chExt cx="281395" cy="199073"/>
          </a:xfrm>
        </p:grpSpPr>
        <p:pic>
          <p:nvPicPr>
            <p:cNvPr id="128" name="Picture 127" descr="A group of people with speech bubbles&#10;&#10;Description automatically generated">
              <a:extLst>
                <a:ext uri="{FF2B5EF4-FFF2-40B4-BE49-F238E27FC236}">
                  <a16:creationId xmlns:a16="http://schemas.microsoft.com/office/drawing/2014/main" id="{37AA9DCC-1AB0-2476-5AA5-7FA931474407}"/>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129" name="Picture 128" descr="A group of people with speech bubbles&#10;&#10;Description automatically generated">
              <a:extLst>
                <a:ext uri="{FF2B5EF4-FFF2-40B4-BE49-F238E27FC236}">
                  <a16:creationId xmlns:a16="http://schemas.microsoft.com/office/drawing/2014/main" id="{9D2561BF-E9C0-67CC-9A3B-3AC57C46955E}"/>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130" name="Oval 129">
              <a:extLst>
                <a:ext uri="{FF2B5EF4-FFF2-40B4-BE49-F238E27FC236}">
                  <a16:creationId xmlns:a16="http://schemas.microsoft.com/office/drawing/2014/main" id="{297D7A74-153A-C28B-0C2C-77C89468D4D6}"/>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131" name="Picture 130" descr="A group of people with speech bubbles&#10;&#10;Description automatically generated">
            <a:extLst>
              <a:ext uri="{FF2B5EF4-FFF2-40B4-BE49-F238E27FC236}">
                <a16:creationId xmlns:a16="http://schemas.microsoft.com/office/drawing/2014/main" id="{65390A2A-196E-0530-6132-0E27F5BA03B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625569" y="7170156"/>
            <a:ext cx="124621" cy="207168"/>
          </a:xfrm>
          <a:prstGeom prst="rect">
            <a:avLst/>
          </a:prstGeom>
        </p:spPr>
      </p:pic>
    </p:spTree>
    <p:extLst>
      <p:ext uri="{BB962C8B-B14F-4D97-AF65-F5344CB8AC3E}">
        <p14:creationId xmlns:p14="http://schemas.microsoft.com/office/powerpoint/2010/main" val="387239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990C19-6EC2-B88C-1A2A-55EA9D63707D}"/>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0" y="6991767"/>
            <a:ext cx="5028787"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Primitive Types.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Primitive Data Types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25A64C5E-623F-A882-FA58-9654E8A8731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23892544-A465-4F30-AF1A-07C4B6E1864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4372B3F-CE2E-42EC-9979-028DA50166FC}">
  <ds:schemaRefs>
    <ds:schemaRef ds:uri="http://purl.org/dc/terms/"/>
    <ds:schemaRef ds:uri="http://schemas.microsoft.com/office/2006/documentManagement/types"/>
    <ds:schemaRef ds:uri="http://schemas.openxmlformats.org/package/2006/metadata/core-properties"/>
    <ds:schemaRef ds:uri="http://schemas.microsoft.com/office/2006/metadata/properties"/>
    <ds:schemaRef ds:uri="94bcf745-830c-42f4-885c-a1d7342e6e36"/>
    <ds:schemaRef ds:uri="http://www.w3.org/XML/1998/namespace"/>
    <ds:schemaRef ds:uri="http://purl.org/dc/elements/1.1/"/>
    <ds:schemaRef ds:uri="http://schemas.microsoft.com/office/infopath/2007/PartnerControls"/>
    <ds:schemaRef ds:uri="da1b7603-f8b8-47c9-9682-dc6aa8e9acd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22</TotalTime>
  <Words>1031</Words>
  <Application>Microsoft Office PowerPoint</Application>
  <PresentationFormat>A4 Paper (210x297 mm)</PresentationFormat>
  <Paragraphs>133</Paragraphs>
  <Slides>8</Slides>
  <Notes>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Pangolin</vt:lpstr>
      <vt:lpstr>Arial</vt:lpstr>
      <vt:lpstr>Segoe UI</vt:lpstr>
      <vt:lpstr>Calibri Light</vt:lpstr>
      <vt:lpstr>Calibri</vt:lpstr>
      <vt:lpstr>Office</vt:lpstr>
      <vt:lpstr>Primitive Data Types</vt:lpstr>
      <vt:lpstr>PowerPoint Presentation</vt:lpstr>
      <vt:lpstr>Oh, you must be the new hire our manager was talking about!</vt:lpstr>
      <vt:lpstr>Here are our different containers that we use. Don‘t worry about the exact number ranges.</vt:lpstr>
      <vt:lpstr>Only a part of it will fit.</vt:lpstr>
      <vt:lpstr>This is all you need to know to get started,  so enjoy your first da-</vt:lpstr>
      <vt:lpstr>Primitive Data Types</vt:lpstr>
      <vt:lpstr>How to cite this document:  Boucher, M., Boucher, A., Wu, H.-Y., &amp; Stoiber, C., &amp; De-Jesus-Oliveira, V.-A. (2025). Primitive Types. University of Applied Sciences St. Pölten (USTP). https://www.comixplain.cc  This comic book was adapted from:   Primitive Data Types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Primitive Data Types</dc:title>
  <dc:creator>Boucher Magdalena</dc:creator>
  <cp:lastModifiedBy>de-Jesus-Oliveira Victor-Adriel</cp:lastModifiedBy>
  <cp:revision>27</cp:revision>
  <dcterms:created xsi:type="dcterms:W3CDTF">2022-09-19T11:21:57Z</dcterms:created>
  <dcterms:modified xsi:type="dcterms:W3CDTF">2025-11-07T18:11:19Z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