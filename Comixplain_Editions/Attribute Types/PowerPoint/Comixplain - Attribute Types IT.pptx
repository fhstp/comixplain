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72" r:id="rId6"/>
    <p:sldId id="268" r:id="rId7"/>
    <p:sldId id="269" r:id="rId8"/>
    <p:sldId id="270" r:id="rId9"/>
    <p:sldId id="271" r:id="rId10"/>
    <p:sldId id="267" r:id="rId11"/>
  </p:sldIdLst>
  <p:sldSz cx="6858000" cy="9906000" type="A4"/>
  <p:notesSz cx="6858000" cy="9144000"/>
  <p:embeddedFontLst>
    <p:embeddedFont>
      <p:font typeface="Momopresentation Updated 2" panose="02000503000000000000" pitchFamily="2" charset="0"/>
      <p:regular r:id="rId12"/>
    </p:embeddedFont>
    <p:embeddedFont>
      <p:font typeface="Pangolin" panose="00000500000000000000" pitchFamily="2" charset="0"/>
      <p:regular r:id="rId13"/>
    </p:embeddedFont>
    <p:embeddedFont>
      <p:font typeface="Segoe UI" panose="020B0502040204020203" pitchFamily="34" charset="0"/>
      <p:regular r:id="rId14"/>
      <p:bold r:id="rId15"/>
      <p:italic r:id="rId16"/>
      <p:boldItalic r:id="rId17"/>
    </p:embeddedFont>
    <p:embeddedFont>
      <p:font typeface="Source Sans Pro" panose="020B0503030403020204" pitchFamily="34" charset="0"/>
      <p:regular r:id="rId18"/>
      <p:bold r:id="rId19"/>
      <p:italic r:id="rId20"/>
      <p:boldItalic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EFEFEF"/>
    <a:srgbClr val="A4A4A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B4EE3C1-E18B-4C43-80F1-80A641E6709B}" v="17" dt="2025-11-07T10:50:09.1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4579" autoAdjust="0"/>
    <p:restoredTop sz="95847" autoAdjust="0"/>
  </p:normalViewPr>
  <p:slideViewPr>
    <p:cSldViewPr snapToGrid="0">
      <p:cViewPr varScale="1">
        <p:scale>
          <a:sx n="112" d="100"/>
          <a:sy n="112" d="100"/>
        </p:scale>
        <p:origin x="4172" y="76"/>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0:47:11.196" v="31" actId="20577"/>
      <pc:docMkLst>
        <pc:docMk/>
      </pc:docMkLst>
      <pc:sldChg chg="addSp modSp mod">
        <pc:chgData name="de-Jesus-Oliveira Victor-Adriel" userId="a708fc36-3c1b-42ab-b5e9-2e1fa3c6605e" providerId="ADAL" clId="{39AA12F0-CB51-4D67-A3A6-7C3EC2C345CA}" dt="2025-11-07T10:47:11.196" v="31" actId="20577"/>
        <pc:sldMkLst>
          <pc:docMk/>
          <pc:sldMk cId="171183961" sldId="267"/>
        </pc:sldMkLst>
        <pc:spChg chg="mod">
          <ac:chgData name="de-Jesus-Oliveira Victor-Adriel" userId="a708fc36-3c1b-42ab-b5e9-2e1fa3c6605e" providerId="ADAL" clId="{39AA12F0-CB51-4D67-A3A6-7C3EC2C345CA}" dt="2025-11-07T10:47:11.196" v="31" actId="20577"/>
          <ac:spMkLst>
            <pc:docMk/>
            <pc:sldMk cId="171183961" sldId="267"/>
            <ac:spMk id="3" creationId="{71D4894D-6AB9-B115-8F2A-CC5FB193928B}"/>
          </ac:spMkLst>
        </pc:spChg>
        <pc:picChg chg="add mod ord">
          <ac:chgData name="de-Jesus-Oliveira Victor-Adriel" userId="a708fc36-3c1b-42ab-b5e9-2e1fa3c6605e" providerId="ADAL" clId="{39AA12F0-CB51-4D67-A3A6-7C3EC2C345CA}" dt="2025-11-07T10:38:56.735" v="18" actId="167"/>
          <ac:picMkLst>
            <pc:docMk/>
            <pc:sldMk cId="171183961" sldId="267"/>
            <ac:picMk id="4" creationId="{23C6AF4B-C5C1-823C-11D1-622CF53D24D8}"/>
          </ac:picMkLst>
        </pc:picChg>
      </pc:sldChg>
      <pc:sldChg chg="addSp delSp modSp mod">
        <pc:chgData name="de-Jesus-Oliveira Victor-Adriel" userId="a708fc36-3c1b-42ab-b5e9-2e1fa3c6605e" providerId="ADAL" clId="{39AA12F0-CB51-4D67-A3A6-7C3EC2C345CA}" dt="2025-11-07T10:37:22.761" v="16" actId="14100"/>
        <pc:sldMkLst>
          <pc:docMk/>
          <pc:sldMk cId="2799231148" sldId="272"/>
        </pc:sldMkLst>
        <pc:spChg chg="mod">
          <ac:chgData name="de-Jesus-Oliveira Victor-Adriel" userId="a708fc36-3c1b-42ab-b5e9-2e1fa3c6605e" providerId="ADAL" clId="{39AA12F0-CB51-4D67-A3A6-7C3EC2C345CA}" dt="2025-11-07T10:31:47.413" v="5"/>
          <ac:spMkLst>
            <pc:docMk/>
            <pc:sldMk cId="2799231148" sldId="272"/>
            <ac:spMk id="2" creationId="{36F7C832-7D7F-40CB-9479-79BC46A793B9}"/>
          </ac:spMkLst>
        </pc:spChg>
        <pc:spChg chg="del">
          <ac:chgData name="de-Jesus-Oliveira Victor-Adriel" userId="a708fc36-3c1b-42ab-b5e9-2e1fa3c6605e" providerId="ADAL" clId="{39AA12F0-CB51-4D67-A3A6-7C3EC2C345CA}" dt="2025-11-07T10:34:13.583" v="9" actId="478"/>
          <ac:spMkLst>
            <pc:docMk/>
            <pc:sldMk cId="2799231148" sldId="272"/>
            <ac:spMk id="5" creationId="{09E127AA-6DED-AD03-C850-0835DD3B9F67}"/>
          </ac:spMkLst>
        </pc:spChg>
        <pc:spChg chg="add mod">
          <ac:chgData name="de-Jesus-Oliveira Victor-Adriel" userId="a708fc36-3c1b-42ab-b5e9-2e1fa3c6605e" providerId="ADAL" clId="{39AA12F0-CB51-4D67-A3A6-7C3EC2C345CA}" dt="2025-11-07T10:34:48.469" v="10"/>
          <ac:spMkLst>
            <pc:docMk/>
            <pc:sldMk cId="2799231148" sldId="272"/>
            <ac:spMk id="10" creationId="{0B0E88C3-B3B9-4FAC-CA00-95871D47A25A}"/>
          </ac:spMkLst>
        </pc:spChg>
        <pc:spChg chg="add mod">
          <ac:chgData name="de-Jesus-Oliveira Victor-Adriel" userId="a708fc36-3c1b-42ab-b5e9-2e1fa3c6605e" providerId="ADAL" clId="{39AA12F0-CB51-4D67-A3A6-7C3EC2C345CA}" dt="2025-11-07T10:37:22.761" v="16" actId="14100"/>
          <ac:spMkLst>
            <pc:docMk/>
            <pc:sldMk cId="2799231148" sldId="272"/>
            <ac:spMk id="11" creationId="{D79A7B9E-2EA2-3812-7940-45AC3FBBE333}"/>
          </ac:spMkLst>
        </pc:spChg>
        <pc:grpChg chg="add mod">
          <ac:chgData name="de-Jesus-Oliveira Victor-Adriel" userId="a708fc36-3c1b-42ab-b5e9-2e1fa3c6605e" providerId="ADAL" clId="{39AA12F0-CB51-4D67-A3A6-7C3EC2C345CA}" dt="2025-11-07T10:33:28.301" v="7"/>
          <ac:grpSpMkLst>
            <pc:docMk/>
            <pc:sldMk cId="2799231148" sldId="272"/>
            <ac:grpSpMk id="3" creationId="{E91E6923-FED7-4A1D-180E-D7AD3E5F2079}"/>
          </ac:grpSpMkLst>
        </pc:grpChg>
        <pc:grpChg chg="add mod">
          <ac:chgData name="de-Jesus-Oliveira Victor-Adriel" userId="a708fc36-3c1b-42ab-b5e9-2e1fa3c6605e" providerId="ADAL" clId="{39AA12F0-CB51-4D67-A3A6-7C3EC2C345CA}" dt="2025-11-07T10:34:48.469" v="10"/>
          <ac:grpSpMkLst>
            <pc:docMk/>
            <pc:sldMk cId="2799231148" sldId="272"/>
            <ac:grpSpMk id="12" creationId="{FC84AF00-C3D0-48F4-DA42-CCA38418ED95}"/>
          </ac:grpSpMkLst>
        </pc:grpChg>
        <pc:picChg chg="del">
          <ac:chgData name="de-Jesus-Oliveira Victor-Adriel" userId="a708fc36-3c1b-42ab-b5e9-2e1fa3c6605e" providerId="ADAL" clId="{39AA12F0-CB51-4D67-A3A6-7C3EC2C345CA}" dt="2025-11-07T10:32:38.354" v="6" actId="478"/>
          <ac:picMkLst>
            <pc:docMk/>
            <pc:sldMk cId="2799231148" sldId="272"/>
            <ac:picMk id="4" creationId="{2EB10971-A7A0-4F60-8D4A-4B8950F4D157}"/>
          </ac:picMkLst>
        </pc:picChg>
        <pc:picChg chg="mod">
          <ac:chgData name="de-Jesus-Oliveira Victor-Adriel" userId="a708fc36-3c1b-42ab-b5e9-2e1fa3c6605e" providerId="ADAL" clId="{39AA12F0-CB51-4D67-A3A6-7C3EC2C345CA}" dt="2025-11-07T10:33:28.301" v="7"/>
          <ac:picMkLst>
            <pc:docMk/>
            <pc:sldMk cId="2799231148" sldId="272"/>
            <ac:picMk id="6" creationId="{B5C0E6F9-58EE-77E2-A5E9-13DB75737642}"/>
          </ac:picMkLst>
        </pc:picChg>
        <pc:picChg chg="del">
          <ac:chgData name="de-Jesus-Oliveira Victor-Adriel" userId="a708fc36-3c1b-42ab-b5e9-2e1fa3c6605e" providerId="ADAL" clId="{39AA12F0-CB51-4D67-A3A6-7C3EC2C345CA}" dt="2025-11-07T10:34:12.444" v="8" actId="478"/>
          <ac:picMkLst>
            <pc:docMk/>
            <pc:sldMk cId="2799231148" sldId="272"/>
            <ac:picMk id="7" creationId="{C6D0229E-49AB-DA8F-D45A-6A75E3427651}"/>
          </ac:picMkLst>
        </pc:picChg>
        <pc:picChg chg="mod">
          <ac:chgData name="de-Jesus-Oliveira Victor-Adriel" userId="a708fc36-3c1b-42ab-b5e9-2e1fa3c6605e" providerId="ADAL" clId="{39AA12F0-CB51-4D67-A3A6-7C3EC2C345CA}" dt="2025-11-07T10:33:28.301" v="7"/>
          <ac:picMkLst>
            <pc:docMk/>
            <pc:sldMk cId="2799231148" sldId="272"/>
            <ac:picMk id="8" creationId="{B63A2752-6F64-32AB-C5CD-FD94D469ABF1}"/>
          </ac:picMkLst>
        </pc:picChg>
        <pc:picChg chg="add mod">
          <ac:chgData name="de-Jesus-Oliveira Victor-Adriel" userId="a708fc36-3c1b-42ab-b5e9-2e1fa3c6605e" providerId="ADAL" clId="{39AA12F0-CB51-4D67-A3A6-7C3EC2C345CA}" dt="2025-11-07T10:34:48.469" v="10"/>
          <ac:picMkLst>
            <pc:docMk/>
            <pc:sldMk cId="2799231148" sldId="272"/>
            <ac:picMk id="9" creationId="{A1FD72F8-2E39-A5FC-A508-118B59A1FD45}"/>
          </ac:picMkLst>
        </pc:picChg>
        <pc:picChg chg="mod">
          <ac:chgData name="de-Jesus-Oliveira Victor-Adriel" userId="a708fc36-3c1b-42ab-b5e9-2e1fa3c6605e" providerId="ADAL" clId="{39AA12F0-CB51-4D67-A3A6-7C3EC2C345CA}" dt="2025-11-07T10:34:48.469" v="10"/>
          <ac:picMkLst>
            <pc:docMk/>
            <pc:sldMk cId="2799231148" sldId="272"/>
            <ac:picMk id="13" creationId="{BC4599D8-C888-74A4-B0B8-063A44044603}"/>
          </ac:picMkLst>
        </pc:picChg>
        <pc:picChg chg="mod">
          <ac:chgData name="de-Jesus-Oliveira Victor-Adriel" userId="a708fc36-3c1b-42ab-b5e9-2e1fa3c6605e" providerId="ADAL" clId="{39AA12F0-CB51-4D67-A3A6-7C3EC2C345CA}" dt="2025-11-07T10:34:48.469" v="10"/>
          <ac:picMkLst>
            <pc:docMk/>
            <pc:sldMk cId="2799231148" sldId="272"/>
            <ac:picMk id="14" creationId="{9F27F72D-D7F4-9EF8-02D4-187BCC0029E4}"/>
          </ac:picMkLst>
        </pc:picChg>
        <pc:picChg chg="mod">
          <ac:chgData name="de-Jesus-Oliveira Victor-Adriel" userId="a708fc36-3c1b-42ab-b5e9-2e1fa3c6605e" providerId="ADAL" clId="{39AA12F0-CB51-4D67-A3A6-7C3EC2C345CA}" dt="2025-11-07T10:34:48.469" v="10"/>
          <ac:picMkLst>
            <pc:docMk/>
            <pc:sldMk cId="2799231148" sldId="272"/>
            <ac:picMk id="15" creationId="{6A190107-A935-B340-7A4A-C45BF2152D83}"/>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49"/>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it-IT" sz="4800" dirty="0">
                <a:latin typeface="Pangolin" panose="00000500000000000000" pitchFamily="2" charset="0"/>
              </a:rPr>
              <a:t>Tipi di Attributi dei Dati</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it-IT" sz="1100" dirty="0">
                <a:latin typeface="Segoe UI" panose="020B0502040204020203" pitchFamily="34" charset="0"/>
                <a:cs typeface="Segoe UI" panose="020B0502040204020203" pitchFamily="34" charset="0"/>
              </a:rPr>
              <a:t>Questo fumetto è stato realizzato come parte del progetto di ricerca Comixplain, finanziato dall’Università di Scienze Applicate di St. Pölten (USTP) tramite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Squadra:</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Illustrazioni</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3" name="Group 2">
            <a:extLst>
              <a:ext uri="{FF2B5EF4-FFF2-40B4-BE49-F238E27FC236}">
                <a16:creationId xmlns:a16="http://schemas.microsoft.com/office/drawing/2014/main" id="{E91E6923-FED7-4A1D-180E-D7AD3E5F2079}"/>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6" name="Picture 5" descr="A blue and black logo&#10;&#10;AI-generated content may be incorrect.">
              <a:extLst>
                <a:ext uri="{FF2B5EF4-FFF2-40B4-BE49-F238E27FC236}">
                  <a16:creationId xmlns:a16="http://schemas.microsoft.com/office/drawing/2014/main" id="{B5C0E6F9-58EE-77E2-A5E9-13DB757376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B63A2752-6F64-32AB-C5CD-FD94D469AB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A1FD72F8-2E39-A5FC-A508-118B59A1FD4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0B0E88C3-B3B9-4FAC-CA00-95871D47A25A}"/>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D79A7B9E-2EA2-3812-7940-45AC3FBBE333}"/>
              </a:ext>
            </a:extLst>
          </p:cNvPr>
          <p:cNvSpPr txBox="1"/>
          <p:nvPr/>
        </p:nvSpPr>
        <p:spPr>
          <a:xfrm>
            <a:off x="2686405" y="7607440"/>
            <a:ext cx="3457293" cy="1107996"/>
          </a:xfrm>
          <a:prstGeom prst="rect">
            <a:avLst/>
          </a:prstGeom>
          <a:noFill/>
        </p:spPr>
        <p:txBody>
          <a:bodyPr wrap="square" rtlCol="0" anchor="b">
            <a:spAutoFit/>
          </a:bodyPr>
          <a:lstStyle/>
          <a:p>
            <a:pPr algn="r"/>
            <a:r>
              <a:rPr lang="it-IT" sz="1100" i="1" dirty="0">
                <a:latin typeface="Segoe UI" panose="020B0502040204020203" pitchFamily="34" charset="0"/>
                <a:cs typeface="Segoe UI" panose="020B0502040204020203" pitchFamily="34" charset="0"/>
              </a:rPr>
              <a:t>Tipi di Attributi dei Dati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FC84AF00-C3D0-48F4-DA42-CCA38418ED95}"/>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BC4599D8-C888-74A4-B0B8-063A44044603}"/>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9F27F72D-D7F4-9EF8-02D4-187BCC0029E4}"/>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6A190107-A935-B340-7A4A-C45BF2152D83}"/>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2799231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grpSp>
        <p:nvGrpSpPr>
          <p:cNvPr id="27" name="Group 26">
            <a:extLst>
              <a:ext uri="{FF2B5EF4-FFF2-40B4-BE49-F238E27FC236}">
                <a16:creationId xmlns:a16="http://schemas.microsoft.com/office/drawing/2014/main" id="{D963737C-6F1F-89E4-CADF-76A6DF842348}"/>
              </a:ext>
              <a:ext uri="{C183D7F6-B498-43B3-948B-1728B52AA6E4}">
                <adec:decorative xmlns:adec="http://schemas.microsoft.com/office/drawing/2017/decorative" val="1"/>
              </a:ext>
            </a:extLst>
          </p:cNvPr>
          <p:cNvGrpSpPr/>
          <p:nvPr/>
        </p:nvGrpSpPr>
        <p:grpSpPr>
          <a:xfrm>
            <a:off x="365125" y="444500"/>
            <a:ext cx="6232525" cy="6873875"/>
            <a:chOff x="365125" y="444500"/>
            <a:chExt cx="6232525" cy="6873875"/>
          </a:xfrm>
        </p:grpSpPr>
        <p:sp>
          <p:nvSpPr>
            <p:cNvPr id="16" name="Freeform: Shape 15">
              <a:extLst>
                <a:ext uri="{FF2B5EF4-FFF2-40B4-BE49-F238E27FC236}">
                  <a16:creationId xmlns:a16="http://schemas.microsoft.com/office/drawing/2014/main" id="{B83C0C50-8303-99EE-6847-7A9140E9A14C}"/>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2BE3318-6925-52ED-E7AF-7CFC095F23BA}"/>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5B321C9A-B3CD-04CE-E6B6-E682D7341CB1}"/>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CDF89C6-7E5F-AE63-92D1-5E57C60309A1}"/>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07F43C-0C30-9524-8781-43D333A9DB06}"/>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DE486DDA-B478-B004-0079-E1CFA2C7411D}"/>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48AB3A8E-1B27-34E9-888E-AEB4CE9F3D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267538CD-CFD5-B493-BBE1-A3B27EB5AD5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601BD48D-78B0-5C19-E22E-518F76D2E251}"/>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ACBAAF89-77CC-8AEC-D158-FB67E51F7D71}"/>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7F3D909A-D850-27C4-527C-338BEE673644}"/>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3451373B-BA20-EABA-9D9A-77286692876B}"/>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F9283B52-7234-3635-EC15-0AC9AF90B595}"/>
              </a:ext>
            </a:extLst>
          </p:cNvPr>
          <p:cNvSpPr txBox="1"/>
          <p:nvPr/>
        </p:nvSpPr>
        <p:spPr>
          <a:xfrm>
            <a:off x="220672" y="91440"/>
            <a:ext cx="2131368" cy="261610"/>
          </a:xfrm>
          <a:prstGeom prst="rect">
            <a:avLst/>
          </a:prstGeom>
          <a:solidFill>
            <a:schemeClr val="bg1"/>
          </a:solidFill>
        </p:spPr>
        <p:txBody>
          <a:bodyPr wrap="square" rtlCol="0">
            <a:spAutoFit/>
          </a:bodyPr>
          <a:lstStyle/>
          <a:p>
            <a:r>
              <a:rPr lang="it-IT" sz="1100" dirty="0">
                <a:latin typeface="Pangolin" panose="00000500000000000000" pitchFamily="2" charset="0"/>
              </a:rPr>
              <a:t>Tipi di Attributi dei Dati</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D5E5EB55-FCA9-B66D-135B-F155C438525A}"/>
              </a:ext>
            </a:extLst>
          </p:cNvPr>
          <p:cNvSpPr txBox="1"/>
          <p:nvPr/>
        </p:nvSpPr>
        <p:spPr>
          <a:xfrm>
            <a:off x="423872" y="507445"/>
            <a:ext cx="1537008" cy="369332"/>
          </a:xfrm>
          <a:prstGeom prst="rect">
            <a:avLst/>
          </a:prstGeom>
          <a:noFill/>
        </p:spPr>
        <p:txBody>
          <a:bodyPr wrap="square" rtlCol="0">
            <a:spAutoFit/>
          </a:bodyPr>
          <a:lstStyle/>
          <a:p>
            <a:pPr algn="ctr"/>
            <a:r>
              <a:rPr lang="it-IT" sz="900" dirty="0">
                <a:latin typeface="Pangolin" panose="00000500000000000000" pitchFamily="2" charset="0"/>
              </a:rPr>
              <a:t>Finalmente abbiamo montato un nuovo scaffale!</a:t>
            </a:r>
            <a:endParaRPr lang="pt-BR" sz="900" dirty="0"/>
          </a:p>
        </p:txBody>
      </p:sp>
      <p:sp>
        <p:nvSpPr>
          <p:cNvPr id="5" name="TextBox 4">
            <a:extLst>
              <a:ext uri="{FF2B5EF4-FFF2-40B4-BE49-F238E27FC236}">
                <a16:creationId xmlns:a16="http://schemas.microsoft.com/office/drawing/2014/main" id="{90F75F61-5A76-5BD5-2F5B-0DB72E02F912}"/>
              </a:ext>
            </a:extLst>
          </p:cNvPr>
          <p:cNvSpPr txBox="1"/>
          <p:nvPr/>
        </p:nvSpPr>
        <p:spPr>
          <a:xfrm>
            <a:off x="789632" y="2527290"/>
            <a:ext cx="1537008" cy="369332"/>
          </a:xfrm>
          <a:prstGeom prst="rect">
            <a:avLst/>
          </a:prstGeom>
          <a:noFill/>
        </p:spPr>
        <p:txBody>
          <a:bodyPr wrap="square" rtlCol="0">
            <a:spAutoFit/>
          </a:bodyPr>
          <a:lstStyle/>
          <a:p>
            <a:pPr algn="ctr"/>
            <a:r>
              <a:rPr lang="it-IT" sz="900">
                <a:latin typeface="Pangolin" panose="00000500000000000000" pitchFamily="2" charset="0"/>
              </a:rPr>
              <a:t>Ora tutto ciò che devi fare è riorganizzare tutti i libri.</a:t>
            </a:r>
            <a:endParaRPr lang="pt-BR" sz="900" dirty="0"/>
          </a:p>
        </p:txBody>
      </p:sp>
      <p:sp>
        <p:nvSpPr>
          <p:cNvPr id="6" name="TextBox 5">
            <a:extLst>
              <a:ext uri="{FF2B5EF4-FFF2-40B4-BE49-F238E27FC236}">
                <a16:creationId xmlns:a16="http://schemas.microsoft.com/office/drawing/2014/main" id="{8A8AE781-4804-55E6-09C2-F3F5267E33F3}"/>
              </a:ext>
            </a:extLst>
          </p:cNvPr>
          <p:cNvSpPr txBox="1"/>
          <p:nvPr/>
        </p:nvSpPr>
        <p:spPr>
          <a:xfrm>
            <a:off x="2532072" y="645735"/>
            <a:ext cx="1537008" cy="230832"/>
          </a:xfrm>
          <a:prstGeom prst="rect">
            <a:avLst/>
          </a:prstGeom>
          <a:noFill/>
        </p:spPr>
        <p:txBody>
          <a:bodyPr wrap="square" rtlCol="0">
            <a:spAutoFit/>
          </a:bodyPr>
          <a:lstStyle/>
          <a:p>
            <a:pPr algn="ctr"/>
            <a:r>
              <a:rPr lang="es-419" sz="900">
                <a:latin typeface="Pangolin" panose="00000500000000000000" pitchFamily="2" charset="0"/>
              </a:rPr>
              <a:t>Ok, ecco il primo.</a:t>
            </a:r>
            <a:endParaRPr lang="pt-BR" sz="900" dirty="0"/>
          </a:p>
        </p:txBody>
      </p:sp>
      <p:sp>
        <p:nvSpPr>
          <p:cNvPr id="7" name="TextBox 6">
            <a:extLst>
              <a:ext uri="{FF2B5EF4-FFF2-40B4-BE49-F238E27FC236}">
                <a16:creationId xmlns:a16="http://schemas.microsoft.com/office/drawing/2014/main" id="{D0C535E4-A63A-BB67-D555-102CED854087}"/>
              </a:ext>
            </a:extLst>
          </p:cNvPr>
          <p:cNvSpPr txBox="1"/>
          <p:nvPr/>
        </p:nvSpPr>
        <p:spPr>
          <a:xfrm>
            <a:off x="3366516" y="2587630"/>
            <a:ext cx="1004553" cy="369332"/>
          </a:xfrm>
          <a:prstGeom prst="rect">
            <a:avLst/>
          </a:prstGeom>
          <a:noFill/>
        </p:spPr>
        <p:txBody>
          <a:bodyPr wrap="square" rtlCol="0">
            <a:spAutoFit/>
          </a:bodyPr>
          <a:lstStyle/>
          <a:p>
            <a:pPr algn="ctr"/>
            <a:r>
              <a:rPr lang="it-IT" sz="900" dirty="0">
                <a:latin typeface="Pangolin" panose="00000500000000000000" pitchFamily="2" charset="0"/>
              </a:rPr>
              <a:t>E perché è quello il primo?</a:t>
            </a:r>
            <a:endParaRPr lang="pt-BR" sz="900" dirty="0"/>
          </a:p>
        </p:txBody>
      </p:sp>
      <p:sp>
        <p:nvSpPr>
          <p:cNvPr id="8" name="TextBox 7">
            <a:extLst>
              <a:ext uri="{FF2B5EF4-FFF2-40B4-BE49-F238E27FC236}">
                <a16:creationId xmlns:a16="http://schemas.microsoft.com/office/drawing/2014/main" id="{66A91B42-F5D4-F557-4F50-B915BCD81CE4}"/>
              </a:ext>
            </a:extLst>
          </p:cNvPr>
          <p:cNvSpPr txBox="1"/>
          <p:nvPr/>
        </p:nvSpPr>
        <p:spPr>
          <a:xfrm>
            <a:off x="4840934" y="550724"/>
            <a:ext cx="1412875" cy="369332"/>
          </a:xfrm>
          <a:prstGeom prst="rect">
            <a:avLst/>
          </a:prstGeom>
          <a:noFill/>
        </p:spPr>
        <p:txBody>
          <a:bodyPr wrap="square" rtlCol="0">
            <a:spAutoFit/>
          </a:bodyPr>
          <a:lstStyle/>
          <a:p>
            <a:pPr algn="ctr"/>
            <a:r>
              <a:rPr lang="it-IT" sz="900">
                <a:latin typeface="Pangolin" panose="00000500000000000000" pitchFamily="2" charset="0"/>
              </a:rPr>
              <a:t>Il titolo inizia con 'A', quindi è il primo.</a:t>
            </a:r>
            <a:endParaRPr lang="pt-BR" sz="900" dirty="0"/>
          </a:p>
        </p:txBody>
      </p:sp>
      <p:sp>
        <p:nvSpPr>
          <p:cNvPr id="9" name="TextBox 8">
            <a:extLst>
              <a:ext uri="{FF2B5EF4-FFF2-40B4-BE49-F238E27FC236}">
                <a16:creationId xmlns:a16="http://schemas.microsoft.com/office/drawing/2014/main" id="{3627C5E3-D5EE-6AC3-47BC-479A4A8D5E15}"/>
              </a:ext>
            </a:extLst>
          </p:cNvPr>
          <p:cNvSpPr txBox="1"/>
          <p:nvPr/>
        </p:nvSpPr>
        <p:spPr>
          <a:xfrm>
            <a:off x="5197404" y="2489443"/>
            <a:ext cx="1412875" cy="646331"/>
          </a:xfrm>
          <a:prstGeom prst="rect">
            <a:avLst/>
          </a:prstGeom>
          <a:noFill/>
        </p:spPr>
        <p:txBody>
          <a:bodyPr wrap="square" rtlCol="0">
            <a:spAutoFit/>
          </a:bodyPr>
          <a:lstStyle/>
          <a:p>
            <a:pPr algn="ctr"/>
            <a:r>
              <a:rPr lang="it-IT" sz="900" dirty="0">
                <a:latin typeface="Pangolin" panose="00000500000000000000" pitchFamily="2" charset="0"/>
              </a:rPr>
              <a:t>Ordinarli alfabeticamente è l'opzione migliore? </a:t>
            </a:r>
            <a:br>
              <a:rPr lang="it-IT" sz="900" dirty="0">
                <a:latin typeface="Pangolin" panose="00000500000000000000" pitchFamily="2" charset="0"/>
              </a:rPr>
            </a:br>
            <a:r>
              <a:rPr lang="it-IT" sz="900" dirty="0">
                <a:latin typeface="Pangolin" panose="00000500000000000000" pitchFamily="2" charset="0"/>
              </a:rPr>
              <a:t>I libri hanno molti attributi diversi.</a:t>
            </a:r>
            <a:endParaRPr lang="pt-BR" sz="900" dirty="0"/>
          </a:p>
        </p:txBody>
      </p:sp>
      <p:sp>
        <p:nvSpPr>
          <p:cNvPr id="10" name="Title 9">
            <a:extLst>
              <a:ext uri="{FF2B5EF4-FFF2-40B4-BE49-F238E27FC236}">
                <a16:creationId xmlns:a16="http://schemas.microsoft.com/office/drawing/2014/main" id="{720F3D59-4ABF-58A5-8EF8-28E09FDAEA2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AT" sz="900">
                <a:latin typeface="Pangolin" panose="00000500000000000000" pitchFamily="2" charset="0"/>
                <a:ea typeface="+mn-ea"/>
                <a:cs typeface="+mn-cs"/>
              </a:rPr>
              <a:t>Attributi?</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44BDF201-A70F-F7D4-FC11-C74E70CB3427}"/>
              </a:ext>
            </a:extLst>
          </p:cNvPr>
          <p:cNvSpPr txBox="1"/>
          <p:nvPr/>
        </p:nvSpPr>
        <p:spPr>
          <a:xfrm>
            <a:off x="1245716" y="5566043"/>
            <a:ext cx="1161086" cy="230832"/>
          </a:xfrm>
          <a:prstGeom prst="rect">
            <a:avLst/>
          </a:prstGeom>
          <a:noFill/>
        </p:spPr>
        <p:txBody>
          <a:bodyPr wrap="square" rtlCol="0">
            <a:spAutoFit/>
          </a:bodyPr>
          <a:lstStyle/>
          <a:p>
            <a:pPr algn="ctr"/>
            <a:r>
              <a:rPr lang="de-AT" sz="900">
                <a:latin typeface="Pangolin" panose="00000500000000000000" pitchFamily="2" charset="0"/>
              </a:rPr>
              <a:t>Sì.</a:t>
            </a:r>
            <a:endParaRPr lang="pt-BR" sz="900" dirty="0"/>
          </a:p>
        </p:txBody>
      </p:sp>
      <p:sp>
        <p:nvSpPr>
          <p:cNvPr id="13" name="TextBox 12">
            <a:extLst>
              <a:ext uri="{FF2B5EF4-FFF2-40B4-BE49-F238E27FC236}">
                <a16:creationId xmlns:a16="http://schemas.microsoft.com/office/drawing/2014/main" id="{A59A5430-CB10-B2A8-5C83-A3D78CA3BDE7}"/>
              </a:ext>
            </a:extLst>
          </p:cNvPr>
          <p:cNvSpPr txBox="1"/>
          <p:nvPr/>
        </p:nvSpPr>
        <p:spPr>
          <a:xfrm>
            <a:off x="2526188" y="3593663"/>
            <a:ext cx="1930153" cy="6463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it-IT" dirty="0"/>
              <a:t>Un </a:t>
            </a:r>
            <a:r>
              <a:rPr lang="it-IT" dirty="0">
                <a:highlight>
                  <a:srgbClr val="C0C0C0"/>
                </a:highlight>
              </a:rPr>
              <a:t>ATTRIBUTO</a:t>
            </a:r>
            <a:r>
              <a:rPr lang="it-IT" dirty="0"/>
              <a:t> è qualsiasi proprietà specifica del libro che può essere misurata o osservata, come il titolo, le dimensioni...</a:t>
            </a:r>
            <a:endParaRPr lang="pt-BR" dirty="0"/>
          </a:p>
        </p:txBody>
      </p:sp>
      <p:sp>
        <p:nvSpPr>
          <p:cNvPr id="12" name="TextBox 11">
            <a:extLst>
              <a:ext uri="{FF2B5EF4-FFF2-40B4-BE49-F238E27FC236}">
                <a16:creationId xmlns:a16="http://schemas.microsoft.com/office/drawing/2014/main" id="{5F8FE5C0-B8C4-715D-0006-151EC047DD4C}"/>
              </a:ext>
            </a:extLst>
          </p:cNvPr>
          <p:cNvSpPr txBox="1"/>
          <p:nvPr/>
        </p:nvSpPr>
        <p:spPr>
          <a:xfrm>
            <a:off x="2371250" y="6077476"/>
            <a:ext cx="2250438"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it-IT"/>
              <a:t>I termini "variabile" e "dimensione dati" sono sinonimi di "attributo".</a:t>
            </a:r>
            <a:endParaRPr lang="pt-BR" dirty="0"/>
          </a:p>
        </p:txBody>
      </p:sp>
      <p:sp>
        <p:nvSpPr>
          <p:cNvPr id="14" name="TextBox 13">
            <a:extLst>
              <a:ext uri="{FF2B5EF4-FFF2-40B4-BE49-F238E27FC236}">
                <a16:creationId xmlns:a16="http://schemas.microsoft.com/office/drawing/2014/main" id="{61113EC9-CD55-B591-449B-8CD4EEF9E7CF}"/>
              </a:ext>
            </a:extLst>
          </p:cNvPr>
          <p:cNvSpPr txBox="1"/>
          <p:nvPr/>
        </p:nvSpPr>
        <p:spPr>
          <a:xfrm>
            <a:off x="4636928" y="3645058"/>
            <a:ext cx="2087880"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it-IT"/>
              <a:t>Ok... Quali sono dunque le qualità che potremmo trovare nei nostri libri?</a:t>
            </a:r>
            <a:endParaRPr lang="pt-BR" dirty="0"/>
          </a:p>
        </p:txBody>
      </p:sp>
      <p:sp>
        <p:nvSpPr>
          <p:cNvPr id="15" name="TextBox 14">
            <a:extLst>
              <a:ext uri="{FF2B5EF4-FFF2-40B4-BE49-F238E27FC236}">
                <a16:creationId xmlns:a16="http://schemas.microsoft.com/office/drawing/2014/main" id="{9E649E8F-B936-9A1D-DD7F-B669CF43C49C}"/>
              </a:ext>
            </a:extLst>
          </p:cNvPr>
          <p:cNvSpPr txBox="1"/>
          <p:nvPr/>
        </p:nvSpPr>
        <p:spPr>
          <a:xfrm>
            <a:off x="706056" y="6787235"/>
            <a:ext cx="2479104"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pPr algn="l"/>
            <a:r>
              <a:rPr lang="it-IT"/>
              <a:t>Prima di voltare pagina, guarda i libri e cerca di elencare tutti gli attributi che ti vengono in mente e che possiamo usare per ordinarli.</a:t>
            </a:r>
            <a:endParaRPr lang="pt-BR" dirty="0"/>
          </a:p>
        </p:txBody>
      </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0" name="Group 29">
            <a:extLst>
              <a:ext uri="{FF2B5EF4-FFF2-40B4-BE49-F238E27FC236}">
                <a16:creationId xmlns:a16="http://schemas.microsoft.com/office/drawing/2014/main" id="{34A6CF0C-0D4F-8ADD-BFE5-EAD8BCA4257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29" name="Freeform: Shape 28">
              <a:extLst>
                <a:ext uri="{FF2B5EF4-FFF2-40B4-BE49-F238E27FC236}">
                  <a16:creationId xmlns:a16="http://schemas.microsoft.com/office/drawing/2014/main" id="{A6C758F7-C75D-57F6-9DCE-951502C12526}"/>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CB26ED65-C413-1122-3391-B37E6EBFD9D7}"/>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5A4CA64-0C1A-49F9-E8F2-87B381546311}"/>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493D491A-9C5F-74EC-F528-013662DC7E70}"/>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DC6CDD26-9889-60DC-4D08-9435E62E90F5}"/>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767B6DA4-A18B-BFF5-7EDA-2C61143E4860}"/>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47FB0B03-749C-493F-2F55-A1B2BEC5AA4E}"/>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DF817941-D85B-4F0D-DAE3-7EC712448D1C}"/>
                </a:ext>
                <a:ext uri="{C183D7F6-B498-43B3-948B-1728B52AA6E4}">
                  <adec:decorative xmlns:adec="http://schemas.microsoft.com/office/drawing/2017/decorative" val="1"/>
                </a:ext>
              </a:extLst>
            </p:cNvPr>
            <p:cNvSpPr/>
            <p:nvPr/>
          </p:nvSpPr>
          <p:spPr>
            <a:xfrm>
              <a:off x="5423275" y="144145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FE7B1172-1E42-57B5-0B66-FF338E555B87}"/>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EB578D19-514A-3BA6-7BB2-18E0DAEDB1FF}"/>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3F0E2F6C-9375-2BB1-E3DF-E6A828D05BC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1FEA692B-8EED-5270-6E3B-81315C601794}"/>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F26410C8-94D3-5D30-0733-088AC3943A9A}"/>
                </a:ext>
                <a:ext uri="{C183D7F6-B498-43B3-948B-1728B52AA6E4}">
                  <adec:decorative xmlns:adec="http://schemas.microsoft.com/office/drawing/2017/decorative" val="1"/>
                </a:ext>
              </a:extLst>
            </p:cNvPr>
            <p:cNvSpPr/>
            <p:nvPr/>
          </p:nvSpPr>
          <p:spPr>
            <a:xfrm>
              <a:off x="4746625" y="901700"/>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19E18858-DB5E-45AE-2FED-BB71B4B50B54}"/>
              </a:ext>
            </a:extLst>
          </p:cNvPr>
          <p:cNvSpPr txBox="1"/>
          <p:nvPr/>
        </p:nvSpPr>
        <p:spPr>
          <a:xfrm>
            <a:off x="220672" y="91440"/>
            <a:ext cx="2131368" cy="261610"/>
          </a:xfrm>
          <a:prstGeom prst="rect">
            <a:avLst/>
          </a:prstGeom>
          <a:solidFill>
            <a:schemeClr val="bg1"/>
          </a:solidFill>
        </p:spPr>
        <p:txBody>
          <a:bodyPr wrap="square" rtlCol="0">
            <a:spAutoFit/>
          </a:bodyPr>
          <a:lstStyle/>
          <a:p>
            <a:r>
              <a:rPr lang="it-IT" sz="1100" dirty="0">
                <a:latin typeface="Pangolin" panose="00000500000000000000" pitchFamily="2" charset="0"/>
              </a:rPr>
              <a:t>Tipi di Attributi dei Dati</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5175C539-4512-6B07-7609-0B2418D559B4}"/>
              </a:ext>
            </a:extLst>
          </p:cNvPr>
          <p:cNvSpPr txBox="1"/>
          <p:nvPr/>
        </p:nvSpPr>
        <p:spPr>
          <a:xfrm rot="21281637">
            <a:off x="880665" y="2482835"/>
            <a:ext cx="1396538" cy="507831"/>
          </a:xfrm>
          <a:prstGeom prst="rect">
            <a:avLst/>
          </a:prstGeom>
          <a:noFill/>
        </p:spPr>
        <p:txBody>
          <a:bodyPr wrap="square" rtlCol="0">
            <a:spAutoFit/>
          </a:bodyPr>
          <a:lstStyle/>
          <a:p>
            <a:pPr algn="ctr"/>
            <a:r>
              <a:rPr lang="it-IT" sz="900" dirty="0">
                <a:latin typeface="Pangolin" panose="00000500000000000000" pitchFamily="2" charset="0"/>
              </a:rPr>
              <a:t>Wow, ci sono così tanti attributi... Che ne dici di usare il colore?</a:t>
            </a:r>
            <a:endParaRPr lang="pt-BR" sz="900" dirty="0"/>
          </a:p>
        </p:txBody>
      </p:sp>
      <p:sp>
        <p:nvSpPr>
          <p:cNvPr id="5" name="TextBox 4">
            <a:extLst>
              <a:ext uri="{FF2B5EF4-FFF2-40B4-BE49-F238E27FC236}">
                <a16:creationId xmlns:a16="http://schemas.microsoft.com/office/drawing/2014/main" id="{389EC87D-63C9-DB0A-BC1C-752BFE673528}"/>
              </a:ext>
            </a:extLst>
          </p:cNvPr>
          <p:cNvSpPr txBox="1"/>
          <p:nvPr/>
        </p:nvSpPr>
        <p:spPr>
          <a:xfrm>
            <a:off x="2590800" y="474970"/>
            <a:ext cx="1859280" cy="369332"/>
          </a:xfrm>
          <a:prstGeom prst="rect">
            <a:avLst/>
          </a:prstGeom>
          <a:noFill/>
        </p:spPr>
        <p:txBody>
          <a:bodyPr wrap="square" rtlCol="0">
            <a:spAutoFit/>
          </a:bodyPr>
          <a:lstStyle/>
          <a:p>
            <a:pPr algn="ctr"/>
            <a:r>
              <a:rPr lang="it-IT" sz="900">
                <a:latin typeface="Pangolin" panose="00000500000000000000" pitchFamily="2" charset="0"/>
              </a:rPr>
              <a:t>Potremmo ordinare i libri come i colori dell'arcobaleno.</a:t>
            </a:r>
            <a:endParaRPr lang="pt-BR" sz="900" dirty="0"/>
          </a:p>
        </p:txBody>
      </p:sp>
      <p:sp>
        <p:nvSpPr>
          <p:cNvPr id="6" name="TextBox 5">
            <a:extLst>
              <a:ext uri="{FF2B5EF4-FFF2-40B4-BE49-F238E27FC236}">
                <a16:creationId xmlns:a16="http://schemas.microsoft.com/office/drawing/2014/main" id="{728F6D9C-E189-63D3-DF41-00F380EC4DA9}"/>
              </a:ext>
            </a:extLst>
          </p:cNvPr>
          <p:cNvSpPr txBox="1"/>
          <p:nvPr/>
        </p:nvSpPr>
        <p:spPr>
          <a:xfrm>
            <a:off x="2651663" y="970882"/>
            <a:ext cx="1135478" cy="507831"/>
          </a:xfrm>
          <a:prstGeom prst="rect">
            <a:avLst/>
          </a:prstGeom>
          <a:noFill/>
        </p:spPr>
        <p:txBody>
          <a:bodyPr wrap="square" rtlCol="0">
            <a:spAutoFit/>
          </a:bodyPr>
          <a:lstStyle/>
          <a:p>
            <a:pPr algn="ctr"/>
            <a:r>
              <a:rPr lang="it-IT" sz="900" dirty="0">
                <a:latin typeface="Pangolin" panose="00000500000000000000" pitchFamily="2" charset="0"/>
              </a:rPr>
              <a:t>O in ordine alfabetico per colore!</a:t>
            </a:r>
            <a:endParaRPr lang="pt-BR" sz="900" dirty="0"/>
          </a:p>
        </p:txBody>
      </p:sp>
      <p:sp>
        <p:nvSpPr>
          <p:cNvPr id="7" name="TextBox 6">
            <a:extLst>
              <a:ext uri="{FF2B5EF4-FFF2-40B4-BE49-F238E27FC236}">
                <a16:creationId xmlns:a16="http://schemas.microsoft.com/office/drawing/2014/main" id="{5076C23E-2F56-BEE8-C425-ACFFBA0FBD4A}"/>
              </a:ext>
            </a:extLst>
          </p:cNvPr>
          <p:cNvSpPr txBox="1"/>
          <p:nvPr/>
        </p:nvSpPr>
        <p:spPr>
          <a:xfrm>
            <a:off x="4851479" y="440245"/>
            <a:ext cx="1670340" cy="369332"/>
          </a:xfrm>
          <a:prstGeom prst="rect">
            <a:avLst/>
          </a:prstGeom>
          <a:noFill/>
        </p:spPr>
        <p:txBody>
          <a:bodyPr wrap="square" rtlCol="0">
            <a:spAutoFit/>
          </a:bodyPr>
          <a:lstStyle/>
          <a:p>
            <a:pPr algn="ctr"/>
            <a:r>
              <a:rPr lang="it-IT" sz="900">
                <a:latin typeface="Pangolin" panose="00000500000000000000" pitchFamily="2" charset="0"/>
              </a:rPr>
              <a:t>Non dovrebbe essere così difficile trovare un accordo...</a:t>
            </a:r>
            <a:endParaRPr lang="pt-BR" sz="900" dirty="0"/>
          </a:p>
        </p:txBody>
      </p:sp>
      <p:sp>
        <p:nvSpPr>
          <p:cNvPr id="8" name="TextBox 7">
            <a:extLst>
              <a:ext uri="{FF2B5EF4-FFF2-40B4-BE49-F238E27FC236}">
                <a16:creationId xmlns:a16="http://schemas.microsoft.com/office/drawing/2014/main" id="{71408090-A276-8031-F131-9F39D90A796C}"/>
              </a:ext>
            </a:extLst>
          </p:cNvPr>
          <p:cNvSpPr txBox="1"/>
          <p:nvPr/>
        </p:nvSpPr>
        <p:spPr>
          <a:xfrm>
            <a:off x="4676484" y="925505"/>
            <a:ext cx="1701205" cy="369332"/>
          </a:xfrm>
          <a:prstGeom prst="rect">
            <a:avLst/>
          </a:prstGeom>
          <a:noFill/>
        </p:spPr>
        <p:txBody>
          <a:bodyPr wrap="square" rtlCol="0">
            <a:spAutoFit/>
          </a:bodyPr>
          <a:lstStyle/>
          <a:p>
            <a:pPr algn="ctr"/>
            <a:r>
              <a:rPr lang="it-IT" sz="900" dirty="0">
                <a:latin typeface="Pangolin" panose="00000500000000000000" pitchFamily="2" charset="0"/>
              </a:rPr>
              <a:t>Perché possiamo ordinarli in modo diverso con il colore?</a:t>
            </a:r>
            <a:endParaRPr lang="pt-BR" sz="900" dirty="0"/>
          </a:p>
        </p:txBody>
      </p:sp>
      <p:sp>
        <p:nvSpPr>
          <p:cNvPr id="9" name="Title 8">
            <a:extLst>
              <a:ext uri="{FF2B5EF4-FFF2-40B4-BE49-F238E27FC236}">
                <a16:creationId xmlns:a16="http://schemas.microsoft.com/office/drawing/2014/main" id="{37A6FF85-C497-9256-235B-4A0DE02BE81F}"/>
              </a:ext>
            </a:extLst>
          </p:cNvPr>
          <p:cNvSpPr txBox="1">
            <a:spLocks noGrp="1"/>
          </p:cNvSpPr>
          <p:nvPr>
            <p:ph type="title" idx="4294967295"/>
          </p:nvPr>
        </p:nvSpPr>
        <p:spPr>
          <a:xfrm>
            <a:off x="5312760" y="1418863"/>
            <a:ext cx="134322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it-IT" sz="900">
                <a:latin typeface="Pangolin" panose="00000500000000000000" pitchFamily="2" charset="0"/>
                <a:ea typeface="+mn-ea"/>
                <a:cs typeface="+mn-cs"/>
              </a:rPr>
              <a:t>Penso che sia a causa del tipo di attributo...</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0" name="TextBox 9">
            <a:extLst>
              <a:ext uri="{FF2B5EF4-FFF2-40B4-BE49-F238E27FC236}">
                <a16:creationId xmlns:a16="http://schemas.microsoft.com/office/drawing/2014/main" id="{F5230797-C3F3-0845-6B2C-7F89A796BB81}"/>
              </a:ext>
            </a:extLst>
          </p:cNvPr>
          <p:cNvSpPr txBox="1"/>
          <p:nvPr/>
        </p:nvSpPr>
        <p:spPr>
          <a:xfrm>
            <a:off x="310588" y="3524726"/>
            <a:ext cx="2041452" cy="923330"/>
          </a:xfrm>
          <a:prstGeom prst="rect">
            <a:avLst/>
          </a:prstGeom>
          <a:noFill/>
        </p:spPr>
        <p:txBody>
          <a:bodyPr wrap="square" rtlCol="0">
            <a:spAutoFit/>
          </a:bodyPr>
          <a:lstStyle/>
          <a:p>
            <a:pPr algn="ctr"/>
            <a:r>
              <a:rPr lang="it-IT" sz="900" dirty="0">
                <a:latin typeface="Pangolin" panose="00000500000000000000" pitchFamily="2" charset="0"/>
              </a:rPr>
              <a:t>La tonalità di colore è un attributo </a:t>
            </a:r>
            <a:r>
              <a:rPr lang="it-IT" sz="900" dirty="0">
                <a:highlight>
                  <a:srgbClr val="C0C0C0"/>
                </a:highlight>
                <a:latin typeface="Pangolin" panose="00000500000000000000" pitchFamily="2" charset="0"/>
              </a:rPr>
              <a:t>CATEGORICO</a:t>
            </a:r>
            <a:r>
              <a:rPr lang="it-IT" sz="900" dirty="0">
                <a:latin typeface="Pangolin" panose="00000500000000000000" pitchFamily="2" charset="0"/>
              </a:rPr>
              <a:t>. Non ha un ordine implicito, come il genere o l'autore del libro. Possiamo ordinare gli articoli per categorie, ma non c'è un ordine preimpostato tra di loro.</a:t>
            </a:r>
            <a:endParaRPr lang="pt-BR" sz="900" dirty="0"/>
          </a:p>
        </p:txBody>
      </p:sp>
      <p:sp>
        <p:nvSpPr>
          <p:cNvPr id="11" name="TextBox 10">
            <a:extLst>
              <a:ext uri="{FF2B5EF4-FFF2-40B4-BE49-F238E27FC236}">
                <a16:creationId xmlns:a16="http://schemas.microsoft.com/office/drawing/2014/main" id="{A5602F38-FB10-EBF4-5932-B0B6F81C25FD}"/>
              </a:ext>
            </a:extLst>
          </p:cNvPr>
          <p:cNvSpPr txBox="1"/>
          <p:nvPr/>
        </p:nvSpPr>
        <p:spPr>
          <a:xfrm>
            <a:off x="2478686" y="3594091"/>
            <a:ext cx="2027276" cy="646331"/>
          </a:xfrm>
          <a:prstGeom prst="rect">
            <a:avLst/>
          </a:prstGeom>
          <a:noFill/>
        </p:spPr>
        <p:txBody>
          <a:bodyPr wrap="square" rtlCol="0">
            <a:spAutoFit/>
          </a:bodyPr>
          <a:lstStyle/>
          <a:p>
            <a:pPr algn="ctr"/>
            <a:r>
              <a:rPr lang="it-IT" sz="900" dirty="0">
                <a:latin typeface="Pangolin" panose="00000500000000000000" pitchFamily="2" charset="0"/>
              </a:rPr>
              <a:t>Capisco!</a:t>
            </a:r>
            <a:br>
              <a:rPr lang="it-IT" sz="900" dirty="0">
                <a:latin typeface="Pangolin" panose="00000500000000000000" pitchFamily="2" charset="0"/>
              </a:rPr>
            </a:br>
            <a:r>
              <a:rPr lang="it-IT" sz="900" dirty="0">
                <a:latin typeface="Pangolin" panose="00000500000000000000" pitchFamily="2" charset="0"/>
              </a:rPr>
              <a:t>E per quanto riguarda le dimensioni dei libri? È sicuramente qualcosa con una sorta di ordine innato, vero?</a:t>
            </a:r>
            <a:endParaRPr lang="pt-BR" sz="900" dirty="0"/>
          </a:p>
        </p:txBody>
      </p:sp>
      <p:sp>
        <p:nvSpPr>
          <p:cNvPr id="12" name="TextBox 11">
            <a:extLst>
              <a:ext uri="{FF2B5EF4-FFF2-40B4-BE49-F238E27FC236}">
                <a16:creationId xmlns:a16="http://schemas.microsoft.com/office/drawing/2014/main" id="{6277A897-0E03-3BBC-49C4-636D6DFAFEDF}"/>
              </a:ext>
            </a:extLst>
          </p:cNvPr>
          <p:cNvSpPr txBox="1"/>
          <p:nvPr/>
        </p:nvSpPr>
        <p:spPr>
          <a:xfrm>
            <a:off x="4628704" y="3591654"/>
            <a:ext cx="2055628" cy="646331"/>
          </a:xfrm>
          <a:prstGeom prst="rect">
            <a:avLst/>
          </a:prstGeom>
          <a:noFill/>
        </p:spPr>
        <p:txBody>
          <a:bodyPr wrap="square" rtlCol="0">
            <a:spAutoFit/>
          </a:bodyPr>
          <a:lstStyle/>
          <a:p>
            <a:pPr algn="ctr"/>
            <a:r>
              <a:rPr lang="it-IT" sz="900" dirty="0">
                <a:latin typeface="Pangolin" panose="00000500000000000000" pitchFamily="2" charset="0"/>
              </a:rPr>
              <a:t>Esattamente! Gli attributi possono essere categorici o ordinati e gli attributi ordinati possono essere </a:t>
            </a:r>
            <a:r>
              <a:rPr lang="it-IT" sz="900" dirty="0">
                <a:highlight>
                  <a:srgbClr val="C0C0C0"/>
                </a:highlight>
                <a:latin typeface="Pangolin" panose="00000500000000000000" pitchFamily="2" charset="0"/>
              </a:rPr>
              <a:t>ORDINALI</a:t>
            </a:r>
            <a:r>
              <a:rPr lang="it-IT" sz="900" dirty="0">
                <a:latin typeface="Pangolin" panose="00000500000000000000" pitchFamily="2" charset="0"/>
              </a:rPr>
              <a:t> o </a:t>
            </a:r>
            <a:r>
              <a:rPr lang="it-IT" sz="900" dirty="0">
                <a:highlight>
                  <a:srgbClr val="C0C0C0"/>
                </a:highlight>
                <a:latin typeface="Pangolin" panose="00000500000000000000" pitchFamily="2" charset="0"/>
              </a:rPr>
              <a:t>QUANTITATIVI</a:t>
            </a:r>
            <a:r>
              <a:rPr lang="it-IT" sz="900" dirty="0">
                <a:latin typeface="Pangolin" panose="00000500000000000000" pitchFamily="2" charset="0"/>
              </a:rPr>
              <a:t>...</a:t>
            </a:r>
            <a:endParaRPr lang="pt-BR" sz="900" dirty="0"/>
          </a:p>
        </p:txBody>
      </p:sp>
      <p:sp>
        <p:nvSpPr>
          <p:cNvPr id="13" name="TextBox 12">
            <a:extLst>
              <a:ext uri="{FF2B5EF4-FFF2-40B4-BE49-F238E27FC236}">
                <a16:creationId xmlns:a16="http://schemas.microsoft.com/office/drawing/2014/main" id="{C8327210-5CD9-5991-E5D9-B57885650E78}"/>
              </a:ext>
            </a:extLst>
          </p:cNvPr>
          <p:cNvSpPr txBox="1"/>
          <p:nvPr/>
        </p:nvSpPr>
        <p:spPr>
          <a:xfrm>
            <a:off x="441081" y="6851759"/>
            <a:ext cx="1581714" cy="646331"/>
          </a:xfrm>
          <a:prstGeom prst="rect">
            <a:avLst/>
          </a:prstGeom>
          <a:noFill/>
        </p:spPr>
        <p:txBody>
          <a:bodyPr wrap="square" rtlCol="0">
            <a:spAutoFit/>
          </a:bodyPr>
          <a:lstStyle/>
          <a:p>
            <a:pPr algn="ctr"/>
            <a:r>
              <a:rPr lang="it-IT" sz="900" dirty="0">
                <a:latin typeface="Pangolin" panose="00000500000000000000" pitchFamily="2" charset="0"/>
              </a:rPr>
              <a:t>Se misuri i libri in centimetri, la misura è </a:t>
            </a:r>
            <a:r>
              <a:rPr lang="it-IT" sz="900" dirty="0">
                <a:highlight>
                  <a:srgbClr val="C0C0C0"/>
                </a:highlight>
                <a:latin typeface="Pangolin" panose="00000500000000000000" pitchFamily="2" charset="0"/>
              </a:rPr>
              <a:t>QUANTITATIVA</a:t>
            </a:r>
            <a:r>
              <a:rPr lang="it-IT" sz="900" dirty="0">
                <a:latin typeface="Pangolin" panose="00000500000000000000" pitchFamily="2" charset="0"/>
              </a:rPr>
              <a:t>, in quanto consente un confronto aritmetico.</a:t>
            </a:r>
            <a:endParaRPr lang="pt-BR" sz="900" dirty="0"/>
          </a:p>
        </p:txBody>
      </p:sp>
      <p:sp>
        <p:nvSpPr>
          <p:cNvPr id="16" name="TextBox 15">
            <a:extLst>
              <a:ext uri="{FF2B5EF4-FFF2-40B4-BE49-F238E27FC236}">
                <a16:creationId xmlns:a16="http://schemas.microsoft.com/office/drawing/2014/main" id="{76F79781-CED0-4E77-0B47-64C78979D5D9}"/>
              </a:ext>
            </a:extLst>
          </p:cNvPr>
          <p:cNvSpPr txBox="1"/>
          <p:nvPr/>
        </p:nvSpPr>
        <p:spPr>
          <a:xfrm>
            <a:off x="789412" y="8998283"/>
            <a:ext cx="1422158" cy="507831"/>
          </a:xfrm>
          <a:prstGeom prst="rect">
            <a:avLst/>
          </a:prstGeom>
          <a:noFill/>
        </p:spPr>
        <p:txBody>
          <a:bodyPr wrap="square" rtlCol="0">
            <a:spAutoFit/>
          </a:bodyPr>
          <a:lstStyle/>
          <a:p>
            <a:pPr algn="ctr"/>
            <a:r>
              <a:rPr lang="it-IT" sz="900">
                <a:latin typeface="Pangolin" panose="00000500000000000000" pitchFamily="2" charset="0"/>
              </a:rPr>
              <a:t>Lo stesso vale per il</a:t>
            </a:r>
            <a:br>
              <a:rPr lang="it-IT" sz="900">
                <a:latin typeface="Pangolin" panose="00000500000000000000" pitchFamily="2" charset="0"/>
              </a:rPr>
            </a:br>
            <a:r>
              <a:rPr lang="it-IT" sz="900">
                <a:latin typeface="Pangolin" panose="00000500000000000000" pitchFamily="2" charset="0"/>
              </a:rPr>
              <a:t>peso in grammi, o il numero di pagine.</a:t>
            </a:r>
            <a:endParaRPr lang="pt-BR" sz="900" dirty="0"/>
          </a:p>
        </p:txBody>
      </p:sp>
      <p:sp>
        <p:nvSpPr>
          <p:cNvPr id="14" name="TextBox 13">
            <a:extLst>
              <a:ext uri="{FF2B5EF4-FFF2-40B4-BE49-F238E27FC236}">
                <a16:creationId xmlns:a16="http://schemas.microsoft.com/office/drawing/2014/main" id="{0F2B1A3C-AE66-B2C0-5DE3-59DD2A393891}"/>
              </a:ext>
            </a:extLst>
          </p:cNvPr>
          <p:cNvSpPr txBox="1"/>
          <p:nvPr/>
        </p:nvSpPr>
        <p:spPr>
          <a:xfrm>
            <a:off x="2475144" y="6815965"/>
            <a:ext cx="2055628" cy="507831"/>
          </a:xfrm>
          <a:prstGeom prst="rect">
            <a:avLst/>
          </a:prstGeom>
          <a:noFill/>
        </p:spPr>
        <p:txBody>
          <a:bodyPr wrap="square" rtlCol="0">
            <a:spAutoFit/>
          </a:bodyPr>
          <a:lstStyle/>
          <a:p>
            <a:pPr algn="ctr"/>
            <a:r>
              <a:rPr lang="it-IT" sz="900">
                <a:latin typeface="Pangolin" panose="00000500000000000000" pitchFamily="2" charset="0"/>
              </a:rPr>
              <a:t>Ma se mi limitassi a dividere i libri</a:t>
            </a:r>
            <a:br>
              <a:rPr lang="it-IT" sz="900">
                <a:latin typeface="Pangolin" panose="00000500000000000000" pitchFamily="2" charset="0"/>
              </a:rPr>
            </a:br>
            <a:r>
              <a:rPr lang="it-IT" sz="900">
                <a:latin typeface="Pangolin" panose="00000500000000000000" pitchFamily="2" charset="0"/>
              </a:rPr>
              <a:t>in gruppi di piccoli libri,</a:t>
            </a:r>
            <a:br>
              <a:rPr lang="it-IT" sz="900">
                <a:latin typeface="Pangolin" panose="00000500000000000000" pitchFamily="2" charset="0"/>
              </a:rPr>
            </a:br>
            <a:r>
              <a:rPr lang="it-IT" sz="900">
                <a:latin typeface="Pangolin" panose="00000500000000000000" pitchFamily="2" charset="0"/>
              </a:rPr>
              <a:t>medie e grandi...</a:t>
            </a:r>
            <a:endParaRPr lang="pt-BR" sz="900" dirty="0"/>
          </a:p>
        </p:txBody>
      </p:sp>
      <p:sp>
        <p:nvSpPr>
          <p:cNvPr id="15" name="TextBox 14">
            <a:extLst>
              <a:ext uri="{FF2B5EF4-FFF2-40B4-BE49-F238E27FC236}">
                <a16:creationId xmlns:a16="http://schemas.microsoft.com/office/drawing/2014/main" id="{5F5E1EC4-C8FE-B785-52A8-2B9CEE3B218E}"/>
              </a:ext>
            </a:extLst>
          </p:cNvPr>
          <p:cNvSpPr txBox="1"/>
          <p:nvPr/>
        </p:nvSpPr>
        <p:spPr>
          <a:xfrm>
            <a:off x="4648764" y="6746438"/>
            <a:ext cx="1858258" cy="646331"/>
          </a:xfrm>
          <a:prstGeom prst="rect">
            <a:avLst/>
          </a:prstGeom>
          <a:noFill/>
        </p:spPr>
        <p:txBody>
          <a:bodyPr wrap="square" rtlCol="0">
            <a:spAutoFit/>
          </a:bodyPr>
          <a:lstStyle/>
          <a:p>
            <a:pPr algn="ctr"/>
            <a:r>
              <a:rPr lang="it-IT" sz="900" dirty="0">
                <a:latin typeface="Pangolin" panose="00000500000000000000" pitchFamily="2" charset="0"/>
              </a:rPr>
              <a:t>... allora dimensione è un attributo </a:t>
            </a:r>
            <a:r>
              <a:rPr lang="it-IT" sz="900" dirty="0">
                <a:highlight>
                  <a:srgbClr val="C0C0C0"/>
                </a:highlight>
                <a:latin typeface="Pangolin" panose="00000500000000000000" pitchFamily="2" charset="0"/>
              </a:rPr>
              <a:t>ORDINALE</a:t>
            </a:r>
            <a:r>
              <a:rPr lang="it-IT" sz="900" dirty="0">
                <a:latin typeface="Pangolin" panose="00000500000000000000" pitchFamily="2" charset="0"/>
              </a:rPr>
              <a:t>. Non possiamo usarlo nei calcoli, ma c'è comunque un ordine ben definito.</a:t>
            </a:r>
            <a:endParaRPr lang="pt-BR" sz="900" dirty="0"/>
          </a:p>
        </p:txBody>
      </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9B045A0-12D1-5F5C-2A70-734041B7F1E9}"/>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19" name="Freeform: Shape 18">
              <a:extLst>
                <a:ext uri="{FF2B5EF4-FFF2-40B4-BE49-F238E27FC236}">
                  <a16:creationId xmlns:a16="http://schemas.microsoft.com/office/drawing/2014/main" id="{511600F9-59D6-DCF4-96F6-3356C198EB56}"/>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CF8A420-298A-2674-EEBB-2C44257B2226}"/>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7319B92C-C1B3-28DD-DFE5-768F30415E13}"/>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B98E826F-5AA8-E83D-C4E6-327715AD0DB8}"/>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15F52FE-CF32-AB28-8709-0F15E6AD0D0B}"/>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F7823B7-5626-D145-58E7-1B7D2D7F15B1}"/>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792137B-9EC3-6E00-C643-C7547110C0F1}"/>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F4F2D08B-9308-BF3E-D29E-0B48EA242636}"/>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76539207-6719-F1FD-384A-4B64B0B1ADF5}"/>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A79ADC25-9271-B5A8-93C2-A60390F5E834}"/>
              </a:ext>
            </a:extLst>
          </p:cNvPr>
          <p:cNvSpPr txBox="1"/>
          <p:nvPr/>
        </p:nvSpPr>
        <p:spPr>
          <a:xfrm>
            <a:off x="220672" y="91440"/>
            <a:ext cx="2131368" cy="261610"/>
          </a:xfrm>
          <a:prstGeom prst="rect">
            <a:avLst/>
          </a:prstGeom>
          <a:solidFill>
            <a:schemeClr val="bg1"/>
          </a:solidFill>
        </p:spPr>
        <p:txBody>
          <a:bodyPr wrap="square" rtlCol="0">
            <a:spAutoFit/>
          </a:bodyPr>
          <a:lstStyle/>
          <a:p>
            <a:r>
              <a:rPr lang="it-IT" sz="1100" dirty="0">
                <a:latin typeface="Pangolin" panose="00000500000000000000" pitchFamily="2" charset="0"/>
              </a:rPr>
              <a:t>Tipi di Attributi dei Dati</a:t>
            </a:r>
            <a:endParaRPr lang="de-AT" sz="1100" dirty="0">
              <a:latin typeface="Pangolin" panose="00000500000000000000" pitchFamily="2" charset="0"/>
            </a:endParaRPr>
          </a:p>
        </p:txBody>
      </p:sp>
      <p:sp>
        <p:nvSpPr>
          <p:cNvPr id="7" name="TextBox 6">
            <a:extLst>
              <a:ext uri="{FF2B5EF4-FFF2-40B4-BE49-F238E27FC236}">
                <a16:creationId xmlns:a16="http://schemas.microsoft.com/office/drawing/2014/main" id="{9EFE361C-2142-1F6F-B394-8EF2CADD8614}"/>
              </a:ext>
            </a:extLst>
          </p:cNvPr>
          <p:cNvSpPr txBox="1"/>
          <p:nvPr/>
        </p:nvSpPr>
        <p:spPr>
          <a:xfrm>
            <a:off x="289324" y="472682"/>
            <a:ext cx="2055628" cy="507831"/>
          </a:xfrm>
          <a:prstGeom prst="rect">
            <a:avLst/>
          </a:prstGeom>
          <a:noFill/>
        </p:spPr>
        <p:txBody>
          <a:bodyPr wrap="square" rtlCol="0">
            <a:spAutoFit/>
          </a:bodyPr>
          <a:lstStyle/>
          <a:p>
            <a:pPr algn="ctr"/>
            <a:r>
              <a:rPr lang="it-IT" sz="900">
                <a:latin typeface="Pangolin" panose="00000500000000000000" pitchFamily="2" charset="0"/>
              </a:rPr>
              <a:t>Una variabile può anche essere trasformata dopo la raccolta dei dati per avere un tipo diverso.</a:t>
            </a:r>
            <a:endParaRPr lang="pt-BR" sz="900" dirty="0"/>
          </a:p>
        </p:txBody>
      </p:sp>
      <p:sp>
        <p:nvSpPr>
          <p:cNvPr id="8" name="TextBox 7">
            <a:extLst>
              <a:ext uri="{FF2B5EF4-FFF2-40B4-BE49-F238E27FC236}">
                <a16:creationId xmlns:a16="http://schemas.microsoft.com/office/drawing/2014/main" id="{95A1C62B-A76B-05DC-4CB1-61BA87AEC175}"/>
              </a:ext>
            </a:extLst>
          </p:cNvPr>
          <p:cNvSpPr txBox="1"/>
          <p:nvPr/>
        </p:nvSpPr>
        <p:spPr>
          <a:xfrm>
            <a:off x="2473735" y="440423"/>
            <a:ext cx="2055628" cy="923330"/>
          </a:xfrm>
          <a:prstGeom prst="rect">
            <a:avLst/>
          </a:prstGeom>
          <a:noFill/>
        </p:spPr>
        <p:txBody>
          <a:bodyPr wrap="square" rtlCol="0">
            <a:spAutoFit/>
          </a:bodyPr>
          <a:lstStyle/>
          <a:p>
            <a:pPr algn="ctr"/>
            <a:r>
              <a:rPr lang="it-IT" sz="900">
                <a:latin typeface="Pangolin" panose="00000500000000000000" pitchFamily="2" charset="0"/>
              </a:rPr>
              <a:t>Ad esempio, misura tutti i libri in centimetri e poi decidi che tutti i libri più piccoli di 18 centimetri verranno registrati come "piccoli". Ciò significherebbe convertire un attributo quantitativo in uno ordinale.</a:t>
            </a:r>
            <a:endParaRPr lang="pt-BR" sz="900" dirty="0"/>
          </a:p>
        </p:txBody>
      </p:sp>
      <p:sp>
        <p:nvSpPr>
          <p:cNvPr id="9" name="TextBox 8">
            <a:extLst>
              <a:ext uri="{FF2B5EF4-FFF2-40B4-BE49-F238E27FC236}">
                <a16:creationId xmlns:a16="http://schemas.microsoft.com/office/drawing/2014/main" id="{D41D60B6-C1BB-ECB9-5BC1-EC2E2234A492}"/>
              </a:ext>
            </a:extLst>
          </p:cNvPr>
          <p:cNvSpPr txBox="1"/>
          <p:nvPr/>
        </p:nvSpPr>
        <p:spPr>
          <a:xfrm>
            <a:off x="4644185" y="484015"/>
            <a:ext cx="2055628" cy="646331"/>
          </a:xfrm>
          <a:prstGeom prst="rect">
            <a:avLst/>
          </a:prstGeom>
          <a:noFill/>
        </p:spPr>
        <p:txBody>
          <a:bodyPr wrap="square" rtlCol="0">
            <a:spAutoFit/>
          </a:bodyPr>
          <a:lstStyle/>
          <a:p>
            <a:pPr algn="ctr"/>
            <a:r>
              <a:rPr lang="it-IT" sz="900" dirty="0">
                <a:latin typeface="Pangolin" panose="00000500000000000000" pitchFamily="2" charset="0"/>
              </a:rPr>
              <a:t>Corretto. Potresti andare oltre e trasformarlo in un attributo categorico binario: ad esempio, libro tascabile o a grandezza naturale.</a:t>
            </a:r>
            <a:endParaRPr lang="pt-BR" sz="900" dirty="0"/>
          </a:p>
        </p:txBody>
      </p:sp>
      <p:sp>
        <p:nvSpPr>
          <p:cNvPr id="4" name="TextBox 3">
            <a:extLst>
              <a:ext uri="{FF2B5EF4-FFF2-40B4-BE49-F238E27FC236}">
                <a16:creationId xmlns:a16="http://schemas.microsoft.com/office/drawing/2014/main" id="{D7AECB84-A770-B3A9-A778-79F4C8A520D9}"/>
              </a:ext>
            </a:extLst>
          </p:cNvPr>
          <p:cNvSpPr txBox="1"/>
          <p:nvPr/>
        </p:nvSpPr>
        <p:spPr>
          <a:xfrm>
            <a:off x="296412" y="3633506"/>
            <a:ext cx="2055628" cy="507831"/>
          </a:xfrm>
          <a:prstGeom prst="rect">
            <a:avLst/>
          </a:prstGeom>
          <a:noFill/>
        </p:spPr>
        <p:txBody>
          <a:bodyPr wrap="square" rtlCol="0">
            <a:spAutoFit/>
          </a:bodyPr>
          <a:lstStyle/>
          <a:p>
            <a:pPr algn="ctr"/>
            <a:r>
              <a:rPr lang="it-IT" sz="900" dirty="0">
                <a:latin typeface="Pangolin" panose="00000500000000000000" pitchFamily="2" charset="0"/>
              </a:rPr>
              <a:t>Vero. Ma questo non significa che ci perderemmo la maggior parte dei dettagli dei dati raccolti?</a:t>
            </a:r>
            <a:endParaRPr lang="pt-BR" sz="900" dirty="0"/>
          </a:p>
        </p:txBody>
      </p:sp>
      <p:sp>
        <p:nvSpPr>
          <p:cNvPr id="5" name="TextBox 4">
            <a:extLst>
              <a:ext uri="{FF2B5EF4-FFF2-40B4-BE49-F238E27FC236}">
                <a16:creationId xmlns:a16="http://schemas.microsoft.com/office/drawing/2014/main" id="{7C58E001-C0B6-7EC2-1BC3-1E3B34763C26}"/>
              </a:ext>
            </a:extLst>
          </p:cNvPr>
          <p:cNvSpPr txBox="1"/>
          <p:nvPr/>
        </p:nvSpPr>
        <p:spPr>
          <a:xfrm>
            <a:off x="2655639" y="3526802"/>
            <a:ext cx="1649662" cy="784830"/>
          </a:xfrm>
          <a:prstGeom prst="rect">
            <a:avLst/>
          </a:prstGeom>
          <a:noFill/>
        </p:spPr>
        <p:txBody>
          <a:bodyPr wrap="square" rtlCol="0">
            <a:spAutoFit/>
          </a:bodyPr>
          <a:lstStyle/>
          <a:p>
            <a:pPr algn="ctr"/>
            <a:r>
              <a:rPr lang="it-IT" sz="900" dirty="0">
                <a:latin typeface="Pangolin" panose="00000500000000000000" pitchFamily="2" charset="0"/>
              </a:rPr>
              <a:t>Sì, sono trasformazioni con perdita di dati. Quindi, se non sei sicuro di come utilizzerai i dati, è meglio raccoglierli in modo più dettagliato.</a:t>
            </a:r>
            <a:endParaRPr lang="pt-BR" sz="900" dirty="0"/>
          </a:p>
        </p:txBody>
      </p:sp>
      <p:sp>
        <p:nvSpPr>
          <p:cNvPr id="6" name="TextBox 5">
            <a:extLst>
              <a:ext uri="{FF2B5EF4-FFF2-40B4-BE49-F238E27FC236}">
                <a16:creationId xmlns:a16="http://schemas.microsoft.com/office/drawing/2014/main" id="{CC7CF252-4736-8C4E-6CEF-F0C70A8080AE}"/>
              </a:ext>
            </a:extLst>
          </p:cNvPr>
          <p:cNvSpPr txBox="1"/>
          <p:nvPr/>
        </p:nvSpPr>
        <p:spPr>
          <a:xfrm>
            <a:off x="4694972" y="3487001"/>
            <a:ext cx="1905000" cy="923330"/>
          </a:xfrm>
          <a:prstGeom prst="rect">
            <a:avLst/>
          </a:prstGeom>
          <a:noFill/>
        </p:spPr>
        <p:txBody>
          <a:bodyPr wrap="square" rtlCol="0">
            <a:spAutoFit/>
          </a:bodyPr>
          <a:lstStyle/>
          <a:p>
            <a:pPr algn="ctr"/>
            <a:r>
              <a:rPr lang="it-IT" sz="900">
                <a:latin typeface="Pangolin" panose="00000500000000000000" pitchFamily="2" charset="0"/>
              </a:rPr>
              <a:t>Ha senso. Un valore quantitativo può sempre essere trasformato. Ma se hai solo valori categorici o ordinali fin dall'inizio, non sarai in grado di passare ai valori quantitativi in un secondo momento.</a:t>
            </a:r>
            <a:endParaRPr lang="pt-BR" sz="900" dirty="0"/>
          </a:p>
        </p:txBody>
      </p:sp>
      <p:sp>
        <p:nvSpPr>
          <p:cNvPr id="10" name="Title 9">
            <a:extLst>
              <a:ext uri="{FF2B5EF4-FFF2-40B4-BE49-F238E27FC236}">
                <a16:creationId xmlns:a16="http://schemas.microsoft.com/office/drawing/2014/main" id="{500A5F8D-760F-5E5E-AA2F-F8C90315C0F2}"/>
              </a:ext>
            </a:extLst>
          </p:cNvPr>
          <p:cNvSpPr txBox="1">
            <a:spLocks noGrp="1"/>
          </p:cNvSpPr>
          <p:nvPr>
            <p:ph type="title" idx="4294967295"/>
          </p:nvPr>
        </p:nvSpPr>
        <p:spPr>
          <a:xfrm>
            <a:off x="303500" y="6717821"/>
            <a:ext cx="2055628"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it-IT" sz="900">
                <a:latin typeface="Pangolin" panose="00000500000000000000" pitchFamily="2" charset="0"/>
                <a:ea typeface="+mn-ea"/>
                <a:cs typeface="+mn-cs"/>
              </a:rPr>
              <a:t>Ottimo, ora che entrambi sappiamo tutto sugli attributi dei dati e</a:t>
            </a:r>
            <a:br>
              <a:rPr lang="it-IT" sz="900">
                <a:latin typeface="Pangolin" panose="00000500000000000000" pitchFamily="2" charset="0"/>
                <a:ea typeface="+mn-ea"/>
                <a:cs typeface="+mn-cs"/>
              </a:rPr>
            </a:br>
            <a:r>
              <a:rPr lang="it-IT" sz="900">
                <a:latin typeface="Pangolin" panose="00000500000000000000" pitchFamily="2" charset="0"/>
                <a:ea typeface="+mn-ea"/>
                <a:cs typeface="+mn-cs"/>
              </a:rPr>
              <a:t>tipi di attributi, possiamo prendere una decisione informata!</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FD704F59-0A7F-4281-11A1-F87FDEB2618D}"/>
              </a:ext>
            </a:extLst>
          </p:cNvPr>
          <p:cNvSpPr txBox="1"/>
          <p:nvPr/>
        </p:nvSpPr>
        <p:spPr>
          <a:xfrm>
            <a:off x="2450333" y="6661888"/>
            <a:ext cx="2055628" cy="646331"/>
          </a:xfrm>
          <a:prstGeom prst="rect">
            <a:avLst/>
          </a:prstGeom>
          <a:noFill/>
        </p:spPr>
        <p:txBody>
          <a:bodyPr wrap="square" rtlCol="0">
            <a:spAutoFit/>
          </a:bodyPr>
          <a:lstStyle/>
          <a:p>
            <a:pPr algn="ctr"/>
            <a:r>
              <a:rPr lang="it-IT" sz="900">
                <a:latin typeface="Pangolin" panose="00000500000000000000" pitchFamily="2" charset="0"/>
              </a:rPr>
              <a:t>Naturalmente,. A proposito di attributi... Ti attribuirò questo compito e andrò a prendere un panino. Fatemi sapere quando è finito.</a:t>
            </a:r>
            <a:endParaRPr lang="pt-BR" sz="900" dirty="0"/>
          </a:p>
        </p:txBody>
      </p:sp>
      <p:sp>
        <p:nvSpPr>
          <p:cNvPr id="12" name="TextBox 11">
            <a:extLst>
              <a:ext uri="{FF2B5EF4-FFF2-40B4-BE49-F238E27FC236}">
                <a16:creationId xmlns:a16="http://schemas.microsoft.com/office/drawing/2014/main" id="{171738F2-D8D5-A79C-CD96-DD9FCC733297}"/>
              </a:ext>
            </a:extLst>
          </p:cNvPr>
          <p:cNvSpPr txBox="1"/>
          <p:nvPr/>
        </p:nvSpPr>
        <p:spPr>
          <a:xfrm>
            <a:off x="4630009" y="8829070"/>
            <a:ext cx="2055628" cy="646331"/>
          </a:xfrm>
          <a:prstGeom prst="rect">
            <a:avLst/>
          </a:prstGeom>
          <a:noFill/>
        </p:spPr>
        <p:txBody>
          <a:bodyPr wrap="square" rtlCol="0">
            <a:spAutoFit/>
          </a:bodyPr>
          <a:lstStyle/>
          <a:p>
            <a:pPr algn="ctr"/>
            <a:r>
              <a:rPr lang="it-IT" sz="900">
                <a:latin typeface="Pangolin" panose="00000500000000000000" pitchFamily="2" charset="0"/>
              </a:rPr>
              <a:t>Ora che abbiamo parlato degli attributi dei dati e dei loro tipi, voltate pagina e vedete se riuscite ad applicare le conoscenze ad alcuni esercizi!</a:t>
            </a:r>
            <a:endParaRPr lang="pt-BR" sz="900" dirty="0"/>
          </a:p>
        </p:txBody>
      </p:sp>
      <p:sp>
        <p:nvSpPr>
          <p:cNvPr id="24" name="Freeform: Shape 23">
            <a:extLst>
              <a:ext uri="{FF2B5EF4-FFF2-40B4-BE49-F238E27FC236}">
                <a16:creationId xmlns:a16="http://schemas.microsoft.com/office/drawing/2014/main" id="{F4DB20A0-D859-651C-2BF4-C4E3EED09132}"/>
              </a:ext>
            </a:extLst>
          </p:cNvPr>
          <p:cNvSpPr/>
          <p:nvPr/>
        </p:nvSpPr>
        <p:spPr>
          <a:xfrm>
            <a:off x="3923001" y="9239250"/>
            <a:ext cx="563991" cy="338138"/>
          </a:xfrm>
          <a:custGeom>
            <a:avLst/>
            <a:gdLst>
              <a:gd name="connsiteX0" fmla="*/ 13205 w 563991"/>
              <a:gd name="connsiteY0" fmla="*/ 330994 h 338138"/>
              <a:gd name="connsiteX1" fmla="*/ 8443 w 563991"/>
              <a:gd name="connsiteY1" fmla="*/ 235744 h 338138"/>
              <a:gd name="connsiteX2" fmla="*/ 6062 w 563991"/>
              <a:gd name="connsiteY2" fmla="*/ 190500 h 338138"/>
              <a:gd name="connsiteX3" fmla="*/ 8443 w 563991"/>
              <a:gd name="connsiteY3" fmla="*/ 104775 h 338138"/>
              <a:gd name="connsiteX4" fmla="*/ 10824 w 563991"/>
              <a:gd name="connsiteY4" fmla="*/ 83344 h 338138"/>
              <a:gd name="connsiteX5" fmla="*/ 8443 w 563991"/>
              <a:gd name="connsiteY5" fmla="*/ 21432 h 338138"/>
              <a:gd name="connsiteX6" fmla="*/ 20349 w 563991"/>
              <a:gd name="connsiteY6" fmla="*/ 4763 h 338138"/>
              <a:gd name="connsiteX7" fmla="*/ 37018 w 563991"/>
              <a:gd name="connsiteY7" fmla="*/ 0 h 338138"/>
              <a:gd name="connsiteX8" fmla="*/ 291812 w 563991"/>
              <a:gd name="connsiteY8" fmla="*/ 4763 h 338138"/>
              <a:gd name="connsiteX9" fmla="*/ 370393 w 563991"/>
              <a:gd name="connsiteY9" fmla="*/ 7144 h 338138"/>
              <a:gd name="connsiteX10" fmla="*/ 401349 w 563991"/>
              <a:gd name="connsiteY10" fmla="*/ 9525 h 338138"/>
              <a:gd name="connsiteX11" fmla="*/ 422780 w 563991"/>
              <a:gd name="connsiteY11" fmla="*/ 11907 h 338138"/>
              <a:gd name="connsiteX12" fmla="*/ 456118 w 563991"/>
              <a:gd name="connsiteY12" fmla="*/ 14288 h 338138"/>
              <a:gd name="connsiteX13" fmla="*/ 508505 w 563991"/>
              <a:gd name="connsiteY13" fmla="*/ 21432 h 338138"/>
              <a:gd name="connsiteX14" fmla="*/ 541843 w 563991"/>
              <a:gd name="connsiteY14" fmla="*/ 28575 h 338138"/>
              <a:gd name="connsiteX15" fmla="*/ 546605 w 563991"/>
              <a:gd name="connsiteY15" fmla="*/ 40482 h 338138"/>
              <a:gd name="connsiteX16" fmla="*/ 556130 w 563991"/>
              <a:gd name="connsiteY16" fmla="*/ 73819 h 338138"/>
              <a:gd name="connsiteX17" fmla="*/ 553749 w 563991"/>
              <a:gd name="connsiteY17" fmla="*/ 307182 h 338138"/>
              <a:gd name="connsiteX18" fmla="*/ 527555 w 563991"/>
              <a:gd name="connsiteY18" fmla="*/ 319088 h 338138"/>
              <a:gd name="connsiteX19" fmla="*/ 456118 w 563991"/>
              <a:gd name="connsiteY19" fmla="*/ 330994 h 338138"/>
              <a:gd name="connsiteX20" fmla="*/ 384680 w 563991"/>
              <a:gd name="connsiteY20" fmla="*/ 338138 h 338138"/>
              <a:gd name="connsiteX21" fmla="*/ 232280 w 563991"/>
              <a:gd name="connsiteY21" fmla="*/ 335757 h 338138"/>
              <a:gd name="connsiteX22" fmla="*/ 201324 w 563991"/>
              <a:gd name="connsiteY22" fmla="*/ 330994 h 338138"/>
              <a:gd name="connsiteX23" fmla="*/ 179893 w 563991"/>
              <a:gd name="connsiteY23" fmla="*/ 328613 h 338138"/>
              <a:gd name="connsiteX24" fmla="*/ 13205 w 563991"/>
              <a:gd name="connsiteY24" fmla="*/ 330994 h 338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63991" h="338138">
                <a:moveTo>
                  <a:pt x="13205" y="330994"/>
                </a:moveTo>
                <a:cubicBezTo>
                  <a:pt x="-15370" y="315516"/>
                  <a:pt x="11847" y="327673"/>
                  <a:pt x="8443" y="235744"/>
                </a:cubicBezTo>
                <a:cubicBezTo>
                  <a:pt x="7884" y="220652"/>
                  <a:pt x="6856" y="205581"/>
                  <a:pt x="6062" y="190500"/>
                </a:cubicBezTo>
                <a:cubicBezTo>
                  <a:pt x="6856" y="161925"/>
                  <a:pt x="7174" y="133333"/>
                  <a:pt x="8443" y="104775"/>
                </a:cubicBezTo>
                <a:cubicBezTo>
                  <a:pt x="8762" y="97594"/>
                  <a:pt x="10824" y="90532"/>
                  <a:pt x="10824" y="83344"/>
                </a:cubicBezTo>
                <a:cubicBezTo>
                  <a:pt x="10824" y="62691"/>
                  <a:pt x="9237" y="42069"/>
                  <a:pt x="8443" y="21432"/>
                </a:cubicBezTo>
                <a:cubicBezTo>
                  <a:pt x="12412" y="15876"/>
                  <a:pt x="14887" y="8860"/>
                  <a:pt x="20349" y="4763"/>
                </a:cubicBezTo>
                <a:cubicBezTo>
                  <a:pt x="24972" y="1296"/>
                  <a:pt x="31239" y="0"/>
                  <a:pt x="37018" y="0"/>
                </a:cubicBezTo>
                <a:cubicBezTo>
                  <a:pt x="121964" y="0"/>
                  <a:pt x="206905" y="2190"/>
                  <a:pt x="291812" y="4763"/>
                </a:cubicBezTo>
                <a:lnTo>
                  <a:pt x="370393" y="7144"/>
                </a:lnTo>
                <a:lnTo>
                  <a:pt x="401349" y="9525"/>
                </a:lnTo>
                <a:cubicBezTo>
                  <a:pt x="408507" y="10176"/>
                  <a:pt x="415619" y="11284"/>
                  <a:pt x="422780" y="11907"/>
                </a:cubicBezTo>
                <a:cubicBezTo>
                  <a:pt x="433879" y="12872"/>
                  <a:pt x="445005" y="13494"/>
                  <a:pt x="456118" y="14288"/>
                </a:cubicBezTo>
                <a:cubicBezTo>
                  <a:pt x="538227" y="29215"/>
                  <a:pt x="426757" y="9753"/>
                  <a:pt x="508505" y="21432"/>
                </a:cubicBezTo>
                <a:cubicBezTo>
                  <a:pt x="521119" y="23234"/>
                  <a:pt x="530290" y="25687"/>
                  <a:pt x="541843" y="28575"/>
                </a:cubicBezTo>
                <a:cubicBezTo>
                  <a:pt x="543430" y="32544"/>
                  <a:pt x="545318" y="36406"/>
                  <a:pt x="546605" y="40482"/>
                </a:cubicBezTo>
                <a:cubicBezTo>
                  <a:pt x="550085" y="51503"/>
                  <a:pt x="556130" y="73819"/>
                  <a:pt x="556130" y="73819"/>
                </a:cubicBezTo>
                <a:cubicBezTo>
                  <a:pt x="563341" y="156732"/>
                  <a:pt x="570450" y="211749"/>
                  <a:pt x="553749" y="307182"/>
                </a:cubicBezTo>
                <a:cubicBezTo>
                  <a:pt x="552096" y="316629"/>
                  <a:pt x="536614" y="315937"/>
                  <a:pt x="527555" y="319088"/>
                </a:cubicBezTo>
                <a:cubicBezTo>
                  <a:pt x="501098" y="328290"/>
                  <a:pt x="485218" y="327239"/>
                  <a:pt x="456118" y="330994"/>
                </a:cubicBezTo>
                <a:cubicBezTo>
                  <a:pt x="396131" y="338734"/>
                  <a:pt x="455874" y="333951"/>
                  <a:pt x="384680" y="338138"/>
                </a:cubicBezTo>
                <a:cubicBezTo>
                  <a:pt x="333880" y="337344"/>
                  <a:pt x="283048" y="337735"/>
                  <a:pt x="232280" y="335757"/>
                </a:cubicBezTo>
                <a:cubicBezTo>
                  <a:pt x="221848" y="335351"/>
                  <a:pt x="211668" y="332405"/>
                  <a:pt x="201324" y="330994"/>
                </a:cubicBezTo>
                <a:cubicBezTo>
                  <a:pt x="194202" y="330023"/>
                  <a:pt x="187073" y="328947"/>
                  <a:pt x="179893" y="328613"/>
                </a:cubicBezTo>
                <a:cubicBezTo>
                  <a:pt x="116655" y="325672"/>
                  <a:pt x="41780" y="346472"/>
                  <a:pt x="13205" y="330994"/>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22" name="Rectangle 21">
            <a:extLst>
              <a:ext uri="{FF2B5EF4-FFF2-40B4-BE49-F238E27FC236}">
                <a16:creationId xmlns:a16="http://schemas.microsoft.com/office/drawing/2014/main" id="{CB7901C0-4218-8AEC-F845-02FADD72E2FD}"/>
              </a:ext>
            </a:extLst>
          </p:cNvPr>
          <p:cNvSpPr/>
          <p:nvPr/>
        </p:nvSpPr>
        <p:spPr>
          <a:xfrm>
            <a:off x="3867732" y="9295420"/>
            <a:ext cx="656869" cy="2591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latin typeface="Momopresentation Updated 2" panose="02000503000000000000" pitchFamily="2" charset="0"/>
              </a:rPr>
              <a:t>FINE</a:t>
            </a:r>
            <a:endParaRPr lang="pt-BR" dirty="0">
              <a:solidFill>
                <a:schemeClr val="tx1"/>
              </a:solidFill>
              <a:latin typeface="Momopresentation Updated 2" panose="02000503000000000000" pitchFamily="2" charset="0"/>
            </a:endParaRPr>
          </a:p>
        </p:txBody>
      </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2"/>
            <a:ext cx="7003099" cy="9905998"/>
          </a:xfrm>
          <a:prstGeom prst="rect">
            <a:avLst/>
          </a:prstGeom>
        </p:spPr>
      </p:pic>
      <p:grpSp>
        <p:nvGrpSpPr>
          <p:cNvPr id="34" name="Group 33">
            <a:extLst>
              <a:ext uri="{FF2B5EF4-FFF2-40B4-BE49-F238E27FC236}">
                <a16:creationId xmlns:a16="http://schemas.microsoft.com/office/drawing/2014/main" id="{BDFC6089-C326-97F3-85F8-702C133B61F8}"/>
              </a:ext>
              <a:ext uri="{C183D7F6-B498-43B3-948B-1728B52AA6E4}">
                <adec:decorative xmlns:adec="http://schemas.microsoft.com/office/drawing/2017/decorative" val="1"/>
              </a:ext>
            </a:extLst>
          </p:cNvPr>
          <p:cNvGrpSpPr/>
          <p:nvPr/>
        </p:nvGrpSpPr>
        <p:grpSpPr>
          <a:xfrm>
            <a:off x="2386013" y="1732606"/>
            <a:ext cx="4020488" cy="1365265"/>
            <a:chOff x="2386013" y="1709738"/>
            <a:chExt cx="4020488" cy="1365265"/>
          </a:xfrm>
        </p:grpSpPr>
        <p:sp>
          <p:nvSpPr>
            <p:cNvPr id="28" name="Freeform: Shape 27">
              <a:extLst>
                <a:ext uri="{FF2B5EF4-FFF2-40B4-BE49-F238E27FC236}">
                  <a16:creationId xmlns:a16="http://schemas.microsoft.com/office/drawing/2014/main" id="{9BA6A248-E8B5-4B4A-260B-9D2A852A7EC1}"/>
                </a:ext>
                <a:ext uri="{C183D7F6-B498-43B3-948B-1728B52AA6E4}">
                  <adec:decorative xmlns:adec="http://schemas.microsoft.com/office/drawing/2017/decorative" val="1"/>
                </a:ext>
              </a:extLst>
            </p:cNvPr>
            <p:cNvSpPr/>
            <p:nvPr/>
          </p:nvSpPr>
          <p:spPr>
            <a:xfrm>
              <a:off x="4522924" y="1709738"/>
              <a:ext cx="672964" cy="215217"/>
            </a:xfrm>
            <a:custGeom>
              <a:avLst/>
              <a:gdLst>
                <a:gd name="connsiteX0" fmla="*/ 6214 w 672964"/>
                <a:gd name="connsiteY0" fmla="*/ 95250 h 215217"/>
                <a:gd name="connsiteX1" fmla="*/ 125276 w 672964"/>
                <a:gd name="connsiteY1" fmla="*/ 42862 h 215217"/>
                <a:gd name="connsiteX2" fmla="*/ 191951 w 672964"/>
                <a:gd name="connsiteY2" fmla="*/ 23812 h 215217"/>
                <a:gd name="connsiteX3" fmla="*/ 225289 w 672964"/>
                <a:gd name="connsiteY3" fmla="*/ 14287 h 215217"/>
                <a:gd name="connsiteX4" fmla="*/ 311014 w 672964"/>
                <a:gd name="connsiteY4" fmla="*/ 4762 h 215217"/>
                <a:gd name="connsiteX5" fmla="*/ 487226 w 672964"/>
                <a:gd name="connsiteY5" fmla="*/ 0 h 215217"/>
                <a:gd name="connsiteX6" fmla="*/ 606289 w 672964"/>
                <a:gd name="connsiteY6" fmla="*/ 19050 h 215217"/>
                <a:gd name="connsiteX7" fmla="*/ 634864 w 672964"/>
                <a:gd name="connsiteY7" fmla="*/ 42862 h 215217"/>
                <a:gd name="connsiteX8" fmla="*/ 649151 w 672964"/>
                <a:gd name="connsiteY8" fmla="*/ 52387 h 215217"/>
                <a:gd name="connsiteX9" fmla="*/ 653914 w 672964"/>
                <a:gd name="connsiteY9" fmla="*/ 66675 h 215217"/>
                <a:gd name="connsiteX10" fmla="*/ 672964 w 672964"/>
                <a:gd name="connsiteY10" fmla="*/ 100012 h 215217"/>
                <a:gd name="connsiteX11" fmla="*/ 668201 w 672964"/>
                <a:gd name="connsiteY11" fmla="*/ 142875 h 215217"/>
                <a:gd name="connsiteX12" fmla="*/ 644389 w 672964"/>
                <a:gd name="connsiteY12" fmla="*/ 157162 h 215217"/>
                <a:gd name="connsiteX13" fmla="*/ 491989 w 672964"/>
                <a:gd name="connsiteY13" fmla="*/ 180975 h 215217"/>
                <a:gd name="connsiteX14" fmla="*/ 463414 w 672964"/>
                <a:gd name="connsiteY14" fmla="*/ 185737 h 215217"/>
                <a:gd name="connsiteX15" fmla="*/ 444364 w 672964"/>
                <a:gd name="connsiteY15" fmla="*/ 190500 h 215217"/>
                <a:gd name="connsiteX16" fmla="*/ 396739 w 672964"/>
                <a:gd name="connsiteY16" fmla="*/ 195262 h 215217"/>
                <a:gd name="connsiteX17" fmla="*/ 368164 w 672964"/>
                <a:gd name="connsiteY17" fmla="*/ 200025 h 215217"/>
                <a:gd name="connsiteX18" fmla="*/ 39551 w 672964"/>
                <a:gd name="connsiteY18" fmla="*/ 180975 h 215217"/>
                <a:gd name="connsiteX19" fmla="*/ 25264 w 672964"/>
                <a:gd name="connsiteY19" fmla="*/ 171450 h 215217"/>
                <a:gd name="connsiteX20" fmla="*/ 20501 w 672964"/>
                <a:gd name="connsiteY20" fmla="*/ 147637 h 215217"/>
                <a:gd name="connsiteX21" fmla="*/ 15739 w 672964"/>
                <a:gd name="connsiteY21" fmla="*/ 128587 h 215217"/>
                <a:gd name="connsiteX22" fmla="*/ 6214 w 672964"/>
                <a:gd name="connsiteY22" fmla="*/ 95250 h 215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72964" h="215217">
                  <a:moveTo>
                    <a:pt x="6214" y="95250"/>
                  </a:moveTo>
                  <a:cubicBezTo>
                    <a:pt x="24470" y="80963"/>
                    <a:pt x="7161" y="74359"/>
                    <a:pt x="125276" y="42862"/>
                  </a:cubicBezTo>
                  <a:cubicBezTo>
                    <a:pt x="125296" y="42857"/>
                    <a:pt x="191930" y="23818"/>
                    <a:pt x="191951" y="23812"/>
                  </a:cubicBezTo>
                  <a:cubicBezTo>
                    <a:pt x="203064" y="20637"/>
                    <a:pt x="213821" y="15720"/>
                    <a:pt x="225289" y="14287"/>
                  </a:cubicBezTo>
                  <a:cubicBezTo>
                    <a:pt x="245469" y="11765"/>
                    <a:pt x="292726" y="5540"/>
                    <a:pt x="311014" y="4762"/>
                  </a:cubicBezTo>
                  <a:cubicBezTo>
                    <a:pt x="369720" y="2264"/>
                    <a:pt x="428489" y="1587"/>
                    <a:pt x="487226" y="0"/>
                  </a:cubicBezTo>
                  <a:cubicBezTo>
                    <a:pt x="503088" y="1586"/>
                    <a:pt x="576399" y="30"/>
                    <a:pt x="606289" y="19050"/>
                  </a:cubicBezTo>
                  <a:cubicBezTo>
                    <a:pt x="616749" y="25706"/>
                    <a:pt x="625077" y="35250"/>
                    <a:pt x="634864" y="42862"/>
                  </a:cubicBezTo>
                  <a:cubicBezTo>
                    <a:pt x="639382" y="46376"/>
                    <a:pt x="644389" y="49212"/>
                    <a:pt x="649151" y="52387"/>
                  </a:cubicBezTo>
                  <a:cubicBezTo>
                    <a:pt x="650739" y="57150"/>
                    <a:pt x="651423" y="62316"/>
                    <a:pt x="653914" y="66675"/>
                  </a:cubicBezTo>
                  <a:cubicBezTo>
                    <a:pt x="676981" y="107043"/>
                    <a:pt x="662043" y="67252"/>
                    <a:pt x="672964" y="100012"/>
                  </a:cubicBezTo>
                  <a:cubicBezTo>
                    <a:pt x="671376" y="114300"/>
                    <a:pt x="674630" y="130017"/>
                    <a:pt x="668201" y="142875"/>
                  </a:cubicBezTo>
                  <a:cubicBezTo>
                    <a:pt x="664061" y="151154"/>
                    <a:pt x="653075" y="153962"/>
                    <a:pt x="644389" y="157162"/>
                  </a:cubicBezTo>
                  <a:cubicBezTo>
                    <a:pt x="575096" y="182691"/>
                    <a:pt x="569963" y="176643"/>
                    <a:pt x="491989" y="180975"/>
                  </a:cubicBezTo>
                  <a:cubicBezTo>
                    <a:pt x="482464" y="182562"/>
                    <a:pt x="472883" y="183843"/>
                    <a:pt x="463414" y="185737"/>
                  </a:cubicBezTo>
                  <a:cubicBezTo>
                    <a:pt x="456996" y="187021"/>
                    <a:pt x="450844" y="189574"/>
                    <a:pt x="444364" y="190500"/>
                  </a:cubicBezTo>
                  <a:cubicBezTo>
                    <a:pt x="428570" y="192756"/>
                    <a:pt x="412570" y="193283"/>
                    <a:pt x="396739" y="195262"/>
                  </a:cubicBezTo>
                  <a:cubicBezTo>
                    <a:pt x="387157" y="196460"/>
                    <a:pt x="377689" y="198437"/>
                    <a:pt x="368164" y="200025"/>
                  </a:cubicBezTo>
                  <a:cubicBezTo>
                    <a:pt x="104115" y="195899"/>
                    <a:pt x="145942" y="247468"/>
                    <a:pt x="39551" y="180975"/>
                  </a:cubicBezTo>
                  <a:cubicBezTo>
                    <a:pt x="34697" y="177942"/>
                    <a:pt x="30026" y="174625"/>
                    <a:pt x="25264" y="171450"/>
                  </a:cubicBezTo>
                  <a:cubicBezTo>
                    <a:pt x="23676" y="163512"/>
                    <a:pt x="22257" y="155539"/>
                    <a:pt x="20501" y="147637"/>
                  </a:cubicBezTo>
                  <a:cubicBezTo>
                    <a:pt x="19081" y="141247"/>
                    <a:pt x="15739" y="135132"/>
                    <a:pt x="15739" y="128587"/>
                  </a:cubicBezTo>
                  <a:cubicBezTo>
                    <a:pt x="15739" y="120493"/>
                    <a:pt x="-12042" y="109537"/>
                    <a:pt x="6214" y="952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CD27E0E9-4CE7-5251-1DF8-60182453E526}"/>
                </a:ext>
                <a:ext uri="{C183D7F6-B498-43B3-948B-1728B52AA6E4}">
                  <adec:decorative xmlns:adec="http://schemas.microsoft.com/office/drawing/2017/decorative" val="1"/>
                </a:ext>
              </a:extLst>
            </p:cNvPr>
            <p:cNvSpPr/>
            <p:nvPr/>
          </p:nvSpPr>
          <p:spPr>
            <a:xfrm>
              <a:off x="2386013" y="192495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C46A120D-2855-1F92-FFA7-6161343306C9}"/>
                </a:ext>
                <a:ext uri="{C183D7F6-B498-43B3-948B-1728B52AA6E4}">
                  <adec:decorative xmlns:adec="http://schemas.microsoft.com/office/drawing/2017/decorative" val="1"/>
                </a:ext>
              </a:extLst>
            </p:cNvPr>
            <p:cNvSpPr/>
            <p:nvPr/>
          </p:nvSpPr>
          <p:spPr>
            <a:xfrm>
              <a:off x="3386139" y="276746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04412523-C0A9-C554-F3F2-5FC2C3A397A2}"/>
                </a:ext>
                <a:ext uri="{C183D7F6-B498-43B3-948B-1728B52AA6E4}">
                  <adec:decorative xmlns:adec="http://schemas.microsoft.com/office/drawing/2017/decorative" val="1"/>
                </a:ext>
              </a:extLst>
            </p:cNvPr>
            <p:cNvSpPr/>
            <p:nvPr/>
          </p:nvSpPr>
          <p:spPr>
            <a:xfrm>
              <a:off x="5096814" y="2775870"/>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9" name="Rectangle 8">
            <a:extLst>
              <a:ext uri="{FF2B5EF4-FFF2-40B4-BE49-F238E27FC236}">
                <a16:creationId xmlns:a16="http://schemas.microsoft.com/office/drawing/2014/main" id="{A004667C-57AD-E8AA-50E0-D4136BC87C1F}"/>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C43A76C5-80CF-81FF-D7B2-37F0435AC810}"/>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EE7B17-0283-EF40-CDEF-9D548944370B}"/>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ctangle 11">
            <a:extLst>
              <a:ext uri="{FF2B5EF4-FFF2-40B4-BE49-F238E27FC236}">
                <a16:creationId xmlns:a16="http://schemas.microsoft.com/office/drawing/2014/main" id="{DE46AFAF-5381-31F9-91AC-C1920C7A558F}"/>
              </a:ext>
              <a:ext uri="{C183D7F6-B498-43B3-948B-1728B52AA6E4}">
                <adec:decorative xmlns:adec="http://schemas.microsoft.com/office/drawing/2017/decorative" val="1"/>
              </a:ext>
            </a:extLst>
          </p:cNvPr>
          <p:cNvSpPr/>
          <p:nvPr/>
        </p:nvSpPr>
        <p:spPr>
          <a:xfrm>
            <a:off x="409575" y="631031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ctangle 12">
            <a:extLst>
              <a:ext uri="{FF2B5EF4-FFF2-40B4-BE49-F238E27FC236}">
                <a16:creationId xmlns:a16="http://schemas.microsoft.com/office/drawing/2014/main" id="{FB16B77F-2171-3DDF-5DAF-BA0D8718F0B2}"/>
              </a:ext>
              <a:ext uri="{C183D7F6-B498-43B3-948B-1728B52AA6E4}">
                <adec:decorative xmlns:adec="http://schemas.microsoft.com/office/drawing/2017/decorative" val="1"/>
              </a:ext>
            </a:extLst>
          </p:cNvPr>
          <p:cNvSpPr/>
          <p:nvPr/>
        </p:nvSpPr>
        <p:spPr>
          <a:xfrm>
            <a:off x="409575" y="942689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ctangle 14">
            <a:extLst>
              <a:ext uri="{FF2B5EF4-FFF2-40B4-BE49-F238E27FC236}">
                <a16:creationId xmlns:a16="http://schemas.microsoft.com/office/drawing/2014/main" id="{24B175C9-D9ED-EFB5-A931-0C9A53E8663D}"/>
              </a:ext>
              <a:ext uri="{C183D7F6-B498-43B3-948B-1728B52AA6E4}">
                <adec:decorative xmlns:adec="http://schemas.microsoft.com/office/drawing/2017/decorative" val="1"/>
              </a:ext>
            </a:extLst>
          </p:cNvPr>
          <p:cNvSpPr/>
          <p:nvPr/>
        </p:nvSpPr>
        <p:spPr>
          <a:xfrm>
            <a:off x="685800" y="7259461"/>
            <a:ext cx="639127"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Titolo</a:t>
            </a:r>
            <a:endParaRPr lang="pt-BR" sz="900" b="1" dirty="0">
              <a:solidFill>
                <a:schemeClr val="tx1"/>
              </a:solidFill>
              <a:latin typeface="Pangolin" panose="00000500000000000000" pitchFamily="2" charset="0"/>
            </a:endParaRPr>
          </a:p>
        </p:txBody>
      </p:sp>
      <p:sp>
        <p:nvSpPr>
          <p:cNvPr id="16" name="Rectangle 15">
            <a:extLst>
              <a:ext uri="{FF2B5EF4-FFF2-40B4-BE49-F238E27FC236}">
                <a16:creationId xmlns:a16="http://schemas.microsoft.com/office/drawing/2014/main" id="{77AA2A8B-1D2B-BEC4-4EC3-05E6FC6A6B39}"/>
              </a:ext>
              <a:ext uri="{C183D7F6-B498-43B3-948B-1728B52AA6E4}">
                <adec:decorative xmlns:adec="http://schemas.microsoft.com/office/drawing/2017/decorative" val="1"/>
              </a:ext>
            </a:extLst>
          </p:cNvPr>
          <p:cNvSpPr/>
          <p:nvPr/>
        </p:nvSpPr>
        <p:spPr>
          <a:xfrm>
            <a:off x="1429256" y="7259461"/>
            <a:ext cx="715442"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Direttore</a:t>
            </a:r>
            <a:endParaRPr lang="pt-BR" sz="900" b="1" dirty="0">
              <a:solidFill>
                <a:schemeClr val="tx1"/>
              </a:solidFill>
              <a:latin typeface="Pangolin" panose="00000500000000000000" pitchFamily="2" charset="0"/>
            </a:endParaRPr>
          </a:p>
        </p:txBody>
      </p:sp>
      <p:sp>
        <p:nvSpPr>
          <p:cNvPr id="17" name="Rectangle 16">
            <a:extLst>
              <a:ext uri="{FF2B5EF4-FFF2-40B4-BE49-F238E27FC236}">
                <a16:creationId xmlns:a16="http://schemas.microsoft.com/office/drawing/2014/main" id="{3B66D02F-8E89-01A1-7DC1-DA481C4EA8EB}"/>
              </a:ext>
              <a:ext uri="{C183D7F6-B498-43B3-948B-1728B52AA6E4}">
                <adec:decorative xmlns:adec="http://schemas.microsoft.com/office/drawing/2017/decorative" val="1"/>
              </a:ext>
            </a:extLst>
          </p:cNvPr>
          <p:cNvSpPr/>
          <p:nvPr/>
        </p:nvSpPr>
        <p:spPr>
          <a:xfrm>
            <a:off x="2330314" y="7259461"/>
            <a:ext cx="655766"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Attore</a:t>
            </a:r>
            <a:endParaRPr lang="pt-BR" sz="900" b="1" dirty="0">
              <a:solidFill>
                <a:schemeClr val="tx1"/>
              </a:solidFill>
              <a:latin typeface="Pangolin" panose="00000500000000000000" pitchFamily="2" charset="0"/>
            </a:endParaRPr>
          </a:p>
        </p:txBody>
      </p:sp>
      <p:sp>
        <p:nvSpPr>
          <p:cNvPr id="18" name="Rectangle 17">
            <a:extLst>
              <a:ext uri="{FF2B5EF4-FFF2-40B4-BE49-F238E27FC236}">
                <a16:creationId xmlns:a16="http://schemas.microsoft.com/office/drawing/2014/main" id="{A2466F00-5BDE-8328-123F-ED67DEF93731}"/>
              </a:ext>
              <a:ext uri="{C183D7F6-B498-43B3-948B-1728B52AA6E4}">
                <adec:decorative xmlns:adec="http://schemas.microsoft.com/office/drawing/2017/decorative" val="1"/>
              </a:ext>
            </a:extLst>
          </p:cNvPr>
          <p:cNvSpPr/>
          <p:nvPr/>
        </p:nvSpPr>
        <p:spPr>
          <a:xfrm>
            <a:off x="3148012" y="7259461"/>
            <a:ext cx="684205"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Durata</a:t>
            </a:r>
            <a:endParaRPr lang="pt-BR" sz="900" b="1" dirty="0">
              <a:solidFill>
                <a:schemeClr val="tx1"/>
              </a:solidFill>
              <a:latin typeface="Pangolin" panose="00000500000000000000" pitchFamily="2" charset="0"/>
            </a:endParaRPr>
          </a:p>
        </p:txBody>
      </p:sp>
      <p:sp>
        <p:nvSpPr>
          <p:cNvPr id="19" name="Rectangle 18">
            <a:extLst>
              <a:ext uri="{FF2B5EF4-FFF2-40B4-BE49-F238E27FC236}">
                <a16:creationId xmlns:a16="http://schemas.microsoft.com/office/drawing/2014/main" id="{E4A2AC58-81CE-EF2A-F2FD-6DCF369599C6}"/>
              </a:ext>
              <a:ext uri="{C183D7F6-B498-43B3-948B-1728B52AA6E4}">
                <adec:decorative xmlns:adec="http://schemas.microsoft.com/office/drawing/2017/decorative" val="1"/>
              </a:ext>
            </a:extLst>
          </p:cNvPr>
          <p:cNvSpPr/>
          <p:nvPr/>
        </p:nvSpPr>
        <p:spPr>
          <a:xfrm>
            <a:off x="3931285"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a:solidFill>
                  <a:schemeClr val="tx1"/>
                </a:solidFill>
                <a:latin typeface="Pangolin" panose="00000500000000000000" pitchFamily="2" charset="0"/>
              </a:rPr>
              <a:t>Anno</a:t>
            </a:r>
            <a:endParaRPr lang="pt-BR" sz="900" b="1" dirty="0">
              <a:solidFill>
                <a:schemeClr val="tx1"/>
              </a:solidFill>
              <a:latin typeface="Pangolin" panose="00000500000000000000" pitchFamily="2" charset="0"/>
            </a:endParaRPr>
          </a:p>
        </p:txBody>
      </p:sp>
      <p:sp>
        <p:nvSpPr>
          <p:cNvPr id="21" name="Rectangle 20">
            <a:extLst>
              <a:ext uri="{FF2B5EF4-FFF2-40B4-BE49-F238E27FC236}">
                <a16:creationId xmlns:a16="http://schemas.microsoft.com/office/drawing/2014/main" id="{6EF71874-9CF6-EBC9-D21F-7D0810051041}"/>
              </a:ext>
              <a:ext uri="{C183D7F6-B498-43B3-948B-1728B52AA6E4}">
                <adec:decorative xmlns:adec="http://schemas.microsoft.com/office/drawing/2017/decorative" val="1"/>
              </a:ext>
            </a:extLst>
          </p:cNvPr>
          <p:cNvSpPr/>
          <p:nvPr/>
        </p:nvSpPr>
        <p:spPr>
          <a:xfrm>
            <a:off x="5639604"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a:solidFill>
                  <a:schemeClr val="tx1"/>
                </a:solidFill>
                <a:latin typeface="Pangolin" panose="00000500000000000000" pitchFamily="2" charset="0"/>
              </a:rPr>
              <a:t>Genere</a:t>
            </a:r>
            <a:endParaRPr lang="pt-BR" sz="900" b="1" dirty="0">
              <a:solidFill>
                <a:schemeClr val="tx1"/>
              </a:solidFill>
              <a:latin typeface="Pangolin" panose="00000500000000000000" pitchFamily="2" charset="0"/>
            </a:endParaRPr>
          </a:p>
        </p:txBody>
      </p:sp>
      <p:sp>
        <p:nvSpPr>
          <p:cNvPr id="20" name="Rectangle 19">
            <a:extLst>
              <a:ext uri="{FF2B5EF4-FFF2-40B4-BE49-F238E27FC236}">
                <a16:creationId xmlns:a16="http://schemas.microsoft.com/office/drawing/2014/main" id="{226E995C-1673-332F-C0DA-4A8D14D7594A}"/>
              </a:ext>
              <a:ext uri="{C183D7F6-B498-43B3-948B-1728B52AA6E4}">
                <adec:decorative xmlns:adec="http://schemas.microsoft.com/office/drawing/2017/decorative" val="1"/>
              </a:ext>
            </a:extLst>
          </p:cNvPr>
          <p:cNvSpPr/>
          <p:nvPr/>
        </p:nvSpPr>
        <p:spPr>
          <a:xfrm>
            <a:off x="4788075" y="7259461"/>
            <a:ext cx="757299"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dirty="0" err="1">
                <a:solidFill>
                  <a:schemeClr val="tx1"/>
                </a:solidFill>
                <a:latin typeface="Pangolin" panose="00000500000000000000" pitchFamily="2" charset="0"/>
              </a:rPr>
              <a:t>Popolarità</a:t>
            </a:r>
            <a:endParaRPr lang="pt-BR" sz="900" b="1" dirty="0">
              <a:solidFill>
                <a:schemeClr val="tx1"/>
              </a:solidFill>
              <a:latin typeface="Pangolin" panose="00000500000000000000" pitchFamily="2" charset="0"/>
            </a:endParaRPr>
          </a:p>
        </p:txBody>
      </p:sp>
      <p:sp>
        <p:nvSpPr>
          <p:cNvPr id="23" name="Freeform: Shape 22">
            <a:extLst>
              <a:ext uri="{FF2B5EF4-FFF2-40B4-BE49-F238E27FC236}">
                <a16:creationId xmlns:a16="http://schemas.microsoft.com/office/drawing/2014/main" id="{CAFE7B4F-8988-89FB-60FD-68C08A5E64FC}"/>
              </a:ext>
              <a:ext uri="{C183D7F6-B498-43B3-948B-1728B52AA6E4}">
                <adec:decorative xmlns:adec="http://schemas.microsoft.com/office/drawing/2017/decorative" val="1"/>
              </a:ext>
            </a:extLst>
          </p:cNvPr>
          <p:cNvSpPr/>
          <p:nvPr/>
        </p:nvSpPr>
        <p:spPr>
          <a:xfrm>
            <a:off x="3033719" y="720409"/>
            <a:ext cx="1402801" cy="457803"/>
          </a:xfrm>
          <a:custGeom>
            <a:avLst/>
            <a:gdLst>
              <a:gd name="connsiteX0" fmla="*/ 37279 w 1402801"/>
              <a:gd name="connsiteY0" fmla="*/ 457200 h 457803"/>
              <a:gd name="connsiteX1" fmla="*/ 113479 w 1402801"/>
              <a:gd name="connsiteY1" fmla="*/ 450850 h 457803"/>
              <a:gd name="connsiteX2" fmla="*/ 138879 w 1402801"/>
              <a:gd name="connsiteY2" fmla="*/ 438150 h 457803"/>
              <a:gd name="connsiteX3" fmla="*/ 253179 w 1402801"/>
              <a:gd name="connsiteY3" fmla="*/ 431800 h 457803"/>
              <a:gd name="connsiteX4" fmla="*/ 303979 w 1402801"/>
              <a:gd name="connsiteY4" fmla="*/ 419100 h 457803"/>
              <a:gd name="connsiteX5" fmla="*/ 373829 w 1402801"/>
              <a:gd name="connsiteY5" fmla="*/ 412750 h 457803"/>
              <a:gd name="connsiteX6" fmla="*/ 488129 w 1402801"/>
              <a:gd name="connsiteY6" fmla="*/ 400050 h 457803"/>
              <a:gd name="connsiteX7" fmla="*/ 551629 w 1402801"/>
              <a:gd name="connsiteY7" fmla="*/ 387350 h 457803"/>
              <a:gd name="connsiteX8" fmla="*/ 672279 w 1402801"/>
              <a:gd name="connsiteY8" fmla="*/ 381000 h 457803"/>
              <a:gd name="connsiteX9" fmla="*/ 875479 w 1402801"/>
              <a:gd name="connsiteY9" fmla="*/ 381000 h 457803"/>
              <a:gd name="connsiteX10" fmla="*/ 938979 w 1402801"/>
              <a:gd name="connsiteY10" fmla="*/ 412750 h 457803"/>
              <a:gd name="connsiteX11" fmla="*/ 964379 w 1402801"/>
              <a:gd name="connsiteY11" fmla="*/ 425450 h 457803"/>
              <a:gd name="connsiteX12" fmla="*/ 1059629 w 1402801"/>
              <a:gd name="connsiteY12" fmla="*/ 431800 h 457803"/>
              <a:gd name="connsiteX13" fmla="*/ 1110429 w 1402801"/>
              <a:gd name="connsiteY13" fmla="*/ 438150 h 457803"/>
              <a:gd name="connsiteX14" fmla="*/ 1243779 w 1402801"/>
              <a:gd name="connsiteY14" fmla="*/ 431800 h 457803"/>
              <a:gd name="connsiteX15" fmla="*/ 1294579 w 1402801"/>
              <a:gd name="connsiteY15" fmla="*/ 425450 h 457803"/>
              <a:gd name="connsiteX16" fmla="*/ 1345379 w 1402801"/>
              <a:gd name="connsiteY16" fmla="*/ 400050 h 457803"/>
              <a:gd name="connsiteX17" fmla="*/ 1377129 w 1402801"/>
              <a:gd name="connsiteY17" fmla="*/ 317500 h 457803"/>
              <a:gd name="connsiteX18" fmla="*/ 1396179 w 1402801"/>
              <a:gd name="connsiteY18" fmla="*/ 266700 h 457803"/>
              <a:gd name="connsiteX19" fmla="*/ 1402529 w 1402801"/>
              <a:gd name="connsiteY19" fmla="*/ 215900 h 457803"/>
              <a:gd name="connsiteX20" fmla="*/ 1319979 w 1402801"/>
              <a:gd name="connsiteY20" fmla="*/ 12700 h 457803"/>
              <a:gd name="connsiteX21" fmla="*/ 1231079 w 1402801"/>
              <a:gd name="connsiteY21" fmla="*/ 0 h 457803"/>
              <a:gd name="connsiteX22" fmla="*/ 926279 w 1402801"/>
              <a:gd name="connsiteY22" fmla="*/ 19050 h 457803"/>
              <a:gd name="connsiteX23" fmla="*/ 799279 w 1402801"/>
              <a:gd name="connsiteY23" fmla="*/ 44450 h 457803"/>
              <a:gd name="connsiteX24" fmla="*/ 646879 w 1402801"/>
              <a:gd name="connsiteY24" fmla="*/ 50800 h 457803"/>
              <a:gd name="connsiteX25" fmla="*/ 411929 w 1402801"/>
              <a:gd name="connsiteY25" fmla="*/ 63500 h 457803"/>
              <a:gd name="connsiteX26" fmla="*/ 170629 w 1402801"/>
              <a:gd name="connsiteY26" fmla="*/ 50800 h 457803"/>
              <a:gd name="connsiteX27" fmla="*/ 113479 w 1402801"/>
              <a:gd name="connsiteY27" fmla="*/ 44450 h 457803"/>
              <a:gd name="connsiteX28" fmla="*/ 24579 w 1402801"/>
              <a:gd name="connsiteY28" fmla="*/ 57150 h 457803"/>
              <a:gd name="connsiteX29" fmla="*/ 5529 w 1402801"/>
              <a:gd name="connsiteY29" fmla="*/ 273050 h 457803"/>
              <a:gd name="connsiteX30" fmla="*/ 18229 w 1402801"/>
              <a:gd name="connsiteY30" fmla="*/ 419100 h 457803"/>
              <a:gd name="connsiteX31" fmla="*/ 24579 w 1402801"/>
              <a:gd name="connsiteY31" fmla="*/ 438150 h 457803"/>
              <a:gd name="connsiteX32" fmla="*/ 37279 w 1402801"/>
              <a:gd name="connsiteY32" fmla="*/ 457200 h 45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02801" h="457803">
                <a:moveTo>
                  <a:pt x="37279" y="457200"/>
                </a:moveTo>
                <a:cubicBezTo>
                  <a:pt x="52096" y="459317"/>
                  <a:pt x="88428" y="455547"/>
                  <a:pt x="113479" y="450850"/>
                </a:cubicBezTo>
                <a:cubicBezTo>
                  <a:pt x="122783" y="449106"/>
                  <a:pt x="129500" y="439429"/>
                  <a:pt x="138879" y="438150"/>
                </a:cubicBezTo>
                <a:cubicBezTo>
                  <a:pt x="176688" y="432994"/>
                  <a:pt x="215079" y="433917"/>
                  <a:pt x="253179" y="431800"/>
                </a:cubicBezTo>
                <a:cubicBezTo>
                  <a:pt x="270112" y="427567"/>
                  <a:pt x="286738" y="421822"/>
                  <a:pt x="303979" y="419100"/>
                </a:cubicBezTo>
                <a:cubicBezTo>
                  <a:pt x="327072" y="415454"/>
                  <a:pt x="350574" y="415156"/>
                  <a:pt x="373829" y="412750"/>
                </a:cubicBezTo>
                <a:lnTo>
                  <a:pt x="488129" y="400050"/>
                </a:lnTo>
                <a:cubicBezTo>
                  <a:pt x="509879" y="394612"/>
                  <a:pt x="528733" y="389182"/>
                  <a:pt x="551629" y="387350"/>
                </a:cubicBezTo>
                <a:cubicBezTo>
                  <a:pt x="591773" y="384138"/>
                  <a:pt x="632062" y="383117"/>
                  <a:pt x="672279" y="381000"/>
                </a:cubicBezTo>
                <a:cubicBezTo>
                  <a:pt x="764272" y="369501"/>
                  <a:pt x="733614" y="370491"/>
                  <a:pt x="875479" y="381000"/>
                </a:cubicBezTo>
                <a:cubicBezTo>
                  <a:pt x="892423" y="382255"/>
                  <a:pt x="935362" y="410777"/>
                  <a:pt x="938979" y="412750"/>
                </a:cubicBezTo>
                <a:cubicBezTo>
                  <a:pt x="947289" y="417283"/>
                  <a:pt x="955029" y="423974"/>
                  <a:pt x="964379" y="425450"/>
                </a:cubicBezTo>
                <a:cubicBezTo>
                  <a:pt x="995810" y="430413"/>
                  <a:pt x="1027928" y="429043"/>
                  <a:pt x="1059629" y="431800"/>
                </a:cubicBezTo>
                <a:cubicBezTo>
                  <a:pt x="1076630" y="433278"/>
                  <a:pt x="1093496" y="436033"/>
                  <a:pt x="1110429" y="438150"/>
                </a:cubicBezTo>
                <a:cubicBezTo>
                  <a:pt x="1154879" y="436033"/>
                  <a:pt x="1199384" y="434862"/>
                  <a:pt x="1243779" y="431800"/>
                </a:cubicBezTo>
                <a:cubicBezTo>
                  <a:pt x="1260804" y="430626"/>
                  <a:pt x="1278291" y="430540"/>
                  <a:pt x="1294579" y="425450"/>
                </a:cubicBezTo>
                <a:cubicBezTo>
                  <a:pt x="1312649" y="419803"/>
                  <a:pt x="1345379" y="400050"/>
                  <a:pt x="1345379" y="400050"/>
                </a:cubicBezTo>
                <a:cubicBezTo>
                  <a:pt x="1355962" y="372533"/>
                  <a:pt x="1366634" y="345050"/>
                  <a:pt x="1377129" y="317500"/>
                </a:cubicBezTo>
                <a:cubicBezTo>
                  <a:pt x="1383567" y="300600"/>
                  <a:pt x="1396179" y="266700"/>
                  <a:pt x="1396179" y="266700"/>
                </a:cubicBezTo>
                <a:cubicBezTo>
                  <a:pt x="1398296" y="249767"/>
                  <a:pt x="1404122" y="232891"/>
                  <a:pt x="1402529" y="215900"/>
                </a:cubicBezTo>
                <a:cubicBezTo>
                  <a:pt x="1395011" y="135713"/>
                  <a:pt x="1404697" y="49534"/>
                  <a:pt x="1319979" y="12700"/>
                </a:cubicBezTo>
                <a:cubicBezTo>
                  <a:pt x="1292527" y="764"/>
                  <a:pt x="1260712" y="4233"/>
                  <a:pt x="1231079" y="0"/>
                </a:cubicBezTo>
                <a:cubicBezTo>
                  <a:pt x="1129479" y="6350"/>
                  <a:pt x="1027542" y="8626"/>
                  <a:pt x="926279" y="19050"/>
                </a:cubicBezTo>
                <a:cubicBezTo>
                  <a:pt x="883334" y="23471"/>
                  <a:pt x="842175" y="39575"/>
                  <a:pt x="799279" y="44450"/>
                </a:cubicBezTo>
                <a:cubicBezTo>
                  <a:pt x="748760" y="50191"/>
                  <a:pt x="697662" y="48302"/>
                  <a:pt x="646879" y="50800"/>
                </a:cubicBezTo>
                <a:lnTo>
                  <a:pt x="411929" y="63500"/>
                </a:lnTo>
                <a:lnTo>
                  <a:pt x="170629" y="50800"/>
                </a:lnTo>
                <a:cubicBezTo>
                  <a:pt x="151501" y="49579"/>
                  <a:pt x="132628" y="43617"/>
                  <a:pt x="113479" y="44450"/>
                </a:cubicBezTo>
                <a:cubicBezTo>
                  <a:pt x="83573" y="45750"/>
                  <a:pt x="54212" y="52917"/>
                  <a:pt x="24579" y="57150"/>
                </a:cubicBezTo>
                <a:cubicBezTo>
                  <a:pt x="-15542" y="137392"/>
                  <a:pt x="5529" y="86420"/>
                  <a:pt x="5529" y="273050"/>
                </a:cubicBezTo>
                <a:cubicBezTo>
                  <a:pt x="5529" y="341397"/>
                  <a:pt x="3587" y="367853"/>
                  <a:pt x="18229" y="419100"/>
                </a:cubicBezTo>
                <a:cubicBezTo>
                  <a:pt x="20068" y="425536"/>
                  <a:pt x="20866" y="432581"/>
                  <a:pt x="24579" y="438150"/>
                </a:cubicBezTo>
                <a:cubicBezTo>
                  <a:pt x="29560" y="445622"/>
                  <a:pt x="22462" y="455083"/>
                  <a:pt x="37279"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38">
            <a:extLst>
              <a:ext uri="{FF2B5EF4-FFF2-40B4-BE49-F238E27FC236}">
                <a16:creationId xmlns:a16="http://schemas.microsoft.com/office/drawing/2014/main" id="{81B42AD7-63BF-B6EF-3F66-6BD96ED1342B}"/>
              </a:ext>
              <a:ext uri="{C183D7F6-B498-43B3-948B-1728B52AA6E4}">
                <adec:decorative xmlns:adec="http://schemas.microsoft.com/office/drawing/2017/decorative" val="1"/>
              </a:ext>
            </a:extLst>
          </p:cNvPr>
          <p:cNvSpPr/>
          <p:nvPr/>
        </p:nvSpPr>
        <p:spPr>
          <a:xfrm>
            <a:off x="4780030" y="446688"/>
            <a:ext cx="663508" cy="1660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700" dirty="0" err="1">
                <a:solidFill>
                  <a:schemeClr val="tx1">
                    <a:lumMod val="50000"/>
                    <a:lumOff val="50000"/>
                  </a:schemeClr>
                </a:solidFill>
                <a:latin typeface="Pangolin" panose="00000500000000000000" pitchFamily="2" charset="0"/>
              </a:rPr>
              <a:t>Referenze</a:t>
            </a:r>
            <a:r>
              <a:rPr lang="de-DE" sz="700" dirty="0">
                <a:solidFill>
                  <a:schemeClr val="tx1">
                    <a:lumMod val="50000"/>
                    <a:lumOff val="50000"/>
                  </a:schemeClr>
                </a:solidFill>
                <a:latin typeface="Pangolin" panose="00000500000000000000" pitchFamily="2" charset="0"/>
              </a:rPr>
              <a:t>:</a:t>
            </a:r>
            <a:endParaRPr lang="pt-BR" sz="700" dirty="0">
              <a:solidFill>
                <a:schemeClr val="tx1">
                  <a:lumMod val="50000"/>
                  <a:lumOff val="50000"/>
                </a:schemeClr>
              </a:solidFill>
              <a:latin typeface="Pangolin" panose="00000500000000000000" pitchFamily="2" charset="0"/>
            </a:endParaRPr>
          </a:p>
        </p:txBody>
      </p:sp>
      <p:sp>
        <p:nvSpPr>
          <p:cNvPr id="2" name="TextBox 1">
            <a:extLst>
              <a:ext uri="{FF2B5EF4-FFF2-40B4-BE49-F238E27FC236}">
                <a16:creationId xmlns:a16="http://schemas.microsoft.com/office/drawing/2014/main" id="{6E431609-A499-1367-3DD6-C76CF085DA5F}"/>
              </a:ext>
            </a:extLst>
          </p:cNvPr>
          <p:cNvSpPr txBox="1"/>
          <p:nvPr/>
        </p:nvSpPr>
        <p:spPr>
          <a:xfrm>
            <a:off x="220672" y="91440"/>
            <a:ext cx="2131368" cy="261610"/>
          </a:xfrm>
          <a:prstGeom prst="rect">
            <a:avLst/>
          </a:prstGeom>
          <a:solidFill>
            <a:schemeClr val="bg1"/>
          </a:solidFill>
        </p:spPr>
        <p:txBody>
          <a:bodyPr wrap="square" rtlCol="0">
            <a:spAutoFit/>
          </a:bodyPr>
          <a:lstStyle/>
          <a:p>
            <a:r>
              <a:rPr lang="it-IT" sz="1100" dirty="0">
                <a:latin typeface="Pangolin" panose="00000500000000000000" pitchFamily="2" charset="0"/>
              </a:rPr>
              <a:t>Tipi di Attributi dei Dati</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F2E7B421-81D7-F42B-3D99-B75FAE56AA08}"/>
              </a:ext>
            </a:extLst>
          </p:cNvPr>
          <p:cNvSpPr txBox="1"/>
          <p:nvPr/>
        </p:nvSpPr>
        <p:spPr>
          <a:xfrm>
            <a:off x="365080" y="451351"/>
            <a:ext cx="2233613" cy="784830"/>
          </a:xfrm>
          <a:prstGeom prst="rect">
            <a:avLst/>
          </a:prstGeom>
          <a:noFill/>
        </p:spPr>
        <p:txBody>
          <a:bodyPr wrap="square" rtlCol="0">
            <a:spAutoFit/>
          </a:bodyPr>
          <a:lstStyle/>
          <a:p>
            <a:pPr algn="ctr"/>
            <a:r>
              <a:rPr lang="it-IT" sz="900" dirty="0">
                <a:latin typeface="Pangolin" panose="00000500000000000000" pitchFamily="2" charset="0"/>
              </a:rPr>
              <a:t>Tieni presente che un attributo è una proprietà specifica che può essere misurata, osservata o registrata. Il grafico a destra fornisce una panoramica dei diversi tipi di attributi.</a:t>
            </a:r>
            <a:endParaRPr lang="pt-BR" sz="900" dirty="0"/>
          </a:p>
        </p:txBody>
      </p:sp>
      <p:sp>
        <p:nvSpPr>
          <p:cNvPr id="24" name="Title 23">
            <a:extLst>
              <a:ext uri="{FF2B5EF4-FFF2-40B4-BE49-F238E27FC236}">
                <a16:creationId xmlns:a16="http://schemas.microsoft.com/office/drawing/2014/main" id="{149719A9-B685-4154-89CA-2080DC671E61}"/>
              </a:ext>
            </a:extLst>
          </p:cNvPr>
          <p:cNvSpPr txBox="1">
            <a:spLocks noGrp="1"/>
          </p:cNvSpPr>
          <p:nvPr>
            <p:ph type="title" idx="4294967295"/>
          </p:nvPr>
        </p:nvSpPr>
        <p:spPr>
          <a:xfrm>
            <a:off x="3038468" y="783421"/>
            <a:ext cx="1409360" cy="400110"/>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DE" sz="2000" b="1">
                <a:ln w="19050">
                  <a:solidFill>
                    <a:schemeClr val="tx1"/>
                  </a:solidFill>
                </a:ln>
                <a:solidFill>
                  <a:srgbClr val="A4A4A4"/>
                </a:solidFill>
                <a:latin typeface="Momopresentation Updated 2" panose="02000503000000000000" pitchFamily="2" charset="0"/>
                <a:ea typeface="+mn-ea"/>
                <a:cs typeface="+mn-cs"/>
              </a:rPr>
              <a:t>ATTRIBUTI</a:t>
            </a:r>
            <a:endParaRPr kumimoji="0" lang="pt-BR"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endParaRPr>
          </a:p>
        </p:txBody>
      </p:sp>
      <p:sp>
        <p:nvSpPr>
          <p:cNvPr id="25" name="Rectangle 24" descr="Categórico">
            <a:extLst>
              <a:ext uri="{FF2B5EF4-FFF2-40B4-BE49-F238E27FC236}">
                <a16:creationId xmlns:a16="http://schemas.microsoft.com/office/drawing/2014/main" id="{56CB2B16-AE58-4FF4-5CE7-9BF9D821FC2E}"/>
              </a:ext>
            </a:extLst>
          </p:cNvPr>
          <p:cNvSpPr/>
          <p:nvPr/>
        </p:nvSpPr>
        <p:spPr>
          <a:xfrm>
            <a:off x="2386013" y="1664493"/>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CATEGORICO</a:t>
            </a:r>
            <a:endParaRPr lang="pt-BR" sz="1000" b="1" dirty="0">
              <a:solidFill>
                <a:schemeClr val="tx1"/>
              </a:solidFill>
              <a:latin typeface="Pangolin" panose="00000500000000000000" pitchFamily="2" charset="0"/>
            </a:endParaRPr>
          </a:p>
        </p:txBody>
      </p:sp>
      <p:sp>
        <p:nvSpPr>
          <p:cNvPr id="36" name="TextBox 35">
            <a:extLst>
              <a:ext uri="{FF2B5EF4-FFF2-40B4-BE49-F238E27FC236}">
                <a16:creationId xmlns:a16="http://schemas.microsoft.com/office/drawing/2014/main" id="{398EB901-7A68-FF87-2470-B0942DD23FD6}"/>
              </a:ext>
            </a:extLst>
          </p:cNvPr>
          <p:cNvSpPr txBox="1"/>
          <p:nvPr/>
        </p:nvSpPr>
        <p:spPr>
          <a:xfrm>
            <a:off x="2335077" y="1902360"/>
            <a:ext cx="1501903" cy="369332"/>
          </a:xfrm>
          <a:prstGeom prst="rect">
            <a:avLst/>
          </a:prstGeom>
          <a:noFill/>
        </p:spPr>
        <p:txBody>
          <a:bodyPr wrap="square" rtlCol="0">
            <a:spAutoFit/>
          </a:bodyPr>
          <a:lstStyle/>
          <a:p>
            <a:r>
              <a:rPr lang="it-IT" sz="900" dirty="0">
                <a:latin typeface="Pangolin" panose="00000500000000000000" pitchFamily="2" charset="0"/>
              </a:rPr>
              <a:t>Ad esempio, colore, genere, autore, lingua…</a:t>
            </a:r>
            <a:endParaRPr lang="pt-BR" sz="900" dirty="0"/>
          </a:p>
        </p:txBody>
      </p:sp>
      <p:sp>
        <p:nvSpPr>
          <p:cNvPr id="29" name="TextBox 28">
            <a:extLst>
              <a:ext uri="{FF2B5EF4-FFF2-40B4-BE49-F238E27FC236}">
                <a16:creationId xmlns:a16="http://schemas.microsoft.com/office/drawing/2014/main" id="{63493E4B-E352-BB63-D177-971913D59109}"/>
              </a:ext>
            </a:extLst>
          </p:cNvPr>
          <p:cNvSpPr txBox="1"/>
          <p:nvPr/>
        </p:nvSpPr>
        <p:spPr>
          <a:xfrm>
            <a:off x="4483908" y="1704154"/>
            <a:ext cx="788999" cy="261610"/>
          </a:xfrm>
          <a:prstGeom prst="rect">
            <a:avLst/>
          </a:prstGeom>
          <a:noFill/>
        </p:spPr>
        <p:txBody>
          <a:bodyPr wrap="none" rtlCol="0">
            <a:spAutoFit/>
          </a:bodyPr>
          <a:lstStyle/>
          <a:p>
            <a:pPr algn="ctr"/>
            <a:r>
              <a:rPr lang="de-DE" sz="1100" dirty="0">
                <a:latin typeface="Pangolin" panose="00000500000000000000" pitchFamily="2" charset="0"/>
              </a:rPr>
              <a:t>ORDINATI</a:t>
            </a:r>
            <a:endParaRPr lang="pt-BR" sz="1100" dirty="0">
              <a:latin typeface="Pangolin" panose="00000500000000000000" pitchFamily="2" charset="0"/>
            </a:endParaRPr>
          </a:p>
        </p:txBody>
      </p:sp>
      <p:sp>
        <p:nvSpPr>
          <p:cNvPr id="26" name="Rectangle 25" descr="Ordinal">
            <a:extLst>
              <a:ext uri="{FF2B5EF4-FFF2-40B4-BE49-F238E27FC236}">
                <a16:creationId xmlns:a16="http://schemas.microsoft.com/office/drawing/2014/main" id="{84D5337C-25C6-1C80-1997-6948DFEB1D93}"/>
              </a:ext>
            </a:extLst>
          </p:cNvPr>
          <p:cNvSpPr/>
          <p:nvPr/>
        </p:nvSpPr>
        <p:spPr>
          <a:xfrm>
            <a:off x="3386139" y="2504792"/>
            <a:ext cx="895350"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ORDINALE</a:t>
            </a:r>
            <a:endParaRPr lang="pt-BR" sz="1000" b="1" dirty="0">
              <a:solidFill>
                <a:schemeClr val="tx1"/>
              </a:solidFill>
              <a:latin typeface="Pangolin" panose="00000500000000000000" pitchFamily="2" charset="0"/>
            </a:endParaRPr>
          </a:p>
        </p:txBody>
      </p:sp>
      <p:sp>
        <p:nvSpPr>
          <p:cNvPr id="37" name="TextBox 36">
            <a:extLst>
              <a:ext uri="{FF2B5EF4-FFF2-40B4-BE49-F238E27FC236}">
                <a16:creationId xmlns:a16="http://schemas.microsoft.com/office/drawing/2014/main" id="{E8D568F2-D52C-3C9B-64EE-F9DB4C68C2C6}"/>
              </a:ext>
            </a:extLst>
          </p:cNvPr>
          <p:cNvSpPr txBox="1"/>
          <p:nvPr/>
        </p:nvSpPr>
        <p:spPr>
          <a:xfrm>
            <a:off x="3334319" y="2737514"/>
            <a:ext cx="1361507" cy="369332"/>
          </a:xfrm>
          <a:prstGeom prst="rect">
            <a:avLst/>
          </a:prstGeom>
          <a:noFill/>
        </p:spPr>
        <p:txBody>
          <a:bodyPr wrap="square" rtlCol="0">
            <a:spAutoFit/>
          </a:bodyPr>
          <a:lstStyle/>
          <a:p>
            <a:r>
              <a:rPr lang="it-IT" sz="900" dirty="0">
                <a:latin typeface="Pangolin" panose="00000500000000000000" pitchFamily="2" charset="0"/>
              </a:rPr>
              <a:t>Il livello di istruzione, il numero di scarpe...</a:t>
            </a:r>
            <a:endParaRPr lang="pt-BR" sz="900" dirty="0"/>
          </a:p>
        </p:txBody>
      </p:sp>
      <p:sp>
        <p:nvSpPr>
          <p:cNvPr id="27" name="Rectangle 26" descr="Quantitativo">
            <a:extLst>
              <a:ext uri="{FF2B5EF4-FFF2-40B4-BE49-F238E27FC236}">
                <a16:creationId xmlns:a16="http://schemas.microsoft.com/office/drawing/2014/main" id="{67BC9BCC-27DA-C360-F4A6-325002DDB47B}"/>
              </a:ext>
            </a:extLst>
          </p:cNvPr>
          <p:cNvSpPr/>
          <p:nvPr/>
        </p:nvSpPr>
        <p:spPr>
          <a:xfrm>
            <a:off x="5075556" y="2504792"/>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dirty="0">
                <a:solidFill>
                  <a:schemeClr val="tx1"/>
                </a:solidFill>
                <a:latin typeface="Pangolin" panose="00000500000000000000" pitchFamily="2" charset="0"/>
              </a:rPr>
              <a:t>QUANTITATIVO</a:t>
            </a:r>
            <a:endParaRPr lang="pt-BR" sz="1000" b="1" dirty="0">
              <a:solidFill>
                <a:schemeClr val="tx1"/>
              </a:solidFill>
              <a:latin typeface="Pangolin" panose="00000500000000000000" pitchFamily="2" charset="0"/>
            </a:endParaRPr>
          </a:p>
        </p:txBody>
      </p:sp>
      <p:sp>
        <p:nvSpPr>
          <p:cNvPr id="38" name="TextBox 37">
            <a:extLst>
              <a:ext uri="{FF2B5EF4-FFF2-40B4-BE49-F238E27FC236}">
                <a16:creationId xmlns:a16="http://schemas.microsoft.com/office/drawing/2014/main" id="{475D9138-55DB-214B-ABDF-D01C1320B0AC}"/>
              </a:ext>
            </a:extLst>
          </p:cNvPr>
          <p:cNvSpPr txBox="1"/>
          <p:nvPr/>
        </p:nvSpPr>
        <p:spPr>
          <a:xfrm>
            <a:off x="5027190" y="2734488"/>
            <a:ext cx="1445710" cy="369332"/>
          </a:xfrm>
          <a:prstGeom prst="rect">
            <a:avLst/>
          </a:prstGeom>
          <a:noFill/>
        </p:spPr>
        <p:txBody>
          <a:bodyPr wrap="square" rtlCol="0">
            <a:spAutoFit/>
          </a:bodyPr>
          <a:lstStyle/>
          <a:p>
            <a:r>
              <a:rPr lang="it-IT" sz="900" dirty="0">
                <a:latin typeface="Pangolin" panose="00000500000000000000" pitchFamily="2" charset="0"/>
              </a:rPr>
              <a:t>Ad esempio, centimetri, chili, temperatura...</a:t>
            </a:r>
            <a:endParaRPr lang="pt-BR" sz="900" dirty="0"/>
          </a:p>
        </p:txBody>
      </p:sp>
      <p:sp>
        <p:nvSpPr>
          <p:cNvPr id="5" name="TextBox 4">
            <a:extLst>
              <a:ext uri="{FF2B5EF4-FFF2-40B4-BE49-F238E27FC236}">
                <a16:creationId xmlns:a16="http://schemas.microsoft.com/office/drawing/2014/main" id="{1C3BEFE9-46CE-2C43-9FC5-C509B6D1BEFF}"/>
              </a:ext>
            </a:extLst>
          </p:cNvPr>
          <p:cNvSpPr txBox="1"/>
          <p:nvPr/>
        </p:nvSpPr>
        <p:spPr>
          <a:xfrm>
            <a:off x="690563" y="3664161"/>
            <a:ext cx="2135042" cy="369332"/>
          </a:xfrm>
          <a:prstGeom prst="rect">
            <a:avLst/>
          </a:prstGeom>
          <a:noFill/>
        </p:spPr>
        <p:txBody>
          <a:bodyPr wrap="square" rtlCol="0">
            <a:spAutoFit/>
          </a:bodyPr>
          <a:lstStyle/>
          <a:p>
            <a:r>
              <a:rPr lang="it-IT" sz="900" dirty="0">
                <a:latin typeface="Pangolin" panose="00000500000000000000" pitchFamily="2" charset="0"/>
              </a:rPr>
              <a:t>Descrivi tutti i diversi attributi che puoi trovare per questa varietà di cioccolatini!</a:t>
            </a:r>
            <a:endParaRPr lang="pt-BR" sz="900" dirty="0"/>
          </a:p>
        </p:txBody>
      </p:sp>
      <p:sp>
        <p:nvSpPr>
          <p:cNvPr id="11" name="TextBox 10">
            <a:extLst>
              <a:ext uri="{FF2B5EF4-FFF2-40B4-BE49-F238E27FC236}">
                <a16:creationId xmlns:a16="http://schemas.microsoft.com/office/drawing/2014/main" id="{E2CCE91F-0CA4-4C90-CC13-38DD5DC01010}"/>
              </a:ext>
            </a:extLst>
          </p:cNvPr>
          <p:cNvSpPr txBox="1"/>
          <p:nvPr/>
        </p:nvSpPr>
        <p:spPr>
          <a:xfrm rot="10800000">
            <a:off x="290512" y="6279520"/>
            <a:ext cx="6364277" cy="200055"/>
          </a:xfrm>
          <a:prstGeom prst="rect">
            <a:avLst/>
          </a:prstGeom>
          <a:noFill/>
        </p:spPr>
        <p:txBody>
          <a:bodyPr wrap="square" rtlCol="0">
            <a:spAutoFit/>
          </a:bodyPr>
          <a:lstStyle/>
          <a:p>
            <a:r>
              <a:rPr lang="it-IT" sz="700" dirty="0">
                <a:latin typeface="Pangolin" panose="00000500000000000000" pitchFamily="2" charset="0"/>
              </a:rPr>
              <a:t>Esempio: dimensioni, peso, forma, colore, sapore, calorie, numero di noci, tipo di confezione, data di scadenza, consistenza, se si tratta di una caramella fatta in casa...</a:t>
            </a:r>
            <a:endParaRPr lang="pt-BR" sz="700" dirty="0"/>
          </a:p>
        </p:txBody>
      </p:sp>
      <p:sp>
        <p:nvSpPr>
          <p:cNvPr id="6" name="TextBox 5">
            <a:extLst>
              <a:ext uri="{FF2B5EF4-FFF2-40B4-BE49-F238E27FC236}">
                <a16:creationId xmlns:a16="http://schemas.microsoft.com/office/drawing/2014/main" id="{27FCE7B6-6B24-48C5-D50B-28A721ECF7AB}"/>
              </a:ext>
            </a:extLst>
          </p:cNvPr>
          <p:cNvSpPr txBox="1"/>
          <p:nvPr/>
        </p:nvSpPr>
        <p:spPr>
          <a:xfrm>
            <a:off x="542939" y="6660995"/>
            <a:ext cx="5147705" cy="230832"/>
          </a:xfrm>
          <a:prstGeom prst="rect">
            <a:avLst/>
          </a:prstGeom>
          <a:noFill/>
        </p:spPr>
        <p:txBody>
          <a:bodyPr wrap="square" rtlCol="0">
            <a:spAutoFit/>
          </a:bodyPr>
          <a:lstStyle/>
          <a:p>
            <a:pPr algn="ctr"/>
            <a:r>
              <a:rPr lang="it-IT" sz="900">
                <a:latin typeface="Pangolin" panose="00000500000000000000" pitchFamily="2" charset="0"/>
              </a:rPr>
              <a:t>I dati sono solitamente presentati in tabelle. Scopri i tipi di attributo per ogni colonna.</a:t>
            </a:r>
            <a:endParaRPr lang="pt-BR" sz="900" dirty="0"/>
          </a:p>
        </p:txBody>
      </p:sp>
      <p:sp>
        <p:nvSpPr>
          <p:cNvPr id="14" name="TextBox 13">
            <a:extLst>
              <a:ext uri="{FF2B5EF4-FFF2-40B4-BE49-F238E27FC236}">
                <a16:creationId xmlns:a16="http://schemas.microsoft.com/office/drawing/2014/main" id="{55393093-4276-FA95-3753-E80F54854E9A}"/>
              </a:ext>
            </a:extLst>
          </p:cNvPr>
          <p:cNvSpPr txBox="1"/>
          <p:nvPr/>
        </p:nvSpPr>
        <p:spPr>
          <a:xfrm rot="10800000">
            <a:off x="728663" y="9403066"/>
            <a:ext cx="5921366" cy="200055"/>
          </a:xfrm>
          <a:prstGeom prst="rect">
            <a:avLst/>
          </a:prstGeom>
          <a:noFill/>
        </p:spPr>
        <p:txBody>
          <a:bodyPr wrap="square" rtlCol="0">
            <a:spAutoFit/>
          </a:bodyPr>
          <a:lstStyle/>
          <a:p>
            <a:r>
              <a:rPr lang="it-IT" sz="700">
                <a:latin typeface="Pangolin" panose="00000500000000000000" pitchFamily="2" charset="0"/>
              </a:rPr>
              <a:t>Categorico: Titolo, Regista, Attore, Genere |  Quantitativo: Durata |  Ordinale: Anno, Popolarità</a:t>
            </a:r>
            <a:endParaRPr lang="pt-BR" sz="700" dirty="0"/>
          </a:p>
        </p:txBody>
      </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3C6AF4B-C5C1-823C-11D1-622CF53D24D8}"/>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err="1">
                <a:latin typeface="Segoe UI" panose="020B0502040204020203" pitchFamily="34" charset="0"/>
                <a:cs typeface="Segoe UI" panose="020B0502040204020203" pitchFamily="34" charset="0"/>
              </a:rPr>
              <a:t>Fonti</a:t>
            </a:r>
            <a:r>
              <a:rPr lang="de-AT" sz="1100" b="1" dirty="0">
                <a:latin typeface="Segoe UI" panose="020B0502040204020203" pitchFamily="34" charset="0"/>
                <a:cs typeface="Segoe UI" panose="020B0502040204020203" pitchFamily="34" charset="0"/>
              </a:rPr>
              <a:t>:</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it-IT" sz="1100" b="1" dirty="0">
                <a:solidFill>
                  <a:srgbClr val="333333"/>
                </a:solidFill>
                <a:latin typeface="Source Sans Pro" panose="020B0503030403020204" pitchFamily="34" charset="0"/>
                <a:ea typeface="+mn-ea"/>
                <a:cs typeface="+mn-cs"/>
              </a:rPr>
              <a:t>Come citare questo documento:</a:t>
            </a:r>
            <a:br>
              <a:rPr lang="it-IT" sz="1100" b="1" dirty="0">
                <a:solidFill>
                  <a:srgbClr val="333333"/>
                </a:solidFill>
                <a:latin typeface="Source Sans Pro" panose="020B0503030403020204" pitchFamily="34" charset="0"/>
                <a:ea typeface="+mn-ea"/>
                <a:cs typeface="+mn-cs"/>
              </a:rPr>
            </a:br>
            <a:br>
              <a:rPr lang="it-IT"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a:t>
            </a:r>
            <a:r>
              <a:rPr lang="it-IT" sz="1100" i="1" dirty="0">
                <a:latin typeface="Segoe UI" panose="020B0502040204020203" pitchFamily="34" charset="0"/>
                <a:cs typeface="Segoe UI" panose="020B0502040204020203" pitchFamily="34" charset="0"/>
              </a:rPr>
              <a:t>Tipi di Attributi dei Dati</a:t>
            </a:r>
            <a:r>
              <a:rPr lang="de-DE" sz="1100" i="1" dirty="0">
                <a:latin typeface="Segoe UI" panose="020B0502040204020203" pitchFamily="34" charset="0"/>
                <a:cs typeface="Segoe UI" panose="020B0502040204020203" pitchFamily="34" charset="0"/>
              </a:rPr>
              <a:t>. University of Applied Sciences St. Pölten (USTP). https://www.comixplain.cc</a:t>
            </a:r>
            <a:br>
              <a:rPr lang="it-IT" sz="1100" dirty="0">
                <a:solidFill>
                  <a:srgbClr val="333333"/>
                </a:solidFill>
                <a:latin typeface="Source Sans Pro" panose="020B0503030403020204" pitchFamily="34" charset="0"/>
                <a:ea typeface="+mn-ea"/>
                <a:cs typeface="+mn-cs"/>
              </a:rPr>
            </a:br>
            <a:br>
              <a:rPr lang="it-IT" sz="1100" b="1" dirty="0">
                <a:solidFill>
                  <a:srgbClr val="333333"/>
                </a:solidFill>
                <a:latin typeface="Source Sans Pro" panose="020B0503030403020204" pitchFamily="34" charset="0"/>
                <a:ea typeface="+mn-ea"/>
                <a:cs typeface="+mn-cs"/>
              </a:rPr>
            </a:br>
            <a:r>
              <a:rPr lang="it-IT" sz="1100" b="1" dirty="0">
                <a:solidFill>
                  <a:srgbClr val="333333"/>
                </a:solidFill>
                <a:latin typeface="Source Sans Pro" panose="020B0503030403020204" pitchFamily="34" charset="0"/>
                <a:ea typeface="+mn-ea"/>
                <a:cs typeface="+mn-cs"/>
              </a:rPr>
              <a:t>Questo fumetto è stato adattato da:</a:t>
            </a:r>
            <a:br>
              <a:rPr lang="it-IT" sz="1100" dirty="0">
                <a:solidFill>
                  <a:srgbClr val="333333"/>
                </a:solidFill>
                <a:latin typeface="Source Sans Pro" panose="020B0503030403020204" pitchFamily="34" charset="0"/>
                <a:ea typeface="+mn-ea"/>
                <a:cs typeface="+mn-cs"/>
              </a:rPr>
            </a:br>
            <a:br>
              <a:rPr lang="it-IT" sz="1100" dirty="0">
                <a:solidFill>
                  <a:srgbClr val="333333"/>
                </a:solidFill>
                <a:latin typeface="Source Sans Pro" panose="020B0503030403020204" pitchFamily="34" charset="0"/>
                <a:ea typeface="+mn-ea"/>
                <a:cs typeface="+mn-cs"/>
              </a:rPr>
            </a:br>
            <a:r>
              <a:rPr lang="it-IT" sz="1100" dirty="0">
                <a:solidFill>
                  <a:srgbClr val="333333"/>
                </a:solidFill>
                <a:latin typeface="Source Sans Pro" panose="020B0503030403020204" pitchFamily="34" charset="0"/>
                <a:ea typeface="+mn-ea"/>
                <a:cs typeface="+mn-cs"/>
              </a:rPr>
              <a:t>Tipi di Attributi dei Dati </a:t>
            </a:r>
            <a:r>
              <a:rPr lang="de-DE" sz="1100" dirty="0">
                <a:solidFill>
                  <a:srgbClr val="333333"/>
                </a:solidFill>
                <a:latin typeface="Source Sans Pro" panose="020B0503030403020204" pitchFamily="34" charset="0"/>
                <a:ea typeface="+mn-ea"/>
                <a:cs typeface="+mn-cs"/>
              </a:rPr>
              <a:t>©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54AFBB33-E54F-49FA-9149-7A3EBF8586A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A0E7FCC-F4A9-4675-B9D8-5E09C3364C54}">
  <ds:schemaRefs>
    <ds:schemaRef ds:uri="http://schemas.microsoft.com/sharepoint/v3/contenttype/forms"/>
  </ds:schemaRefs>
</ds:datastoreItem>
</file>

<file path=customXml/itemProps3.xml><?xml version="1.0" encoding="utf-8"?>
<ds:datastoreItem xmlns:ds="http://schemas.openxmlformats.org/officeDocument/2006/customXml" ds:itemID="{1D7E292F-E3FB-4761-B9F1-EE732EA8F0F0}">
  <ds:schemaRefs>
    <ds:schemaRef ds:uri="http://schemas.microsoft.com/office/infopath/2007/PartnerControls"/>
    <ds:schemaRef ds:uri="http://schemas.microsoft.com/office/2006/documentManagement/types"/>
    <ds:schemaRef ds:uri="http://purl.org/dc/terms/"/>
    <ds:schemaRef ds:uri="http://purl.org/dc/elements/1.1/"/>
    <ds:schemaRef ds:uri="http://schemas.openxmlformats.org/package/2006/metadata/core-properties"/>
    <ds:schemaRef ds:uri="94bcf745-830c-42f4-885c-a1d7342e6e36"/>
    <ds:schemaRef ds:uri="http://www.w3.org/XML/1998/namespace"/>
    <ds:schemaRef ds:uri="da1b7603-f8b8-47c9-9682-dc6aa8e9acd7"/>
    <ds:schemaRef ds:uri="http://schemas.microsoft.com/office/2006/metadata/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23</TotalTime>
  <Words>1066</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Calibri</vt:lpstr>
      <vt:lpstr>Segoe UI</vt:lpstr>
      <vt:lpstr>Arial</vt:lpstr>
      <vt:lpstr>Source Sans Pro</vt:lpstr>
      <vt:lpstr>Momopresentation Updated 2</vt:lpstr>
      <vt:lpstr>Calibri Light</vt:lpstr>
      <vt:lpstr>Pangolin</vt:lpstr>
      <vt:lpstr>Office</vt:lpstr>
      <vt:lpstr>Tipi di Attributi dei Dati</vt:lpstr>
      <vt:lpstr>PowerPoint Presentation</vt:lpstr>
      <vt:lpstr>Attributi?</vt:lpstr>
      <vt:lpstr>Penso che sia a causa del tipo di attributo...</vt:lpstr>
      <vt:lpstr>Ottimo, ora che entrambi sappiamo tutto sugli attributi dei dati e tipi di attributi, possiamo prendere una decisione informata!</vt:lpstr>
      <vt:lpstr>ATTRIBUTI</vt:lpstr>
      <vt:lpstr>Come citare questo documento:  De-Jesus-Oliveira, V.-A., Boucher, M., Boucher, A., Wu, H.-Y., &amp; Stoiber, C. (2025). Tipi di Attributi dei Dati. University of Applied Sciences St. Pölten (USTP). https://www.comixplain.cc  Questo fumetto è stato adattato da:  Tipi di Attributi dei Dati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Tipi di Attributi dei Dati</dc:title>
  <dc:creator>Boucher Magdalena</dc:creator>
  <cp:lastModifiedBy>de-Jesus-Oliveira Victor-Adriel</cp:lastModifiedBy>
  <cp:revision>48</cp:revision>
  <dcterms:created xsi:type="dcterms:W3CDTF">2022-09-19T11:21:57Z</dcterms:created>
  <dcterms:modified xsi:type="dcterms:W3CDTF">2025-11-07T10:50:11Z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