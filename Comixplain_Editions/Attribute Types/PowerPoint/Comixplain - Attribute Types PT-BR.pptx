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notesMasterIdLst>
    <p:notesMasterId r:id="rId12"/>
  </p:notes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3"/>
    </p:embeddedFont>
    <p:embeddedFont>
      <p:font typeface="Pangolin" panose="00000500000000000000" pitchFamily="2" charset="0"/>
      <p:regular r:id="rId14"/>
    </p:embeddedFont>
    <p:embeddedFont>
      <p:font typeface="Segoe UI" panose="020B0502040204020203" pitchFamily="34" charset="0"/>
      <p:regular r:id="rId15"/>
      <p:bold r:id="rId16"/>
      <p:italic r:id="rId17"/>
      <p:boldItalic r:id="rId18"/>
    </p:embeddedFont>
    <p:embeddedFont>
      <p:font typeface="Source Sans Pro" panose="020B0503030403020204" pitchFamily="34" charset="0"/>
      <p:regular r:id="rId19"/>
      <p:bold r:id="rId20"/>
      <p:italic r:id="rId21"/>
      <p:bold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21C74-526E-4AA7-B5B5-8AB5C191B233}" v="16" dt="2025-11-07T10:50:20.8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7419" autoAdjust="0"/>
  </p:normalViewPr>
  <p:slideViewPr>
    <p:cSldViewPr snapToGrid="0">
      <p:cViewPr varScale="1">
        <p:scale>
          <a:sx n="112" d="100"/>
          <a:sy n="112" d="100"/>
        </p:scale>
        <p:origin x="4172" y="76"/>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font" Target="fonts/font9.fntdata"/><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font" Target="fonts/font3.fntdata"/><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openxmlformats.org/officeDocument/2006/relationships/font" Target="fonts/font10.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0:46:05.309" v="47" actId="20577"/>
      <pc:docMkLst>
        <pc:docMk/>
      </pc:docMkLst>
      <pc:sldChg chg="addSp modSp mod">
        <pc:chgData name="de-Jesus-Oliveira Victor-Adriel" userId="a708fc36-3c1b-42ab-b5e9-2e1fa3c6605e" providerId="ADAL" clId="{39AA12F0-CB51-4D67-A3A6-7C3EC2C345CA}" dt="2025-11-07T10:46:05.309" v="47" actId="20577"/>
        <pc:sldMkLst>
          <pc:docMk/>
          <pc:sldMk cId="171183961" sldId="267"/>
        </pc:sldMkLst>
        <pc:spChg chg="mod">
          <ac:chgData name="de-Jesus-Oliveira Victor-Adriel" userId="a708fc36-3c1b-42ab-b5e9-2e1fa3c6605e" providerId="ADAL" clId="{39AA12F0-CB51-4D67-A3A6-7C3EC2C345CA}" dt="2025-11-07T10:46:05.309" v="47"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9:05.016" v="34" actId="167"/>
          <ac:picMkLst>
            <pc:docMk/>
            <pc:sldMk cId="171183961" sldId="267"/>
            <ac:picMk id="4" creationId="{D3EF2828-4084-56A8-7699-2585156542A7}"/>
          </ac:picMkLst>
        </pc:picChg>
      </pc:sldChg>
      <pc:sldChg chg="addSp delSp modSp mod">
        <pc:chgData name="de-Jesus-Oliveira Victor-Adriel" userId="a708fc36-3c1b-42ab-b5e9-2e1fa3c6605e" providerId="ADAL" clId="{39AA12F0-CB51-4D67-A3A6-7C3EC2C345CA}" dt="2025-11-07T10:36:27.751" v="32" actId="14100"/>
        <pc:sldMkLst>
          <pc:docMk/>
          <pc:sldMk cId="2799231148" sldId="272"/>
        </pc:sldMkLst>
        <pc:spChg chg="mod">
          <ac:chgData name="de-Jesus-Oliveira Victor-Adriel" userId="a708fc36-3c1b-42ab-b5e9-2e1fa3c6605e" providerId="ADAL" clId="{39AA12F0-CB51-4D67-A3A6-7C3EC2C345CA}" dt="2025-11-07T10:31:52.732" v="19"/>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4:17.919" v="23"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50.575" v="24"/>
          <ac:spMkLst>
            <pc:docMk/>
            <pc:sldMk cId="2799231148" sldId="272"/>
            <ac:spMk id="10" creationId="{5222CD38-79C1-6037-5E59-EA5A7B66FF26}"/>
          </ac:spMkLst>
        </pc:spChg>
        <pc:spChg chg="add mod">
          <ac:chgData name="de-Jesus-Oliveira Victor-Adriel" userId="a708fc36-3c1b-42ab-b5e9-2e1fa3c6605e" providerId="ADAL" clId="{39AA12F0-CB51-4D67-A3A6-7C3EC2C345CA}" dt="2025-11-07T10:36:27.751" v="32" actId="14100"/>
          <ac:spMkLst>
            <pc:docMk/>
            <pc:sldMk cId="2799231148" sldId="272"/>
            <ac:spMk id="11" creationId="{698D1A4E-E117-4A82-92A4-3F0FCABF3901}"/>
          </ac:spMkLst>
        </pc:spChg>
        <pc:grpChg chg="add mod">
          <ac:chgData name="de-Jesus-Oliveira Victor-Adriel" userId="a708fc36-3c1b-42ab-b5e9-2e1fa3c6605e" providerId="ADAL" clId="{39AA12F0-CB51-4D67-A3A6-7C3EC2C345CA}" dt="2025-11-07T10:33:32.490" v="21"/>
          <ac:grpSpMkLst>
            <pc:docMk/>
            <pc:sldMk cId="2799231148" sldId="272"/>
            <ac:grpSpMk id="3" creationId="{42804D79-C30C-8E32-BDB5-6D1A968CEB89}"/>
          </ac:grpSpMkLst>
        </pc:grpChg>
        <pc:grpChg chg="add mod">
          <ac:chgData name="de-Jesus-Oliveira Victor-Adriel" userId="a708fc36-3c1b-42ab-b5e9-2e1fa3c6605e" providerId="ADAL" clId="{39AA12F0-CB51-4D67-A3A6-7C3EC2C345CA}" dt="2025-11-07T10:34:50.575" v="24"/>
          <ac:grpSpMkLst>
            <pc:docMk/>
            <pc:sldMk cId="2799231148" sldId="272"/>
            <ac:grpSpMk id="12" creationId="{5ACC769D-CFBD-7895-6DD8-41875D76430B}"/>
          </ac:grpSpMkLst>
        </pc:grpChg>
        <pc:picChg chg="del">
          <ac:chgData name="de-Jesus-Oliveira Victor-Adriel" userId="a708fc36-3c1b-42ab-b5e9-2e1fa3c6605e" providerId="ADAL" clId="{39AA12F0-CB51-4D67-A3A6-7C3EC2C345CA}" dt="2025-11-07T10:32:34.243" v="20"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32.490" v="21"/>
          <ac:picMkLst>
            <pc:docMk/>
            <pc:sldMk cId="2799231148" sldId="272"/>
            <ac:picMk id="6" creationId="{255D6643-1060-2D60-EEAE-807A8703C511}"/>
          </ac:picMkLst>
        </pc:picChg>
        <pc:picChg chg="del">
          <ac:chgData name="de-Jesus-Oliveira Victor-Adriel" userId="a708fc36-3c1b-42ab-b5e9-2e1fa3c6605e" providerId="ADAL" clId="{39AA12F0-CB51-4D67-A3A6-7C3EC2C345CA}" dt="2025-11-07T10:34:17.180" v="22"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32.490" v="21"/>
          <ac:picMkLst>
            <pc:docMk/>
            <pc:sldMk cId="2799231148" sldId="272"/>
            <ac:picMk id="8" creationId="{C2052041-D100-FD42-F4AE-257CACD3934F}"/>
          </ac:picMkLst>
        </pc:picChg>
        <pc:picChg chg="add mod">
          <ac:chgData name="de-Jesus-Oliveira Victor-Adriel" userId="a708fc36-3c1b-42ab-b5e9-2e1fa3c6605e" providerId="ADAL" clId="{39AA12F0-CB51-4D67-A3A6-7C3EC2C345CA}" dt="2025-11-07T10:34:50.575" v="24"/>
          <ac:picMkLst>
            <pc:docMk/>
            <pc:sldMk cId="2799231148" sldId="272"/>
            <ac:picMk id="9" creationId="{33443840-F943-0BF6-91F4-B22BD8C1E23C}"/>
          </ac:picMkLst>
        </pc:picChg>
        <pc:picChg chg="mod">
          <ac:chgData name="de-Jesus-Oliveira Victor-Adriel" userId="a708fc36-3c1b-42ab-b5e9-2e1fa3c6605e" providerId="ADAL" clId="{39AA12F0-CB51-4D67-A3A6-7C3EC2C345CA}" dt="2025-11-07T10:34:50.575" v="24"/>
          <ac:picMkLst>
            <pc:docMk/>
            <pc:sldMk cId="2799231148" sldId="272"/>
            <ac:picMk id="13" creationId="{6AE33238-9A8C-BA92-17E9-BCFA6FFA29C3}"/>
          </ac:picMkLst>
        </pc:picChg>
        <pc:picChg chg="mod">
          <ac:chgData name="de-Jesus-Oliveira Victor-Adriel" userId="a708fc36-3c1b-42ab-b5e9-2e1fa3c6605e" providerId="ADAL" clId="{39AA12F0-CB51-4D67-A3A6-7C3EC2C345CA}" dt="2025-11-07T10:34:50.575" v="24"/>
          <ac:picMkLst>
            <pc:docMk/>
            <pc:sldMk cId="2799231148" sldId="272"/>
            <ac:picMk id="14" creationId="{989BF74A-A39C-8F42-7566-7CE005E90591}"/>
          </ac:picMkLst>
        </pc:picChg>
        <pc:picChg chg="mod">
          <ac:chgData name="de-Jesus-Oliveira Victor-Adriel" userId="a708fc36-3c1b-42ab-b5e9-2e1fa3c6605e" providerId="ADAL" clId="{39AA12F0-CB51-4D67-A3A6-7C3EC2C345CA}" dt="2025-11-07T10:34:50.575" v="24"/>
          <ac:picMkLst>
            <pc:docMk/>
            <pc:sldMk cId="2799231148" sldId="272"/>
            <ac:picMk id="15" creationId="{B2E6FA5D-0C01-C38E-A0C1-BDE8C4126B5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6051F0-05E7-4AAA-A940-60A1C9F1DB40}" type="datetimeFigureOut">
              <a:rPr lang="en-US" smtClean="0"/>
              <a:t>11/7/2025</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95DA6C-5C75-4FF4-9693-6AAEB20175C1}" type="slidenum">
              <a:rPr lang="en-US" smtClean="0"/>
              <a:t>‹#›</a:t>
            </a:fld>
            <a:endParaRPr lang="en-US"/>
          </a:p>
        </p:txBody>
      </p:sp>
    </p:spTree>
    <p:extLst>
      <p:ext uri="{BB962C8B-B14F-4D97-AF65-F5344CB8AC3E}">
        <p14:creationId xmlns:p14="http://schemas.microsoft.com/office/powerpoint/2010/main" val="181599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95DA6C-5C75-4FF4-9693-6AAEB20175C1}" type="slidenum">
              <a:rPr lang="en-US" smtClean="0"/>
              <a:t>2</a:t>
            </a:fld>
            <a:endParaRPr lang="en-US"/>
          </a:p>
        </p:txBody>
      </p:sp>
    </p:spTree>
    <p:extLst>
      <p:ext uri="{BB962C8B-B14F-4D97-AF65-F5344CB8AC3E}">
        <p14:creationId xmlns:p14="http://schemas.microsoft.com/office/powerpoint/2010/main" val="102879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creativecommons.org/licenses/by-sa/4.0/" TargetMode="Externa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Tipos</a:t>
            </a:r>
            <a:r>
              <a:rPr lang="de-AT" sz="4800" dirty="0">
                <a:latin typeface="Pangolin" panose="00000500000000000000" pitchFamily="2" charset="0"/>
              </a:rPr>
              <a:t> de </a:t>
            </a:r>
            <a:r>
              <a:rPr lang="de-AT" sz="4800" dirty="0" err="1">
                <a:latin typeface="Pangolin" panose="00000500000000000000" pitchFamily="2" charset="0"/>
              </a:rPr>
              <a:t>Atributos</a:t>
            </a:r>
            <a:r>
              <a:rPr lang="de-AT" sz="4800" dirty="0">
                <a:latin typeface="Pangolin" panose="00000500000000000000" pitchFamily="2" charset="0"/>
              </a:rPr>
              <a:t> de </a:t>
            </a:r>
            <a:r>
              <a:rPr lang="de-AT" sz="4800" dirty="0" err="1">
                <a:latin typeface="Pangolin" panose="00000500000000000000" pitchFamily="2" charset="0"/>
              </a:rPr>
              <a:t>Dados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42804D79-C30C-8E32-BDB5-6D1A968CEB8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255D6643-1060-2D60-EEAE-807A8703C5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C2052041-D100-FD42-F4AE-257CACD393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3443840-F943-0BF6-91F4-B22BD8C1E23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5222CD38-79C1-6037-5E59-EA5A7B66FF26}"/>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698D1A4E-E117-4A82-92A4-3F0FCABF3901}"/>
              </a:ext>
            </a:extLst>
          </p:cNvPr>
          <p:cNvSpPr txBox="1"/>
          <p:nvPr/>
        </p:nvSpPr>
        <p:spPr>
          <a:xfrm>
            <a:off x="2635289" y="7607440"/>
            <a:ext cx="3508409"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Tipos de Atributos de Dados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6">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5ACC769D-CFBD-7895-6DD8-41875D76430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6AE33238-9A8C-BA92-17E9-BCFA6FFA29C3}"/>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89BF74A-A39C-8F42-7566-7CE005E90591}"/>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B2E6FA5D-0C01-C38E-A0C1-BDE8C4126B54}"/>
                </a:ext>
              </a:extLst>
            </p:cNvPr>
            <p:cNvPicPr>
              <a:picLocks noChangeAspect="1"/>
            </p:cNvPicPr>
            <p:nvPr/>
          </p:nvPicPr>
          <p:blipFill>
            <a:blip r:embed="rId9"/>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449570"/>
            <a:ext cx="1537008" cy="646331"/>
          </a:xfrm>
          <a:prstGeom prst="rect">
            <a:avLst/>
          </a:prstGeom>
          <a:noFill/>
        </p:spPr>
        <p:txBody>
          <a:bodyPr wrap="square" rtlCol="0">
            <a:spAutoFit/>
          </a:bodyPr>
          <a:lstStyle/>
          <a:p>
            <a:pPr algn="ctr"/>
            <a:r>
              <a:rPr lang="pt-BR" sz="900" dirty="0">
                <a:latin typeface="Pangolin" panose="00000500000000000000" pitchFamily="2" charset="0"/>
              </a:rPr>
              <a:t>Ufa, finalmente terminamos de montar </a:t>
            </a:r>
            <a:br>
              <a:rPr lang="pt-BR" sz="900" dirty="0">
                <a:latin typeface="Pangolin" panose="00000500000000000000" pitchFamily="2" charset="0"/>
              </a:rPr>
            </a:br>
            <a:r>
              <a:rPr lang="pt-BR" sz="900" dirty="0">
                <a:latin typeface="Pangolin" panose="00000500000000000000" pitchFamily="2" charset="0"/>
              </a:rPr>
              <a:t>a nova estante!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507831"/>
          </a:xfrm>
          <a:prstGeom prst="rect">
            <a:avLst/>
          </a:prstGeom>
          <a:noFill/>
        </p:spPr>
        <p:txBody>
          <a:bodyPr wrap="square" rtlCol="0">
            <a:spAutoFit/>
          </a:bodyPr>
          <a:lstStyle/>
          <a:p>
            <a:pPr algn="ctr"/>
            <a:r>
              <a:rPr lang="pt-BR" sz="900">
                <a:latin typeface="Pangolin" panose="00000500000000000000" pitchFamily="2" charset="0"/>
              </a:rPr>
              <a:t>Sim, agora só nos resta</a:t>
            </a:r>
            <a:br>
              <a:rPr lang="pt-BR" sz="900">
                <a:latin typeface="Pangolin" panose="00000500000000000000" pitchFamily="2" charset="0"/>
              </a:rPr>
            </a:br>
            <a:r>
              <a:rPr lang="pt-BR" sz="900">
                <a:latin typeface="Pangolin" panose="00000500000000000000" pitchFamily="2" charset="0"/>
              </a:rPr>
              <a:t>reorganizar todos os livros.
</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369332"/>
          </a:xfrm>
          <a:prstGeom prst="rect">
            <a:avLst/>
          </a:prstGeom>
          <a:noFill/>
        </p:spPr>
        <p:txBody>
          <a:bodyPr wrap="square" rtlCol="0">
            <a:spAutoFit/>
          </a:bodyPr>
          <a:lstStyle/>
          <a:p>
            <a:pPr algn="ctr"/>
            <a:r>
              <a:rPr lang="pt-BR" sz="900" dirty="0">
                <a:latin typeface="Pangolin" panose="00000500000000000000" pitchFamily="2" charset="0"/>
              </a:rPr>
              <a:t>Ok, aqui vai o primeiro.
</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507831"/>
          </a:xfrm>
          <a:prstGeom prst="rect">
            <a:avLst/>
          </a:prstGeom>
          <a:noFill/>
        </p:spPr>
        <p:txBody>
          <a:bodyPr wrap="square" rtlCol="0">
            <a:spAutoFit/>
          </a:bodyPr>
          <a:lstStyle/>
          <a:p>
            <a:pPr algn="ctr"/>
            <a:r>
              <a:rPr lang="pt-BR" sz="900" dirty="0">
                <a:latin typeface="Pangolin" panose="00000500000000000000" pitchFamily="2" charset="0"/>
              </a:rPr>
              <a:t>Ei, por que esse é o</a:t>
            </a:r>
            <a:br>
              <a:rPr lang="pt-BR" sz="900" dirty="0">
                <a:latin typeface="Pangolin" panose="00000500000000000000" pitchFamily="2" charset="0"/>
              </a:rPr>
            </a:br>
            <a:r>
              <a:rPr lang="pt-BR" sz="900" dirty="0">
                <a:latin typeface="Pangolin" panose="00000500000000000000" pitchFamily="2" charset="0"/>
              </a:rPr>
              <a:t>primeiro?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507831"/>
          </a:xfrm>
          <a:prstGeom prst="rect">
            <a:avLst/>
          </a:prstGeom>
          <a:noFill/>
        </p:spPr>
        <p:txBody>
          <a:bodyPr wrap="square" rtlCol="0">
            <a:spAutoFit/>
          </a:bodyPr>
          <a:lstStyle/>
          <a:p>
            <a:pPr algn="ctr"/>
            <a:r>
              <a:rPr lang="pt-BR" sz="900" dirty="0">
                <a:latin typeface="Pangolin" panose="00000500000000000000" pitchFamily="2" charset="0"/>
              </a:rPr>
              <a:t>O título começa com A, </a:t>
            </a:r>
            <a:br>
              <a:rPr lang="pt-BR" sz="900" dirty="0">
                <a:latin typeface="Pangolin" panose="00000500000000000000" pitchFamily="2" charset="0"/>
              </a:rPr>
            </a:br>
            <a:r>
              <a:rPr lang="pt-BR" sz="900" dirty="0">
                <a:latin typeface="Pangolin" panose="00000500000000000000" pitchFamily="2" charset="0"/>
              </a:rPr>
              <a:t>então é o primeiro.
</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066994" y="2359324"/>
            <a:ext cx="1669086" cy="923330"/>
          </a:xfrm>
          <a:prstGeom prst="rect">
            <a:avLst/>
          </a:prstGeom>
          <a:noFill/>
        </p:spPr>
        <p:txBody>
          <a:bodyPr wrap="square" rtlCol="0">
            <a:spAutoFit/>
          </a:bodyPr>
          <a:lstStyle/>
          <a:p>
            <a:pPr algn="ctr"/>
            <a:r>
              <a:rPr lang="pt-BR" sz="900" dirty="0">
                <a:latin typeface="Pangolin" panose="00000500000000000000" pitchFamily="2" charset="0"/>
              </a:rPr>
              <a:t>Tem certeza que </a:t>
            </a:r>
            <a:br>
              <a:rPr lang="pt-BR" sz="900" dirty="0">
                <a:latin typeface="Pangolin" panose="00000500000000000000" pitchFamily="2" charset="0"/>
              </a:rPr>
            </a:br>
            <a:r>
              <a:rPr lang="pt-BR" sz="900" dirty="0">
                <a:latin typeface="Pangolin" panose="00000500000000000000" pitchFamily="2" charset="0"/>
              </a:rPr>
              <a:t>organizá-los em ordem alfabética é a melhor opção? Livros têm muitos atributos diferentes para escolher.
</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Atributos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369332"/>
          </a:xfrm>
          <a:prstGeom prst="rect">
            <a:avLst/>
          </a:prstGeom>
          <a:noFill/>
        </p:spPr>
        <p:txBody>
          <a:bodyPr wrap="square" rtlCol="0">
            <a:spAutoFit/>
          </a:bodyPr>
          <a:lstStyle/>
          <a:p>
            <a:pPr algn="ctr"/>
            <a:r>
              <a:rPr lang="de-AT" sz="900" dirty="0">
                <a:latin typeface="Pangolin" panose="00000500000000000000" pitchFamily="2" charset="0"/>
              </a:rPr>
              <a:t>Sim.
</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784830"/>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Um </a:t>
            </a:r>
            <a:r>
              <a:rPr lang="pt-BR" dirty="0">
                <a:highlight>
                  <a:srgbClr val="C0C0C0"/>
                </a:highlight>
              </a:rPr>
              <a:t>ATRIBUTO</a:t>
            </a:r>
            <a:r>
              <a:rPr lang="pt-BR" dirty="0"/>
              <a:t> é qualquer </a:t>
            </a:r>
            <a:br>
              <a:rPr lang="pt-BR" dirty="0"/>
            </a:br>
            <a:r>
              <a:rPr lang="pt-BR" dirty="0"/>
              <a:t>propriedade específica do livro</a:t>
            </a:r>
            <a:br>
              <a:rPr lang="pt-BR" dirty="0"/>
            </a:br>
            <a:r>
              <a:rPr lang="pt-BR" dirty="0"/>
              <a:t> que possa ser medida ou observada, </a:t>
            </a:r>
            <a:br>
              <a:rPr lang="pt-BR" dirty="0"/>
            </a:br>
            <a:r>
              <a:rPr lang="pt-BR" dirty="0"/>
              <a:t>como seu título, seu tamanho...
</a:t>
            </a:r>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(São sinônimos de "atributo“ os termos "variável" e "dimensão de dados")</a:t>
            </a:r>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Ok, então... quais atributos poderíamos</a:t>
            </a:r>
            <a:br>
              <a:rPr lang="pt-BR" dirty="0"/>
            </a:br>
            <a:r>
              <a:rPr lang="pt-BR" dirty="0"/>
              <a:t>encontrar para os nossos livros, então?
</a:t>
            </a:r>
          </a:p>
        </p:txBody>
      </p:sp>
      <p:sp>
        <p:nvSpPr>
          <p:cNvPr id="15" name="TextBox 14">
            <a:extLst>
              <a:ext uri="{FF2B5EF4-FFF2-40B4-BE49-F238E27FC236}">
                <a16:creationId xmlns:a16="http://schemas.microsoft.com/office/drawing/2014/main" id="{9E649E8F-B936-9A1D-DD7F-B669CF43C49C}"/>
              </a:ext>
            </a:extLst>
          </p:cNvPr>
          <p:cNvSpPr txBox="1"/>
          <p:nvPr/>
        </p:nvSpPr>
        <p:spPr>
          <a:xfrm>
            <a:off x="295910" y="6787235"/>
            <a:ext cx="288925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pt-BR" dirty="0"/>
              <a:t>              Antes de virar a página, olhe para os livros e tente listar o máximo de atributos que você possa imaginar e que possamos usar para ordená-los.</a:t>
            </a:r>
          </a:p>
        </p:txBody>
      </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15032" y="2461250"/>
            <a:ext cx="1537008" cy="646331"/>
          </a:xfrm>
          <a:prstGeom prst="rect">
            <a:avLst/>
          </a:prstGeom>
          <a:noFill/>
        </p:spPr>
        <p:txBody>
          <a:bodyPr wrap="square" rtlCol="0">
            <a:spAutoFit/>
          </a:bodyPr>
          <a:lstStyle/>
          <a:p>
            <a:pPr algn="ctr"/>
            <a:r>
              <a:rPr lang="pt-BR" sz="900" dirty="0">
                <a:latin typeface="Pangolin" panose="00000500000000000000" pitchFamily="2" charset="0"/>
              </a:rPr>
              <a:t>Nossa, são tantos</a:t>
            </a:r>
            <a:br>
              <a:rPr lang="pt-BR" sz="900" dirty="0">
                <a:latin typeface="Pangolin" panose="00000500000000000000" pitchFamily="2" charset="0"/>
              </a:rPr>
            </a:br>
            <a:r>
              <a:rPr lang="pt-BR" sz="900" dirty="0">
                <a:latin typeface="Pangolin" panose="00000500000000000000" pitchFamily="2" charset="0"/>
              </a:rPr>
              <a:t>atributos... O que acha de usarmos cor?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pt-BR" sz="900" dirty="0">
                <a:latin typeface="Pangolin" panose="00000500000000000000" pitchFamily="2" charset="0"/>
              </a:rPr>
              <a:t>Claro! Poderíamos ordenar os livros como as cores do arco-íris.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447847" y="976240"/>
            <a:ext cx="1537008" cy="646331"/>
          </a:xfrm>
          <a:prstGeom prst="rect">
            <a:avLst/>
          </a:prstGeom>
          <a:noFill/>
        </p:spPr>
        <p:txBody>
          <a:bodyPr wrap="square" rtlCol="0">
            <a:spAutoFit/>
          </a:bodyPr>
          <a:lstStyle/>
          <a:p>
            <a:pPr algn="ctr"/>
            <a:r>
              <a:rPr lang="pt-BR" sz="900" dirty="0">
                <a:latin typeface="Pangolin" panose="00000500000000000000" pitchFamily="2" charset="0"/>
              </a:rPr>
              <a:t>Ou em ordem </a:t>
            </a:r>
            <a:br>
              <a:rPr lang="pt-BR" sz="900" dirty="0">
                <a:latin typeface="Pangolin" panose="00000500000000000000" pitchFamily="2" charset="0"/>
              </a:rPr>
            </a:br>
            <a:r>
              <a:rPr lang="pt-BR" sz="900" dirty="0">
                <a:latin typeface="Pangolin" panose="00000500000000000000" pitchFamily="2" charset="0"/>
              </a:rPr>
              <a:t>alfabética pelo </a:t>
            </a:r>
            <a:br>
              <a:rPr lang="pt-BR" sz="900" dirty="0">
                <a:latin typeface="Pangolin" panose="00000500000000000000" pitchFamily="2" charset="0"/>
              </a:rPr>
            </a:br>
            <a:r>
              <a:rPr lang="pt-BR" sz="900" dirty="0">
                <a:latin typeface="Pangolin" panose="00000500000000000000" pitchFamily="2" charset="0"/>
              </a:rPr>
              <a:t>nome da cor!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12580" y="439530"/>
            <a:ext cx="1943400" cy="507831"/>
          </a:xfrm>
          <a:prstGeom prst="rect">
            <a:avLst/>
          </a:prstGeom>
          <a:noFill/>
        </p:spPr>
        <p:txBody>
          <a:bodyPr wrap="square" rtlCol="0">
            <a:spAutoFit/>
          </a:bodyPr>
          <a:lstStyle/>
          <a:p>
            <a:pPr algn="ctr"/>
            <a:r>
              <a:rPr lang="pt-BR" sz="900" dirty="0">
                <a:latin typeface="Pangolin" panose="00000500000000000000" pitchFamily="2" charset="0"/>
              </a:rPr>
              <a:t>Não deveria ser tão difícil de </a:t>
            </a:r>
            <a:br>
              <a:rPr lang="pt-BR" sz="900" dirty="0">
                <a:latin typeface="Pangolin" panose="00000500000000000000" pitchFamily="2" charset="0"/>
              </a:rPr>
            </a:br>
            <a:r>
              <a:rPr lang="pt-BR" sz="900" dirty="0">
                <a:latin typeface="Pangolin" panose="00000500000000000000" pitchFamily="2" charset="0"/>
              </a:rPr>
              <a:t>chegar em um acordo...
</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5" y="864545"/>
            <a:ext cx="1670340" cy="507831"/>
          </a:xfrm>
          <a:prstGeom prst="rect">
            <a:avLst/>
          </a:prstGeom>
          <a:noFill/>
        </p:spPr>
        <p:txBody>
          <a:bodyPr wrap="square" rtlCol="0">
            <a:spAutoFit/>
          </a:bodyPr>
          <a:lstStyle/>
          <a:p>
            <a:pPr algn="ctr"/>
            <a:r>
              <a:rPr lang="pt-BR" sz="900" dirty="0">
                <a:latin typeface="Pangolin" panose="00000500000000000000" pitchFamily="2" charset="0"/>
              </a:rPr>
              <a:t>Mesmo concordando com </a:t>
            </a:r>
            <a:br>
              <a:rPr lang="pt-BR" sz="900" dirty="0">
                <a:latin typeface="Pangolin" panose="00000500000000000000" pitchFamily="2" charset="0"/>
              </a:rPr>
            </a:br>
            <a:r>
              <a:rPr lang="pt-BR" sz="900" dirty="0">
                <a:latin typeface="Pangolin" panose="00000500000000000000" pitchFamily="2" charset="0"/>
              </a:rPr>
              <a:t>cor, ainda podemos ordená-las </a:t>
            </a:r>
            <a:br>
              <a:rPr lang="pt-BR" sz="900" dirty="0">
                <a:latin typeface="Pangolin" panose="00000500000000000000" pitchFamily="2" charset="0"/>
              </a:rPr>
            </a:br>
            <a:r>
              <a:rPr lang="pt-BR" sz="900" dirty="0">
                <a:latin typeface="Pangolin" panose="00000500000000000000" pitchFamily="2" charset="0"/>
              </a:rPr>
              <a:t>de forma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Acho que é por causa </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do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pt-BR" sz="900" dirty="0">
                <a:latin typeface="Pangolin" panose="00000500000000000000" pitchFamily="2" charset="0"/>
              </a:rPr>
              <a:t>A tonalidade da cor é um atributo </a:t>
            </a:r>
            <a:r>
              <a:rPr lang="pt-BR" sz="900" dirty="0">
                <a:highlight>
                  <a:srgbClr val="C0C0C0"/>
                </a:highlight>
                <a:latin typeface="Pangolin" panose="00000500000000000000" pitchFamily="2" charset="0"/>
              </a:rPr>
              <a:t>CATEGÓRICO</a:t>
            </a:r>
            <a:r>
              <a:rPr lang="pt-BR" sz="900" dirty="0">
                <a:latin typeface="Pangolin" panose="00000500000000000000" pitchFamily="2" charset="0"/>
              </a:rPr>
              <a:t>. Não tem uma ordem implícita – como gênero ou autor do livro. Podemos ordenar elementos por categorias, mas entre elas, não há uma ordem pré-estabelecida.</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pt-BR" sz="900" dirty="0">
                <a:latin typeface="Pangolin" panose="00000500000000000000" pitchFamily="2" charset="0"/>
              </a:rPr>
              <a:t>Ah, eu entendo! </a:t>
            </a:r>
            <a:br>
              <a:rPr lang="pt-BR" sz="900" dirty="0">
                <a:latin typeface="Pangolin" panose="00000500000000000000" pitchFamily="2" charset="0"/>
              </a:rPr>
            </a:br>
            <a:r>
              <a:rPr lang="pt-BR" sz="900" dirty="0">
                <a:latin typeface="Pangolin" panose="00000500000000000000" pitchFamily="2" charset="0"/>
              </a:rPr>
              <a:t>E que tal o tamanho dos livros? </a:t>
            </a:r>
            <a:br>
              <a:rPr lang="pt-BR" sz="900" dirty="0">
                <a:latin typeface="Pangolin" panose="00000500000000000000" pitchFamily="2" charset="0"/>
              </a:rPr>
            </a:br>
            <a:r>
              <a:rPr lang="pt-BR" sz="900" dirty="0">
                <a:latin typeface="Pangolin" panose="00000500000000000000" pitchFamily="2" charset="0"/>
              </a:rPr>
              <a:t>Isso é definitivamente algo com uma espécie de ordem inata, não é?</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pt-BR" sz="900" dirty="0">
                <a:latin typeface="Pangolin" panose="00000500000000000000" pitchFamily="2" charset="0"/>
              </a:rPr>
              <a:t>Exatamente! Atributos podem ser categóricos ou ordenados – e os atributos ordenados podem ser </a:t>
            </a:r>
            <a:r>
              <a:rPr lang="pt-BR" sz="900" dirty="0">
                <a:highlight>
                  <a:srgbClr val="C0C0C0"/>
                </a:highlight>
                <a:latin typeface="Pangolin" panose="00000500000000000000" pitchFamily="2" charset="0"/>
              </a:rPr>
              <a:t>ORDINAIS</a:t>
            </a:r>
            <a:r>
              <a:rPr lang="pt-BR" sz="900" dirty="0">
                <a:latin typeface="Pangolin" panose="00000500000000000000" pitchFamily="2" charset="0"/>
              </a:rPr>
              <a:t> ou </a:t>
            </a:r>
            <a:r>
              <a:rPr lang="pt-BR" sz="900" dirty="0">
                <a:highlight>
                  <a:srgbClr val="C0C0C0"/>
                </a:highlight>
                <a:latin typeface="Pangolin" panose="00000500000000000000" pitchFamily="2" charset="0"/>
              </a:rPr>
              <a:t>QUANTITATIVOS</a:t>
            </a:r>
            <a:r>
              <a:rPr lang="pt-B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276513" y="6785439"/>
            <a:ext cx="1870287" cy="784830"/>
          </a:xfrm>
          <a:prstGeom prst="rect">
            <a:avLst/>
          </a:prstGeom>
          <a:noFill/>
        </p:spPr>
        <p:txBody>
          <a:bodyPr wrap="square" rtlCol="0">
            <a:spAutoFit/>
          </a:bodyPr>
          <a:lstStyle/>
          <a:p>
            <a:pPr algn="ctr"/>
            <a:r>
              <a:rPr lang="pt-BR" sz="900" dirty="0">
                <a:latin typeface="Pangolin" panose="00000500000000000000" pitchFamily="2" charset="0"/>
              </a:rPr>
              <a:t>Se você medir os livros em centímetros, a medida é </a:t>
            </a:r>
            <a:r>
              <a:rPr lang="pt-BR" sz="900" dirty="0">
                <a:highlight>
                  <a:srgbClr val="C0C0C0"/>
                </a:highlight>
                <a:latin typeface="Pangolin" panose="00000500000000000000" pitchFamily="2" charset="0"/>
              </a:rPr>
              <a:t>QUANTITATIVA</a:t>
            </a:r>
            <a:r>
              <a:rPr lang="pt-BR" sz="900" dirty="0">
                <a:latin typeface="Pangolin" panose="00000500000000000000" pitchFamily="2" charset="0"/>
              </a:rPr>
              <a:t>, pois suporta </a:t>
            </a:r>
            <a:br>
              <a:rPr lang="pt-BR" sz="900" dirty="0">
                <a:latin typeface="Pangolin" panose="00000500000000000000" pitchFamily="2" charset="0"/>
              </a:rPr>
            </a:br>
            <a:r>
              <a:rPr lang="pt-BR" sz="900" dirty="0">
                <a:latin typeface="Pangolin" panose="00000500000000000000" pitchFamily="2" charset="0"/>
              </a:rPr>
              <a:t>comparação aritmética. 
</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09568"/>
            <a:ext cx="1422158" cy="646331"/>
          </a:xfrm>
          <a:prstGeom prst="rect">
            <a:avLst/>
          </a:prstGeom>
          <a:noFill/>
        </p:spPr>
        <p:txBody>
          <a:bodyPr wrap="square" rtlCol="0">
            <a:spAutoFit/>
          </a:bodyPr>
          <a:lstStyle/>
          <a:p>
            <a:pPr algn="ctr"/>
            <a:r>
              <a:rPr lang="pt-BR" sz="900" dirty="0">
                <a:latin typeface="Pangolin" panose="00000500000000000000" pitchFamily="2" charset="0"/>
              </a:rPr>
              <a:t>O mesmo vale para o</a:t>
            </a:r>
            <a:br>
              <a:rPr lang="pt-BR" sz="900" dirty="0">
                <a:latin typeface="Pangolin" panose="00000500000000000000" pitchFamily="2" charset="0"/>
              </a:rPr>
            </a:br>
            <a:r>
              <a:rPr lang="pt-BR" sz="900" dirty="0">
                <a:latin typeface="Pangolin" panose="00000500000000000000" pitchFamily="2" charset="0"/>
              </a:rPr>
              <a:t>peso em gramas, ou o</a:t>
            </a:r>
            <a:br>
              <a:rPr lang="pt-BR" sz="900" dirty="0">
                <a:latin typeface="Pangolin" panose="00000500000000000000" pitchFamily="2" charset="0"/>
              </a:rPr>
            </a:br>
            <a:r>
              <a:rPr lang="pt-BR" sz="900" dirty="0">
                <a:latin typeface="Pangolin" panose="00000500000000000000" pitchFamily="2" charset="0"/>
              </a:rPr>
              <a:t>número de páginas.
</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646331"/>
          </a:xfrm>
          <a:prstGeom prst="rect">
            <a:avLst/>
          </a:prstGeom>
          <a:noFill/>
        </p:spPr>
        <p:txBody>
          <a:bodyPr wrap="square" rtlCol="0">
            <a:spAutoFit/>
          </a:bodyPr>
          <a:lstStyle/>
          <a:p>
            <a:pPr algn="ctr"/>
            <a:r>
              <a:rPr lang="pt-BR" sz="900" dirty="0">
                <a:latin typeface="Pangolin" panose="00000500000000000000" pitchFamily="2" charset="0"/>
              </a:rPr>
              <a:t>Mas se eu apenas dividir os livros</a:t>
            </a:r>
            <a:br>
              <a:rPr lang="pt-BR" sz="900" dirty="0">
                <a:latin typeface="Pangolin" panose="00000500000000000000" pitchFamily="2" charset="0"/>
              </a:rPr>
            </a:br>
            <a:r>
              <a:rPr lang="pt-BR" sz="900" dirty="0">
                <a:latin typeface="Pangolin" panose="00000500000000000000" pitchFamily="2" charset="0"/>
              </a:rPr>
              <a:t>em grupos de livros pequenos,</a:t>
            </a:r>
            <a:br>
              <a:rPr lang="pt-BR" sz="900" dirty="0">
                <a:latin typeface="Pangolin" panose="00000500000000000000" pitchFamily="2" charset="0"/>
              </a:rPr>
            </a:br>
            <a:r>
              <a:rPr lang="pt-BR" sz="900" dirty="0">
                <a:latin typeface="Pangolin" panose="00000500000000000000" pitchFamily="2" charset="0"/>
              </a:rPr>
              <a:t>médios, e grandes...
</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533017" y="6730908"/>
            <a:ext cx="2055628" cy="784830"/>
          </a:xfrm>
          <a:prstGeom prst="rect">
            <a:avLst/>
          </a:prstGeom>
          <a:noFill/>
        </p:spPr>
        <p:txBody>
          <a:bodyPr wrap="square" rtlCol="0">
            <a:spAutoFit/>
          </a:bodyPr>
          <a:lstStyle/>
          <a:p>
            <a:pPr algn="ctr"/>
            <a:r>
              <a:rPr lang="pt-BR" sz="900" dirty="0">
                <a:latin typeface="Pangolin" panose="00000500000000000000" pitchFamily="2" charset="0"/>
              </a:rPr>
              <a:t>... então o tamanho é um </a:t>
            </a:r>
            <a:br>
              <a:rPr lang="pt-BR" sz="900" dirty="0">
                <a:latin typeface="Pangolin" panose="00000500000000000000" pitchFamily="2" charset="0"/>
              </a:rPr>
            </a:br>
            <a:r>
              <a:rPr lang="pt-BR" sz="900" dirty="0">
                <a:latin typeface="Pangolin" panose="00000500000000000000" pitchFamily="2" charset="0"/>
              </a:rPr>
              <a:t>atributo </a:t>
            </a:r>
            <a:r>
              <a:rPr lang="pt-BR" sz="900" dirty="0">
                <a:highlight>
                  <a:srgbClr val="C0C0C0"/>
                </a:highlight>
                <a:latin typeface="Pangolin" panose="00000500000000000000" pitchFamily="2" charset="0"/>
              </a:rPr>
              <a:t>ORDINAL</a:t>
            </a:r>
            <a:r>
              <a:rPr lang="pt-BR" sz="900" dirty="0">
                <a:latin typeface="Pangolin" panose="00000500000000000000" pitchFamily="2" charset="0"/>
              </a:rPr>
              <a:t>. Não podemos </a:t>
            </a:r>
            <a:br>
              <a:rPr lang="pt-BR" sz="900" dirty="0">
                <a:latin typeface="Pangolin" panose="00000500000000000000" pitchFamily="2" charset="0"/>
              </a:rPr>
            </a:br>
            <a:r>
              <a:rPr lang="pt-BR" sz="900" dirty="0">
                <a:latin typeface="Pangolin" panose="00000500000000000000" pitchFamily="2" charset="0"/>
              </a:rPr>
              <a:t>usá-lo em cálculos, mas ainda há </a:t>
            </a:r>
            <a:br>
              <a:rPr lang="pt-BR" sz="900" dirty="0">
                <a:latin typeface="Pangolin" panose="00000500000000000000" pitchFamily="2" charset="0"/>
              </a:rPr>
            </a:br>
            <a:r>
              <a:rPr lang="pt-BR" sz="900" dirty="0">
                <a:latin typeface="Pangolin" panose="00000500000000000000" pitchFamily="2" charset="0"/>
              </a:rPr>
              <a:t>uma ordem bem definida.
</a:t>
            </a:r>
            <a:endParaRPr lang="pt-BR" sz="900" dirty="0"/>
          </a:p>
        </p:txBody>
      </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6927"/>
            <a:ext cx="2055628" cy="507831"/>
          </a:xfrm>
          <a:prstGeom prst="rect">
            <a:avLst/>
          </a:prstGeom>
          <a:noFill/>
        </p:spPr>
        <p:txBody>
          <a:bodyPr wrap="square" rtlCol="0">
            <a:spAutoFit/>
          </a:bodyPr>
          <a:lstStyle/>
          <a:p>
            <a:pPr algn="ctr"/>
            <a:r>
              <a:rPr lang="pt-BR" sz="900" dirty="0">
                <a:latin typeface="Pangolin" panose="00000500000000000000" pitchFamily="2" charset="0"/>
              </a:rPr>
              <a:t>Uma variável pode até ser transformada depois de coletar os dados para que tenha um outro tipo.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pt-BR" sz="900" dirty="0">
                <a:latin typeface="Pangolin" panose="00000500000000000000" pitchFamily="2" charset="0"/>
              </a:rPr>
              <a:t>Como medir todos os livros em </a:t>
            </a:r>
            <a:r>
              <a:rPr lang="pt-BR" sz="900" dirty="0">
                <a:solidFill>
                  <a:schemeClr val="accent4">
                    <a:lumMod val="50000"/>
                  </a:schemeClr>
                </a:solidFill>
                <a:latin typeface="Pangolin" panose="00000500000000000000" pitchFamily="2" charset="0"/>
              </a:rPr>
              <a:t>centímetros</a:t>
            </a:r>
            <a:r>
              <a:rPr lang="pt-BR" sz="900" dirty="0">
                <a:latin typeface="Pangolin" panose="00000500000000000000" pitchFamily="2" charset="0"/>
              </a:rPr>
              <a:t> e depois decidir que todo livro com menos de 18 centímetros serão registrados como "</a:t>
            </a:r>
            <a:r>
              <a:rPr lang="pt-BR" sz="900" dirty="0">
                <a:solidFill>
                  <a:srgbClr val="7030A0"/>
                </a:solidFill>
                <a:latin typeface="Pangolin" panose="00000500000000000000" pitchFamily="2" charset="0"/>
              </a:rPr>
              <a:t>pequeno</a:t>
            </a:r>
            <a:r>
              <a:rPr lang="pt-BR" sz="900" dirty="0">
                <a:latin typeface="Pangolin" panose="00000500000000000000" pitchFamily="2" charset="0"/>
              </a:rPr>
              <a:t>"? Isso seria transformar um atributo </a:t>
            </a:r>
            <a:r>
              <a:rPr lang="pt-BR" sz="900" dirty="0">
                <a:solidFill>
                  <a:schemeClr val="accent4">
                    <a:lumMod val="50000"/>
                  </a:schemeClr>
                </a:solidFill>
                <a:latin typeface="Pangolin" panose="00000500000000000000" pitchFamily="2" charset="0"/>
              </a:rPr>
              <a:t>quantitativo</a:t>
            </a:r>
            <a:r>
              <a:rPr lang="pt-BR" sz="900" dirty="0">
                <a:latin typeface="Pangolin" panose="00000500000000000000" pitchFamily="2" charset="0"/>
              </a:rPr>
              <a:t> em </a:t>
            </a:r>
            <a:r>
              <a:rPr lang="pt-BR" sz="900" dirty="0">
                <a:solidFill>
                  <a:srgbClr val="7030A0"/>
                </a:solidFill>
                <a:latin typeface="Pangolin" panose="00000500000000000000" pitchFamily="2" charset="0"/>
              </a:rPr>
              <a:t>ordinal</a:t>
            </a:r>
            <a:r>
              <a:rPr lang="pt-B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pt-BR" sz="900" dirty="0">
                <a:latin typeface="Pangolin" panose="00000500000000000000" pitchFamily="2" charset="0"/>
              </a:rPr>
              <a:t>Correto. Você poderia ir ainda mais longe e transformá-lo em um atributo categórico binário: por exemplo, livro de bolso ou de tamanho normal.</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pt-BR" sz="900" dirty="0">
                <a:latin typeface="Pangolin" panose="00000500000000000000" pitchFamily="2" charset="0"/>
              </a:rPr>
              <a:t>Ah, é verdade. Mas isso não significa que perderíamos a maioria </a:t>
            </a:r>
            <a:br>
              <a:rPr lang="pt-BR" sz="900" dirty="0">
                <a:latin typeface="Pangolin" panose="00000500000000000000" pitchFamily="2" charset="0"/>
              </a:rPr>
            </a:br>
            <a:r>
              <a:rPr lang="pt-BR" sz="900" dirty="0">
                <a:latin typeface="Pangolin" panose="00000500000000000000" pitchFamily="2" charset="0"/>
              </a:rPr>
              <a:t>dos detalhes dos dados coletados?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71598" y="3542042"/>
            <a:ext cx="2055628" cy="923330"/>
          </a:xfrm>
          <a:prstGeom prst="rect">
            <a:avLst/>
          </a:prstGeom>
          <a:noFill/>
        </p:spPr>
        <p:txBody>
          <a:bodyPr wrap="square" rtlCol="0">
            <a:spAutoFit/>
          </a:bodyPr>
          <a:lstStyle/>
          <a:p>
            <a:pPr algn="ctr"/>
            <a:r>
              <a:rPr lang="pt-BR" sz="900" dirty="0">
                <a:latin typeface="Pangolin" panose="00000500000000000000" pitchFamily="2" charset="0"/>
              </a:rPr>
              <a:t>Sim, são transformações com </a:t>
            </a:r>
            <a:br>
              <a:rPr lang="pt-BR" sz="900" dirty="0">
                <a:latin typeface="Pangolin" panose="00000500000000000000" pitchFamily="2" charset="0"/>
              </a:rPr>
            </a:br>
            <a:r>
              <a:rPr lang="pt-BR" sz="900" dirty="0">
                <a:latin typeface="Pangolin" panose="00000500000000000000" pitchFamily="2" charset="0"/>
              </a:rPr>
              <a:t>perdas de dados. Logo, se você não tem certeza de como você vai </a:t>
            </a:r>
            <a:br>
              <a:rPr lang="pt-BR" sz="900" dirty="0">
                <a:latin typeface="Pangolin" panose="00000500000000000000" pitchFamily="2" charset="0"/>
              </a:rPr>
            </a:br>
            <a:r>
              <a:rPr lang="pt-BR" sz="900" dirty="0">
                <a:latin typeface="Pangolin" panose="00000500000000000000" pitchFamily="2" charset="0"/>
              </a:rPr>
              <a:t>usar os dados, é melhor coletá-los com mais detalhes.
</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7" y="3487001"/>
            <a:ext cx="2055628" cy="1061829"/>
          </a:xfrm>
          <a:prstGeom prst="rect">
            <a:avLst/>
          </a:prstGeom>
          <a:noFill/>
        </p:spPr>
        <p:txBody>
          <a:bodyPr wrap="square" rtlCol="0">
            <a:spAutoFit/>
          </a:bodyPr>
          <a:lstStyle/>
          <a:p>
            <a:pPr algn="ctr"/>
            <a:r>
              <a:rPr lang="pt-BR" sz="900" dirty="0">
                <a:latin typeface="Pangolin" panose="00000500000000000000" pitchFamily="2" charset="0"/>
              </a:rPr>
              <a:t>Faz sentido. Você sempre pode transformar um valor quantitativo. Mas se você tiver apenas valores categóricos ou ordinais desde o início, não poderá alternar para valores quantitativos mais tarde.
</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Ótimo, agora que nós dois sabemos</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1"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tudo</a:t>
            </a: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sobre atributos de dados e</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tipos de atributos, podemos tomar uma decisão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pt-BR" sz="900" dirty="0">
                <a:latin typeface="Pangolin" panose="00000500000000000000" pitchFamily="2" charset="0"/>
              </a:rPr>
              <a:t>Claro. Falando em atributo... eu vou </a:t>
            </a:r>
            <a:r>
              <a:rPr lang="pt-BR" sz="900" b="1" i="1" dirty="0">
                <a:latin typeface="Pangolin" panose="00000500000000000000" pitchFamily="2" charset="0"/>
              </a:rPr>
              <a:t>atribuir</a:t>
            </a:r>
            <a:r>
              <a:rPr lang="pt-BR" sz="900" dirty="0">
                <a:latin typeface="Pangolin" panose="00000500000000000000" pitchFamily="2" charset="0"/>
              </a:rPr>
              <a:t> essa tarefa a você e ir pegar um lanche. Me avisa quando tiver acabado.</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FIM</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784830"/>
          </a:xfrm>
          <a:prstGeom prst="rect">
            <a:avLst/>
          </a:prstGeom>
          <a:noFill/>
        </p:spPr>
        <p:txBody>
          <a:bodyPr wrap="square" rtlCol="0">
            <a:spAutoFit/>
          </a:bodyPr>
          <a:lstStyle/>
          <a:p>
            <a:pPr algn="ctr"/>
            <a:r>
              <a:rPr lang="pt-BR" sz="900" dirty="0">
                <a:latin typeface="Pangolin" panose="00000500000000000000" pitchFamily="2" charset="0"/>
              </a:rPr>
              <a:t>Agora que já falamos sobre atributos de dados e seus tipos, vire a página e veja se consegue aplicar o conhecimento em alguns exercícios!
</a:t>
            </a:r>
            <a:endParaRPr lang="pt-BR" sz="900" dirty="0"/>
          </a:p>
        </p:txBody>
      </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Duração</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Gênero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Popularidade</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Referências</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pt-BR" sz="900" dirty="0">
                <a:latin typeface="Pangolin" panose="00000500000000000000" pitchFamily="2" charset="0"/>
              </a:rPr>
              <a:t>Lembre-se: um atributo é uma </a:t>
            </a:r>
            <a:br>
              <a:rPr lang="pt-BR" sz="900" dirty="0">
                <a:latin typeface="Pangolin" panose="00000500000000000000" pitchFamily="2" charset="0"/>
              </a:rPr>
            </a:br>
            <a:r>
              <a:rPr lang="pt-BR" sz="900" dirty="0">
                <a:latin typeface="Pangolin" panose="00000500000000000000" pitchFamily="2" charset="0"/>
              </a:rPr>
              <a:t>propriedade específica que pode ser medida, observada ou registrada. </a:t>
            </a:r>
            <a:br>
              <a:rPr lang="pt-BR" sz="900" dirty="0">
                <a:latin typeface="Pangolin" panose="00000500000000000000" pitchFamily="2" charset="0"/>
              </a:rPr>
            </a:br>
            <a:r>
              <a:rPr lang="pt-BR" sz="900" dirty="0">
                <a:latin typeface="Pangolin" panose="00000500000000000000" pitchFamily="2" charset="0"/>
              </a:rPr>
              <a:t>O gráfico ao lado fornece uma visão geral dos diferentes tipos de atributo.</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62000" cy="369332"/>
          </a:xfrm>
          <a:prstGeom prst="rect">
            <a:avLst/>
          </a:prstGeom>
          <a:noFill/>
        </p:spPr>
        <p:txBody>
          <a:bodyPr wrap="square" rtlCol="0">
            <a:spAutoFit/>
          </a:bodyPr>
          <a:lstStyle/>
          <a:p>
            <a:r>
              <a:rPr lang="pt-BR" sz="900" dirty="0">
                <a:latin typeface="Pangolin" panose="00000500000000000000" pitchFamily="2" charset="0"/>
              </a:rPr>
              <a:t>Ex.: cor, gênero, autor, língua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20" y="2737514"/>
            <a:ext cx="1562000" cy="369332"/>
          </a:xfrm>
          <a:prstGeom prst="rect">
            <a:avLst/>
          </a:prstGeom>
          <a:noFill/>
        </p:spPr>
        <p:txBody>
          <a:bodyPr wrap="square" rtlCol="0">
            <a:spAutoFit/>
          </a:bodyPr>
          <a:lstStyle/>
          <a:p>
            <a:r>
              <a:rPr lang="pt-BR" sz="900" dirty="0">
                <a:latin typeface="Pangolin" panose="00000500000000000000" pitchFamily="2" charset="0"/>
              </a:rPr>
              <a:t>Ex.: escolaridade, número </a:t>
            </a:r>
            <a:br>
              <a:rPr lang="pt-BR" sz="900" dirty="0">
                <a:latin typeface="Pangolin" panose="00000500000000000000" pitchFamily="2" charset="0"/>
              </a:rPr>
            </a:br>
            <a:r>
              <a:rPr lang="pt-BR" sz="900" dirty="0">
                <a:latin typeface="Pangolin" panose="00000500000000000000" pitchFamily="2" charset="0"/>
              </a:rPr>
              <a:t>do sapato, faixa etária...</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562000" cy="369332"/>
          </a:xfrm>
          <a:prstGeom prst="rect">
            <a:avLst/>
          </a:prstGeom>
          <a:noFill/>
        </p:spPr>
        <p:txBody>
          <a:bodyPr wrap="square" rtlCol="0">
            <a:spAutoFit/>
          </a:bodyPr>
          <a:lstStyle/>
          <a:p>
            <a:r>
              <a:rPr lang="pt-BR" sz="900" dirty="0">
                <a:latin typeface="Pangolin" panose="00000500000000000000" pitchFamily="2" charset="0"/>
              </a:rPr>
              <a:t>Ex.: centímetros, kilos,</a:t>
            </a:r>
            <a:br>
              <a:rPr lang="pt-BR" sz="900" dirty="0">
                <a:latin typeface="Pangolin" panose="00000500000000000000" pitchFamily="2" charset="0"/>
              </a:rPr>
            </a:br>
            <a:r>
              <a:rPr lang="pt-BR" sz="900" dirty="0">
                <a:latin typeface="Pangolin" panose="00000500000000000000" pitchFamily="2" charset="0"/>
              </a:rPr>
              <a:t>idade exata,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51822" y="3645111"/>
            <a:ext cx="2511883" cy="507831"/>
          </a:xfrm>
          <a:prstGeom prst="rect">
            <a:avLst/>
          </a:prstGeom>
          <a:noFill/>
        </p:spPr>
        <p:txBody>
          <a:bodyPr wrap="square" rtlCol="0">
            <a:spAutoFit/>
          </a:bodyPr>
          <a:lstStyle/>
          <a:p>
            <a:r>
              <a:rPr lang="pt-BR" sz="900" dirty="0">
                <a:latin typeface="Pangolin" panose="00000500000000000000" pitchFamily="2" charset="0"/>
              </a:rPr>
              <a:t>            Descreva todos os diferentes atributos que você possa encontrar para essa variedade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728663" y="6286486"/>
            <a:ext cx="5921366" cy="200055"/>
          </a:xfrm>
          <a:prstGeom prst="rect">
            <a:avLst/>
          </a:prstGeom>
          <a:noFill/>
        </p:spPr>
        <p:txBody>
          <a:bodyPr wrap="square" rtlCol="0">
            <a:spAutoFit/>
          </a:bodyPr>
          <a:lstStyle/>
          <a:p>
            <a:r>
              <a:rPr lang="de-DE" sz="700" dirty="0">
                <a:latin typeface="Pangolin" panose="00000500000000000000" pitchFamily="2" charset="0"/>
              </a:rPr>
              <a:t>E</a:t>
            </a:r>
            <a:r>
              <a:rPr lang="pt-BR" sz="700" dirty="0">
                <a:latin typeface="Pangolin" panose="00000500000000000000" pitchFamily="2" charset="0"/>
              </a:rPr>
              <a:t>xemplo: tamanho, peso, formato, cor, sabor, calorias, quantidade de nozes, tipo de embalagem, data de validade, consistência, se é um doce caseiro...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pt-BR" sz="900" dirty="0">
                <a:latin typeface="Pangolin" panose="00000500000000000000" pitchFamily="2" charset="0"/>
              </a:rPr>
              <a:t>Dados são geralmente apresentados em tabelas. Tente adivinhar os tipos de atributo de cada coluna!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dirty="0" err="1">
                <a:latin typeface="Pangolin" panose="00000500000000000000" pitchFamily="2" charset="0"/>
              </a:rPr>
              <a:t>Categórico</a:t>
            </a:r>
            <a:r>
              <a:rPr lang="de-DE" sz="700" dirty="0">
                <a:latin typeface="Pangolin" panose="00000500000000000000" pitchFamily="2" charset="0"/>
              </a:rPr>
              <a:t>: </a:t>
            </a:r>
            <a:r>
              <a:rPr lang="de-DE" sz="700" dirty="0" err="1">
                <a:latin typeface="Pangolin" panose="00000500000000000000" pitchFamily="2" charset="0"/>
              </a:rPr>
              <a:t>Título</a:t>
            </a:r>
            <a:r>
              <a:rPr lang="de-DE" sz="700" dirty="0">
                <a:latin typeface="Pangolin" panose="00000500000000000000" pitchFamily="2" charset="0"/>
              </a:rPr>
              <a:t>, </a:t>
            </a:r>
            <a:r>
              <a:rPr lang="de-DE" sz="700" dirty="0" err="1">
                <a:latin typeface="Pangolin" panose="00000500000000000000" pitchFamily="2" charset="0"/>
              </a:rPr>
              <a:t>Diretor</a:t>
            </a:r>
            <a:r>
              <a:rPr lang="de-DE" sz="700" dirty="0">
                <a:latin typeface="Pangolin" panose="00000500000000000000" pitchFamily="2" charset="0"/>
              </a:rPr>
              <a:t>, </a:t>
            </a:r>
            <a:r>
              <a:rPr lang="de-DE" sz="700" dirty="0" err="1">
                <a:latin typeface="Pangolin" panose="00000500000000000000" pitchFamily="2" charset="0"/>
              </a:rPr>
              <a:t>Ator</a:t>
            </a:r>
            <a:r>
              <a:rPr lang="de-DE" sz="700" dirty="0">
                <a:latin typeface="Pangolin" panose="00000500000000000000" pitchFamily="2" charset="0"/>
              </a:rPr>
              <a:t>, </a:t>
            </a:r>
            <a:r>
              <a:rPr lang="de-DE" sz="700" dirty="0" err="1">
                <a:latin typeface="Pangolin" panose="00000500000000000000" pitchFamily="2" charset="0"/>
              </a:rPr>
              <a:t>Gênero</a:t>
            </a:r>
            <a:r>
              <a:rPr lang="de-DE" sz="700" dirty="0">
                <a:latin typeface="Pangolin" panose="00000500000000000000" pitchFamily="2" charset="0"/>
              </a:rPr>
              <a:t> |  </a:t>
            </a:r>
            <a:r>
              <a:rPr lang="de-DE" sz="700" dirty="0" err="1">
                <a:latin typeface="Pangolin" panose="00000500000000000000" pitchFamily="2" charset="0"/>
              </a:rPr>
              <a:t>Quantitativo</a:t>
            </a:r>
            <a:r>
              <a:rPr lang="de-DE" sz="700" dirty="0">
                <a:latin typeface="Pangolin" panose="00000500000000000000" pitchFamily="2" charset="0"/>
              </a:rPr>
              <a:t>: </a:t>
            </a:r>
            <a:r>
              <a:rPr lang="de-DE" sz="700" dirty="0" err="1">
                <a:latin typeface="Pangolin" panose="00000500000000000000" pitchFamily="2" charset="0"/>
              </a:rPr>
              <a:t>Duração</a:t>
            </a:r>
            <a:r>
              <a:rPr lang="de-DE" sz="700" dirty="0">
                <a:latin typeface="Pangolin" panose="00000500000000000000" pitchFamily="2" charset="0"/>
              </a:rPr>
              <a:t> |  Ordinal: Ano, </a:t>
            </a:r>
            <a:r>
              <a:rPr lang="de-DE" sz="700" dirty="0" err="1">
                <a:latin typeface="Pangolin" panose="00000500000000000000" pitchFamily="2" charset="0"/>
              </a:rPr>
              <a:t>Popularidade</a:t>
            </a:r>
            <a:endParaRPr lang="pt-BR" sz="700" dirty="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EF2828-4084-56A8-7699-2585156542A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Fontes: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ource Sans Pro" panose="020B0503030403020204" pitchFamily="34" charset="0"/>
                <a:ea typeface="+mn-ea"/>
                <a:cs typeface="+mn-cs"/>
              </a:rPr>
              <a:t>Como citar este documento:</a:t>
            </a:r>
            <a:br>
              <a:rPr lang="pt-BR" sz="1100" b="1"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Tipos de Atributos de Dados. University of Applied Sciences St. Pölten (USTP). https://www.comixplain.cc</a:t>
            </a:r>
            <a:br>
              <a:rPr lang="pt-BR" sz="1100" dirty="0">
                <a:solidFill>
                  <a:srgbClr val="333333"/>
                </a:solidFill>
                <a:latin typeface="Source Sans Pro" panose="020B0503030403020204" pitchFamily="34" charset="0"/>
                <a:ea typeface="+mn-ea"/>
                <a:cs typeface="+mn-cs"/>
              </a:rPr>
            </a:br>
            <a:br>
              <a:rPr lang="pt-BR" sz="1100" b="1" dirty="0">
                <a:solidFill>
                  <a:srgbClr val="333333"/>
                </a:solidFill>
                <a:latin typeface="Source Sans Pro" panose="020B0503030403020204" pitchFamily="34" charset="0"/>
                <a:ea typeface="+mn-ea"/>
                <a:cs typeface="+mn-cs"/>
              </a:rPr>
            </a:br>
            <a:r>
              <a:rPr lang="pt-BR" sz="1100" b="1" dirty="0">
                <a:solidFill>
                  <a:srgbClr val="333333"/>
                </a:solidFill>
                <a:latin typeface="Source Sans Pro" panose="020B0503030403020204" pitchFamily="34" charset="0"/>
                <a:ea typeface="+mn-ea"/>
                <a:cs typeface="+mn-cs"/>
              </a:rPr>
              <a:t>Este quadrinho foi adaptado de: </a:t>
            </a:r>
            <a:br>
              <a:rPr lang="pt-BR" sz="1100"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kumimoji="0" lang="de-AT"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Tipos de Atributos de Dados</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7E292F-E3FB-4761-B9F1-EE732EA8F0F0}">
  <ds:schemaRefs>
    <ds:schemaRef ds:uri="http://purl.org/dc/terms/"/>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94bcf745-830c-42f4-885c-a1d7342e6e36"/>
    <ds:schemaRef ds:uri="da1b7603-f8b8-47c9-9682-dc6aa8e9acd7"/>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55A6A255-8BF2-4115-BF2E-1B39D77985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1144</Words>
  <Application>Microsoft Office PowerPoint</Application>
  <PresentationFormat>A4 Paper (210x297 mm)</PresentationFormat>
  <Paragraphs>83</Paragraphs>
  <Slides>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Calibri</vt:lpstr>
      <vt:lpstr>Segoe UI</vt:lpstr>
      <vt:lpstr>Aptos</vt:lpstr>
      <vt:lpstr>Arial</vt:lpstr>
      <vt:lpstr>Source Sans Pro</vt:lpstr>
      <vt:lpstr>Momopresentation Updated 2</vt:lpstr>
      <vt:lpstr>Calibri Light</vt:lpstr>
      <vt:lpstr>Pangolin</vt:lpstr>
      <vt:lpstr>Office</vt:lpstr>
      <vt:lpstr>Tipos de Atributos de Dados</vt:lpstr>
      <vt:lpstr>PowerPoint Presentation</vt:lpstr>
      <vt:lpstr>Atributos?</vt:lpstr>
      <vt:lpstr>Acho que é por causa  do tipo de atributo...</vt:lpstr>
      <vt:lpstr>Ótimo, agora que nós dois sabemos tudo sobre atributos de dados e tipos de atributos, podemos tomar uma decisão informada!</vt:lpstr>
      <vt:lpstr>ATRIBUTOS</vt:lpstr>
      <vt:lpstr>Como citar este documento:  De-Jesus-Oliveira, V.-A., Boucher, M., Boucher, A., Wu, H.-Y., &amp; Stoiber, C. (2025). Tipos de Atributos de Dados. University of Applied Sciences St. Pölten (USTP). https://www.comixplain.cc  Este quadrinho foi adaptado de:   Tipos de Atributos de Dados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Dados</dc:title>
  <dc:creator>Boucher Magdalena</dc:creator>
  <cp:lastModifiedBy>de-Jesus-Oliveira Victor-Adriel</cp:lastModifiedBy>
  <cp:revision>48</cp:revision>
  <dcterms:created xsi:type="dcterms:W3CDTF">2022-09-19T11:21:57Z</dcterms:created>
  <dcterms:modified xsi:type="dcterms:W3CDTF">2025-11-07T10:50:24Z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